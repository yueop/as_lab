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9975" cy="4280535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716" y="-14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9DA4D294-F294-4F3D-B779-1C389CB5E21D}"/>
              </a:ext>
            </a:extLst>
          </p:cNvPr>
          <p:cNvSpPr>
            <a:spLocks noGrp="1"/>
          </p:cNvSpPr>
          <p:nvPr/>
        </p:nvSpPr>
        <p:spPr>
          <a:xfrm>
            <a:off x="0" y="-121920"/>
            <a:ext cx="30279976" cy="42927270"/>
          </a:xfrm>
          <a:prstGeom prst="rect">
            <a:avLst/>
          </a:prstGeom>
          <a:solidFill>
            <a:srgbClr val="F7F8F6"/>
          </a:solidFill>
          <a:ln w="0">
            <a:solidFill>
              <a:srgbClr val="F7F8F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09A541-6956-4F94-8995-B722DFF55984}"/>
              </a:ext>
            </a:extLst>
          </p:cNvPr>
          <p:cNvSpPr>
            <a:spLocks noGrp="1"/>
          </p:cNvSpPr>
          <p:nvPr/>
        </p:nvSpPr>
        <p:spPr>
          <a:xfrm>
            <a:off x="0" y="1954116"/>
            <a:ext cx="30279976" cy="3441515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CA5515-AFA4-4E1C-866E-9697082EA5EF}"/>
              </a:ext>
            </a:extLst>
          </p:cNvPr>
          <p:cNvSpPr>
            <a:spLocks noGrp="1"/>
          </p:cNvSpPr>
          <p:nvPr/>
        </p:nvSpPr>
        <p:spPr>
          <a:xfrm>
            <a:off x="8091442" y="2315700"/>
            <a:ext cx="14744406" cy="187048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ctr">
              <a:buNone/>
              <a:defRPr sz="552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최적 분할 모델 선택을 위한 LLM 기반</a:t>
            </a:r>
          </a:p>
          <a:p>
            <a:pPr algn="ctr">
              <a:buNone/>
              <a:defRPr sz="552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 라우팅 오케스트레이터 개발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E4B8A-F89B-42F7-992E-829D41DEFE40}"/>
              </a:ext>
            </a:extLst>
          </p:cNvPr>
          <p:cNvSpPr>
            <a:spLocks noGrp="1"/>
          </p:cNvSpPr>
          <p:nvPr/>
        </p:nvSpPr>
        <p:spPr>
          <a:xfrm>
            <a:off x="8990491" y="4304983"/>
            <a:ext cx="13305927" cy="89927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ctr">
              <a:buNone/>
              <a:defRPr sz="2407" b="0">
                <a:solidFill>
                  <a:srgbClr val="E5ECEE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E5ECEE"/>
                </a:solidFill>
                <a:latin typeface="Pretendard"/>
                <a:ea typeface="Pretendard"/>
                <a:cs typeface="Pretendard"/>
              </a:rPr>
              <a:t>이유업, 하성민  |  안양대학교 컴퓨터공학과</a:t>
            </a:r>
          </a:p>
          <a:p>
            <a:pPr algn="ctr">
              <a:buNone/>
              <a:defRPr sz="2407" b="0">
                <a:solidFill>
                  <a:srgbClr val="E5ECEE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E5ECEE"/>
                </a:solidFill>
                <a:latin typeface="Pretendard"/>
                <a:ea typeface="Pretendard"/>
                <a:cs typeface="Pretendard"/>
              </a:rPr>
              <a:t>E-mail: yueop9261@gmail.com, seha@anyang.ac.kr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ACC7DC-ACE3-4DF8-BCCB-18B2D66888A8}"/>
              </a:ext>
            </a:extLst>
          </p:cNvPr>
          <p:cNvSpPr>
            <a:spLocks noGrp="1"/>
          </p:cNvSpPr>
          <p:nvPr/>
        </p:nvSpPr>
        <p:spPr>
          <a:xfrm>
            <a:off x="1618288" y="6115050"/>
            <a:ext cx="12946308" cy="6294904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D37DFFE-77AB-477C-B571-A80E461129D4}"/>
              </a:ext>
            </a:extLst>
          </p:cNvPr>
          <p:cNvSpPr>
            <a:spLocks noGrp="1"/>
          </p:cNvSpPr>
          <p:nvPr/>
        </p:nvSpPr>
        <p:spPr>
          <a:xfrm>
            <a:off x="2085794" y="6618642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989891-A22D-486C-BF58-D4AE73E5556A}"/>
              </a:ext>
            </a:extLst>
          </p:cNvPr>
          <p:cNvSpPr>
            <a:spLocks noGrp="1"/>
          </p:cNvSpPr>
          <p:nvPr/>
        </p:nvSpPr>
        <p:spPr>
          <a:xfrm>
            <a:off x="2085794" y="6600657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5D8907-3F87-43EB-989C-D9E88574BAE7}"/>
              </a:ext>
            </a:extLst>
          </p:cNvPr>
          <p:cNvSpPr>
            <a:spLocks noGrp="1"/>
          </p:cNvSpPr>
          <p:nvPr/>
        </p:nvSpPr>
        <p:spPr>
          <a:xfrm>
            <a:off x="3236577" y="6546701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연구 배경 및 목적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90CEF2-8484-4004-847F-100935E07318}"/>
              </a:ext>
            </a:extLst>
          </p:cNvPr>
          <p:cNvSpPr>
            <a:spLocks noGrp="1"/>
          </p:cNvSpPr>
          <p:nvPr/>
        </p:nvSpPr>
        <p:spPr>
          <a:xfrm>
            <a:off x="2265604" y="7985536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9FB8A37-C7E5-48E6-BA5C-1636075CED64}"/>
              </a:ext>
            </a:extLst>
          </p:cNvPr>
          <p:cNvSpPr>
            <a:spLocks noGrp="1"/>
          </p:cNvSpPr>
          <p:nvPr/>
        </p:nvSpPr>
        <p:spPr>
          <a:xfrm>
            <a:off x="2661185" y="7876616"/>
            <a:ext cx="10932438" cy="62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공개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의료영상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분할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모델은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장기와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modality에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따라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성능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차이가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A21D1B-D5A8-4492-B40B-5E9A8ACA66B3}"/>
              </a:ext>
            </a:extLst>
          </p:cNvPr>
          <p:cNvSpPr>
            <a:spLocks noGrp="1"/>
          </p:cNvSpPr>
          <p:nvPr/>
        </p:nvSpPr>
        <p:spPr>
          <a:xfrm>
            <a:off x="2265604" y="8920779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7EBAB8-65FE-4C52-BD90-3A729362D94B}"/>
              </a:ext>
            </a:extLst>
          </p:cNvPr>
          <p:cNvSpPr>
            <a:spLocks noGrp="1"/>
          </p:cNvSpPr>
          <p:nvPr/>
        </p:nvSpPr>
        <p:spPr>
          <a:xfrm>
            <a:off x="2661184" y="8762035"/>
            <a:ext cx="11543791" cy="6728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추론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시점에는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GT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mask가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없어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입력별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최적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모델을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직접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판단하기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어려움</a:t>
            </a:r>
            <a:endParaRPr sz="2800" b="1" dirty="0">
              <a:solidFill>
                <a:srgbClr val="1D273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E8A4C4F-671C-41D3-B186-21F312BFED22}"/>
              </a:ext>
            </a:extLst>
          </p:cNvPr>
          <p:cNvSpPr>
            <a:spLocks noGrp="1"/>
          </p:cNvSpPr>
          <p:nvPr/>
        </p:nvSpPr>
        <p:spPr>
          <a:xfrm>
            <a:off x="2265604" y="985602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6007F81-782E-4829-BBC8-9F3986F0F2DF}"/>
              </a:ext>
            </a:extLst>
          </p:cNvPr>
          <p:cNvSpPr>
            <a:spLocks noGrp="1"/>
          </p:cNvSpPr>
          <p:nvPr/>
        </p:nvSpPr>
        <p:spPr>
          <a:xfrm>
            <a:off x="2661185" y="9747101"/>
            <a:ext cx="10932438" cy="51323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단일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고정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방식은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특성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변화와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실패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후보에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취약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함</a:t>
            </a:r>
            <a:endParaRPr sz="2800" b="0" dirty="0">
              <a:solidFill>
                <a:srgbClr val="1D273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B7118FD-0F5B-4BB5-AA1A-251330EAE270}"/>
              </a:ext>
            </a:extLst>
          </p:cNvPr>
          <p:cNvSpPr>
            <a:spLocks noGrp="1"/>
          </p:cNvSpPr>
          <p:nvPr/>
        </p:nvSpPr>
        <p:spPr>
          <a:xfrm>
            <a:off x="2265604" y="10791265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DB9262B-4CCA-4C27-9DBD-EFAA9E6E2296}"/>
              </a:ext>
            </a:extLst>
          </p:cNvPr>
          <p:cNvSpPr>
            <a:spLocks noGrp="1"/>
          </p:cNvSpPr>
          <p:nvPr/>
        </p:nvSpPr>
        <p:spPr>
          <a:xfrm>
            <a:off x="2661185" y="10539469"/>
            <a:ext cx="10932438" cy="63693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LLM은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임상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정확도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판단자가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scorecard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해석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및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근거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생성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계층</a:t>
            </a:r>
            <a:endParaRPr sz="2800" b="1" dirty="0">
              <a:solidFill>
                <a:srgbClr val="1D273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794AB3A-65A9-45DE-BA6B-D5758FB8B603}"/>
              </a:ext>
            </a:extLst>
          </p:cNvPr>
          <p:cNvSpPr>
            <a:spLocks noGrp="1"/>
          </p:cNvSpPr>
          <p:nvPr/>
        </p:nvSpPr>
        <p:spPr>
          <a:xfrm>
            <a:off x="2265604" y="11726508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8AC8E30-2877-4AE6-A2C9-89ECECA9F28E}"/>
              </a:ext>
            </a:extLst>
          </p:cNvPr>
          <p:cNvSpPr>
            <a:spLocks noGrp="1"/>
          </p:cNvSpPr>
          <p:nvPr/>
        </p:nvSpPr>
        <p:spPr>
          <a:xfrm>
            <a:off x="2661185" y="11608062"/>
            <a:ext cx="10932438" cy="5141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hard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constraint와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fallback으로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실패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비정상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후보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선택을</a:t>
            </a:r>
            <a:r>
              <a:rPr sz="2800" b="1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방지</a:t>
            </a:r>
            <a:endParaRPr sz="2800" b="1" dirty="0">
              <a:solidFill>
                <a:srgbClr val="1D273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7890AB6-570B-4B75-B3F0-15FCF09DE26A}"/>
              </a:ext>
            </a:extLst>
          </p:cNvPr>
          <p:cNvSpPr>
            <a:spLocks noGrp="1"/>
          </p:cNvSpPr>
          <p:nvPr/>
        </p:nvSpPr>
        <p:spPr>
          <a:xfrm>
            <a:off x="1618288" y="12949518"/>
            <a:ext cx="12946308" cy="989199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092039C-573D-46C5-B719-B5D9E0898086}"/>
              </a:ext>
            </a:extLst>
          </p:cNvPr>
          <p:cNvSpPr>
            <a:spLocks noGrp="1"/>
          </p:cNvSpPr>
          <p:nvPr/>
        </p:nvSpPr>
        <p:spPr>
          <a:xfrm>
            <a:off x="2085794" y="1345311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4E19781-F704-4876-9D47-1224832A7EA8}"/>
              </a:ext>
            </a:extLst>
          </p:cNvPr>
          <p:cNvSpPr>
            <a:spLocks noGrp="1"/>
          </p:cNvSpPr>
          <p:nvPr/>
        </p:nvSpPr>
        <p:spPr>
          <a:xfrm>
            <a:off x="2085794" y="13435125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38A51BD-C41C-4E43-8EE9-46035F1EEA0D}"/>
              </a:ext>
            </a:extLst>
          </p:cNvPr>
          <p:cNvSpPr>
            <a:spLocks noGrp="1"/>
          </p:cNvSpPr>
          <p:nvPr/>
        </p:nvSpPr>
        <p:spPr>
          <a:xfrm>
            <a:off x="3236577" y="13381168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제안 시스템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034B644-3968-4CA0-8602-47E72B71A121}"/>
              </a:ext>
            </a:extLst>
          </p:cNvPr>
          <p:cNvSpPr>
            <a:spLocks noGrp="1"/>
          </p:cNvSpPr>
          <p:nvPr/>
        </p:nvSpPr>
        <p:spPr>
          <a:xfrm>
            <a:off x="1618288" y="23560928"/>
            <a:ext cx="12946308" cy="93884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A41D837-5797-4E09-A820-439926ED00D7}"/>
              </a:ext>
            </a:extLst>
          </p:cNvPr>
          <p:cNvSpPr>
            <a:spLocks noGrp="1"/>
          </p:cNvSpPr>
          <p:nvPr/>
        </p:nvSpPr>
        <p:spPr>
          <a:xfrm>
            <a:off x="2085794" y="2406452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DAC5EC3-2180-4F1F-AE21-A2D356299EA4}"/>
              </a:ext>
            </a:extLst>
          </p:cNvPr>
          <p:cNvSpPr>
            <a:spLocks noGrp="1"/>
          </p:cNvSpPr>
          <p:nvPr/>
        </p:nvSpPr>
        <p:spPr>
          <a:xfrm>
            <a:off x="2085794" y="24046536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082BAE3-315C-457D-8D71-CB085FC7E961}"/>
              </a:ext>
            </a:extLst>
          </p:cNvPr>
          <p:cNvSpPr>
            <a:spLocks noGrp="1"/>
          </p:cNvSpPr>
          <p:nvPr/>
        </p:nvSpPr>
        <p:spPr>
          <a:xfrm>
            <a:off x="3236577" y="23992580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후보 점수표와 라우팅 점수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2FC521C-A0A8-4884-9A2D-09F72420D7B6}"/>
              </a:ext>
            </a:extLst>
          </p:cNvPr>
          <p:cNvSpPr>
            <a:spLocks noGrp="1"/>
          </p:cNvSpPr>
          <p:nvPr/>
        </p:nvSpPr>
        <p:spPr>
          <a:xfrm>
            <a:off x="1618288" y="33310732"/>
            <a:ext cx="12946308" cy="5125851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AFE9315-A5C2-4A3A-8A09-3C98C51EA196}"/>
              </a:ext>
            </a:extLst>
          </p:cNvPr>
          <p:cNvSpPr>
            <a:spLocks noGrp="1"/>
          </p:cNvSpPr>
          <p:nvPr/>
        </p:nvSpPr>
        <p:spPr>
          <a:xfrm>
            <a:off x="2085794" y="33814324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FD170E6-31B6-44C8-B501-C3980FDAD996}"/>
              </a:ext>
            </a:extLst>
          </p:cNvPr>
          <p:cNvSpPr>
            <a:spLocks noGrp="1"/>
          </p:cNvSpPr>
          <p:nvPr/>
        </p:nvSpPr>
        <p:spPr>
          <a:xfrm>
            <a:off x="2085794" y="33796340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70F305C-9C1A-4860-94B6-1B2CB2484BAE}"/>
              </a:ext>
            </a:extLst>
          </p:cNvPr>
          <p:cNvSpPr>
            <a:spLocks noGrp="1"/>
          </p:cNvSpPr>
          <p:nvPr/>
        </p:nvSpPr>
        <p:spPr>
          <a:xfrm>
            <a:off x="3236577" y="33742384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후보 모델 구성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D5D398B-2F3F-4DB5-B9C5-AE2245EDFFFD}"/>
              </a:ext>
            </a:extLst>
          </p:cNvPr>
          <p:cNvSpPr>
            <a:spLocks noGrp="1"/>
          </p:cNvSpPr>
          <p:nvPr/>
        </p:nvSpPr>
        <p:spPr>
          <a:xfrm>
            <a:off x="2265604" y="36278332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300099D-632A-41F2-B2BA-C88B591E3DAF}"/>
              </a:ext>
            </a:extLst>
          </p:cNvPr>
          <p:cNvSpPr>
            <a:spLocks noGrp="1"/>
          </p:cNvSpPr>
          <p:nvPr/>
        </p:nvSpPr>
        <p:spPr>
          <a:xfrm>
            <a:off x="2589262" y="36404228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85A035D-588B-41F9-986C-2037561075F7}"/>
              </a:ext>
            </a:extLst>
          </p:cNvPr>
          <p:cNvSpPr>
            <a:spLocks noGrp="1"/>
          </p:cNvSpPr>
          <p:nvPr/>
        </p:nvSpPr>
        <p:spPr>
          <a:xfrm>
            <a:off x="8199328" y="36278332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25E978E-57B5-45CA-938A-CB727A3632B7}"/>
              </a:ext>
            </a:extLst>
          </p:cNvPr>
          <p:cNvSpPr>
            <a:spLocks noGrp="1"/>
          </p:cNvSpPr>
          <p:nvPr/>
        </p:nvSpPr>
        <p:spPr>
          <a:xfrm>
            <a:off x="8522986" y="36404228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50203BC-15C3-4E1F-8C4E-8618AF5529D2}"/>
              </a:ext>
            </a:extLst>
          </p:cNvPr>
          <p:cNvSpPr>
            <a:spLocks noGrp="1"/>
          </p:cNvSpPr>
          <p:nvPr/>
        </p:nvSpPr>
        <p:spPr>
          <a:xfrm>
            <a:off x="2265604" y="37321484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B39FC65-B257-452D-9CFB-ADF8E8A5F555}"/>
              </a:ext>
            </a:extLst>
          </p:cNvPr>
          <p:cNvSpPr>
            <a:spLocks noGrp="1"/>
          </p:cNvSpPr>
          <p:nvPr/>
        </p:nvSpPr>
        <p:spPr>
          <a:xfrm>
            <a:off x="2589262" y="37447384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85F3EF4-297B-4E6F-8C25-F11DFDDFD1D2}"/>
              </a:ext>
            </a:extLst>
          </p:cNvPr>
          <p:cNvSpPr>
            <a:spLocks noGrp="1"/>
          </p:cNvSpPr>
          <p:nvPr/>
        </p:nvSpPr>
        <p:spPr>
          <a:xfrm>
            <a:off x="8199328" y="37321484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E689642-3756-488D-910D-564C87A2EBEE}"/>
              </a:ext>
            </a:extLst>
          </p:cNvPr>
          <p:cNvSpPr>
            <a:spLocks noGrp="1"/>
          </p:cNvSpPr>
          <p:nvPr/>
        </p:nvSpPr>
        <p:spPr>
          <a:xfrm>
            <a:off x="8522986" y="37447384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74D7EF1-E1E6-40C9-965D-FF1360E2410A}"/>
              </a:ext>
            </a:extLst>
          </p:cNvPr>
          <p:cNvSpPr>
            <a:spLocks noGrp="1"/>
          </p:cNvSpPr>
          <p:nvPr/>
        </p:nvSpPr>
        <p:spPr>
          <a:xfrm>
            <a:off x="15139987" y="6115050"/>
            <a:ext cx="13539681" cy="12998859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6A52A8-81EC-4F23-989E-F38094D8CE70}"/>
              </a:ext>
            </a:extLst>
          </p:cNvPr>
          <p:cNvSpPr>
            <a:spLocks noGrp="1"/>
          </p:cNvSpPr>
          <p:nvPr/>
        </p:nvSpPr>
        <p:spPr>
          <a:xfrm>
            <a:off x="15769321" y="665240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CF59EFF-6063-48C3-87CA-8B7A6E0076F0}"/>
              </a:ext>
            </a:extLst>
          </p:cNvPr>
          <p:cNvSpPr>
            <a:spLocks noGrp="1"/>
          </p:cNvSpPr>
          <p:nvPr/>
        </p:nvSpPr>
        <p:spPr>
          <a:xfrm>
            <a:off x="15769321" y="6634415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923BA9F-AD1E-40A2-936B-842A5198E924}"/>
              </a:ext>
            </a:extLst>
          </p:cNvPr>
          <p:cNvSpPr>
            <a:spLocks noGrp="1"/>
          </p:cNvSpPr>
          <p:nvPr/>
        </p:nvSpPr>
        <p:spPr>
          <a:xfrm>
            <a:off x="16920104" y="6580459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실험 결과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95725AB3-514E-4210-A902-26E15FFB0FA5}"/>
              </a:ext>
            </a:extLst>
          </p:cNvPr>
          <p:cNvSpPr>
            <a:spLocks noGrp="1"/>
          </p:cNvSpPr>
          <p:nvPr/>
        </p:nvSpPr>
        <p:spPr>
          <a:xfrm>
            <a:off x="15063568" y="19669926"/>
            <a:ext cx="13539681" cy="18766657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097696B2-5AED-4619-BE9D-AA28CD08108F}"/>
              </a:ext>
            </a:extLst>
          </p:cNvPr>
          <p:cNvSpPr>
            <a:spLocks noGrp="1"/>
          </p:cNvSpPr>
          <p:nvPr/>
        </p:nvSpPr>
        <p:spPr>
          <a:xfrm>
            <a:off x="15679417" y="20195426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0841D998-1803-4521-B66E-72FD6D8CF65F}"/>
              </a:ext>
            </a:extLst>
          </p:cNvPr>
          <p:cNvSpPr>
            <a:spLocks noGrp="1"/>
          </p:cNvSpPr>
          <p:nvPr/>
        </p:nvSpPr>
        <p:spPr>
          <a:xfrm>
            <a:off x="15679417" y="20200884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7A41DC34-6CAB-4EAB-B459-6524687EF689}"/>
              </a:ext>
            </a:extLst>
          </p:cNvPr>
          <p:cNvSpPr>
            <a:spLocks noGrp="1"/>
          </p:cNvSpPr>
          <p:nvPr/>
        </p:nvSpPr>
        <p:spPr>
          <a:xfrm>
            <a:off x="16920022" y="20218520"/>
            <a:ext cx="5376395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선택 마스크 예시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88D42191-7E12-4371-9C2E-E71F9D6C94AA}"/>
              </a:ext>
            </a:extLst>
          </p:cNvPr>
          <p:cNvSpPr>
            <a:spLocks noGrp="1"/>
          </p:cNvSpPr>
          <p:nvPr/>
        </p:nvSpPr>
        <p:spPr>
          <a:xfrm>
            <a:off x="1618288" y="38992436"/>
            <a:ext cx="27061380" cy="143884"/>
          </a:xfrm>
          <a:prstGeom prst="rect">
            <a:avLst/>
          </a:prstGeom>
          <a:solidFill>
            <a:srgbClr val="637D86"/>
          </a:solidFill>
          <a:ln w="0">
            <a:solidFill>
              <a:srgbClr val="637D8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C7432B98-DC56-4785-A2BA-48371852AF40}"/>
              </a:ext>
            </a:extLst>
          </p:cNvPr>
          <p:cNvSpPr>
            <a:spLocks noGrp="1"/>
          </p:cNvSpPr>
          <p:nvPr/>
        </p:nvSpPr>
        <p:spPr>
          <a:xfrm>
            <a:off x="1659318" y="39322896"/>
            <a:ext cx="27061380" cy="3114642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74559757-CA46-4348-870C-943AC4650F4E}"/>
              </a:ext>
            </a:extLst>
          </p:cNvPr>
          <p:cNvSpPr>
            <a:spLocks noGrp="1"/>
          </p:cNvSpPr>
          <p:nvPr/>
        </p:nvSpPr>
        <p:spPr>
          <a:xfrm>
            <a:off x="2265605" y="39466747"/>
            <a:ext cx="1649904" cy="9360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buNone/>
              <a:defRPr sz="3823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2AB65796-0D2A-455B-AC1C-81DCD18E08E6}"/>
              </a:ext>
            </a:extLst>
          </p:cNvPr>
          <p:cNvSpPr>
            <a:spLocks noGrp="1"/>
          </p:cNvSpPr>
          <p:nvPr/>
        </p:nvSpPr>
        <p:spPr>
          <a:xfrm>
            <a:off x="2341796" y="40402826"/>
            <a:ext cx="8608623" cy="98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 </a:t>
            </a: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이 시스템에서 LLM은 후보 모델의 실행 결과와 scorecard를 해석하여, 장기·modality 조건에 맞는 모델 선택을 보조한다.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3205798D-34EC-4F97-80E0-D1517DDA1A59}"/>
              </a:ext>
            </a:extLst>
          </p:cNvPr>
          <p:cNvSpPr>
            <a:spLocks noGrp="1"/>
          </p:cNvSpPr>
          <p:nvPr/>
        </p:nvSpPr>
        <p:spPr>
          <a:xfrm>
            <a:off x="11984679" y="39466747"/>
            <a:ext cx="3694738" cy="9360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buNone/>
              <a:defRPr sz="3540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637D86"/>
                </a:solidFill>
                <a:latin typeface="Pretendard"/>
                <a:ea typeface="Pretendard"/>
                <a:cs typeface="Pretendard"/>
              </a:rPr>
              <a:t>후속 연구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E25F9C6C-D5ED-423A-9E73-84090CBFA9FB}"/>
              </a:ext>
            </a:extLst>
          </p:cNvPr>
          <p:cNvSpPr>
            <a:spLocks noGrp="1"/>
          </p:cNvSpPr>
          <p:nvPr/>
        </p:nvSpPr>
        <p:spPr>
          <a:xfrm>
            <a:off x="12181454" y="4069825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0A465818-0BB2-4B8E-957A-59F555A959DA}"/>
              </a:ext>
            </a:extLst>
          </p:cNvPr>
          <p:cNvSpPr>
            <a:spLocks noGrp="1"/>
          </p:cNvSpPr>
          <p:nvPr/>
        </p:nvSpPr>
        <p:spPr>
          <a:xfrm>
            <a:off x="12577035" y="40570268"/>
            <a:ext cx="5157636" cy="611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95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agent memory 기반 prior score 보정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50177D38-C4DE-4CFD-B171-770954367B8F}"/>
              </a:ext>
            </a:extLst>
          </p:cNvPr>
          <p:cNvSpPr>
            <a:spLocks noGrp="1"/>
          </p:cNvSpPr>
          <p:nvPr/>
        </p:nvSpPr>
        <p:spPr>
          <a:xfrm>
            <a:off x="12181454" y="4139249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3BD3F7D1-05C4-49D7-A255-77E49BFECEA4}"/>
              </a:ext>
            </a:extLst>
          </p:cNvPr>
          <p:cNvSpPr>
            <a:spLocks noGrp="1"/>
          </p:cNvSpPr>
          <p:nvPr/>
        </p:nvSpPr>
        <p:spPr>
          <a:xfrm>
            <a:off x="12577034" y="41283556"/>
            <a:ext cx="4927807" cy="3904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95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신규 모델 통합 확장 실험 진행</a:t>
            </a:r>
          </a:p>
        </p:txBody>
      </p:sp>
      <p:pic>
        <p:nvPicPr>
          <p:cNvPr id="543" name="그림 32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" y="-81800"/>
            <a:ext cx="7012583" cy="1995450"/>
          </a:xfrm>
          <a:prstGeom prst="rect">
            <a:avLst/>
          </a:prstGeom>
        </p:spPr>
      </p:pic>
      <p:pic>
        <p:nvPicPr>
          <p:cNvPr id="544" name="그림 323"/>
          <p:cNvPicPr>
            <a:picLocks noChangeAspect="1"/>
          </p:cNvPicPr>
          <p:nvPr/>
        </p:nvPicPr>
        <p:blipFill rotWithShape="1">
          <a:blip r:embed="rId4"/>
          <a:srcRect t="5518"/>
          <a:stretch>
            <a:fillRect/>
          </a:stretch>
        </p:blipFill>
        <p:spPr>
          <a:xfrm>
            <a:off x="17245561" y="21477258"/>
            <a:ext cx="11357907" cy="10969174"/>
          </a:xfrm>
          <a:prstGeom prst="rect">
            <a:avLst/>
          </a:prstGeom>
          <a:ln>
            <a:noFill/>
          </a:ln>
        </p:spPr>
      </p:pic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4D101276-8838-4ACA-8B70-08A086F28CA5}"/>
              </a:ext>
            </a:extLst>
          </p:cNvPr>
          <p:cNvSpPr>
            <a:spLocks noGrp="1"/>
          </p:cNvSpPr>
          <p:nvPr/>
        </p:nvSpPr>
        <p:spPr>
          <a:xfrm>
            <a:off x="15886384" y="22545736"/>
            <a:ext cx="1186746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297E9D63-CB4A-481A-9A2C-32B2AC71970E}"/>
              </a:ext>
            </a:extLst>
          </p:cNvPr>
          <p:cNvSpPr>
            <a:spLocks noGrp="1"/>
          </p:cNvSpPr>
          <p:nvPr/>
        </p:nvSpPr>
        <p:spPr>
          <a:xfrm>
            <a:off x="15867267" y="25276608"/>
            <a:ext cx="1717324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E6DD765E-C2C4-45BB-B97F-5B4737C57B8F}"/>
              </a:ext>
            </a:extLst>
          </p:cNvPr>
          <p:cNvSpPr>
            <a:spLocks noGrp="1"/>
          </p:cNvSpPr>
          <p:nvPr/>
        </p:nvSpPr>
        <p:spPr>
          <a:xfrm>
            <a:off x="15918651" y="28008821"/>
            <a:ext cx="1186746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EC4BFB31-AAEA-43A3-92AD-F437A0625C73}"/>
              </a:ext>
            </a:extLst>
          </p:cNvPr>
          <p:cNvSpPr>
            <a:spLocks noGrp="1"/>
          </p:cNvSpPr>
          <p:nvPr/>
        </p:nvSpPr>
        <p:spPr>
          <a:xfrm>
            <a:off x="15959190" y="30793649"/>
            <a:ext cx="1717324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2CCF1073-2B2E-F5C0-C8FA-336E63C85F9A}"/>
              </a:ext>
            </a:extLst>
          </p:cNvPr>
          <p:cNvSpPr>
            <a:spLocks noGrp="1"/>
          </p:cNvSpPr>
          <p:nvPr/>
        </p:nvSpPr>
        <p:spPr>
          <a:xfrm>
            <a:off x="2409451" y="34920430"/>
            <a:ext cx="10932438" cy="111509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CXR/CT와 폐/심장 조건별로 공개 분할 모델 후보군을 구성하고, 동일 입력에 대해 각 후보 모델의 mask와 scorecard를 생성하였다.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98A1794A-2EBD-4030-3653-FB22A6F8AEE3}"/>
              </a:ext>
            </a:extLst>
          </p:cNvPr>
          <p:cNvSpPr>
            <a:spLocks noGrp="1"/>
          </p:cNvSpPr>
          <p:nvPr/>
        </p:nvSpPr>
        <p:spPr>
          <a:xfrm>
            <a:off x="5457228" y="36355549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EC52906A-714B-91A5-0D0D-B75CCFB56917}"/>
              </a:ext>
            </a:extLst>
          </p:cNvPr>
          <p:cNvSpPr>
            <a:spLocks noGrp="1"/>
          </p:cNvSpPr>
          <p:nvPr/>
        </p:nvSpPr>
        <p:spPr>
          <a:xfrm>
            <a:off x="5452733" y="37398703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B4496B56-2580-DAA9-4975-E322A5364161}"/>
              </a:ext>
            </a:extLst>
          </p:cNvPr>
          <p:cNvSpPr>
            <a:spLocks noGrp="1"/>
          </p:cNvSpPr>
          <p:nvPr/>
        </p:nvSpPr>
        <p:spPr>
          <a:xfrm>
            <a:off x="11372971" y="37398703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871A3BFC-2B78-646B-0A7B-01B76A7D3A6C}"/>
              </a:ext>
            </a:extLst>
          </p:cNvPr>
          <p:cNvSpPr>
            <a:spLocks noGrp="1"/>
          </p:cNvSpPr>
          <p:nvPr/>
        </p:nvSpPr>
        <p:spPr>
          <a:xfrm>
            <a:off x="11386457" y="36355549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models</a:t>
            </a:r>
          </a:p>
        </p:txBody>
      </p:sp>
      <p:pic>
        <p:nvPicPr>
          <p:cNvPr id="554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3537" y="-81800"/>
            <a:ext cx="4566577" cy="1983619"/>
          </a:xfrm>
          <a:prstGeom prst="rect">
            <a:avLst/>
          </a:prstGeom>
        </p:spPr>
      </p:pic>
      <p:sp>
        <p:nvSpPr>
          <p:cNvPr id="71" name="직사각형 70">
            <a:extLst>
              <a:ext uri="{FF2B5EF4-FFF2-40B4-BE49-F238E27FC236}">
                <a16:creationId xmlns:a16="http://schemas.microsoft.com/office/drawing/2014/main" id="{F2B088FE-269B-F73A-1515-4444DCD5F3A0}"/>
              </a:ext>
            </a:extLst>
          </p:cNvPr>
          <p:cNvSpPr>
            <a:spLocks noGrp="1"/>
          </p:cNvSpPr>
          <p:nvPr/>
        </p:nvSpPr>
        <p:spPr>
          <a:xfrm>
            <a:off x="2540800" y="40617501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40CE882-D77E-2CF9-4B66-EA0931AB4C6D}"/>
              </a:ext>
            </a:extLst>
          </p:cNvPr>
          <p:cNvSpPr>
            <a:spLocks noGrp="1"/>
          </p:cNvSpPr>
          <p:nvPr/>
        </p:nvSpPr>
        <p:spPr>
          <a:xfrm>
            <a:off x="2347889" y="41258302"/>
            <a:ext cx="8611957" cy="8169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정답 마스크가 없는 실제 추론 환경에서도, 과거 검증 성능과 현재 후보 마스크의 합의도·품질 정보를 결합해 선택 근거를 제시할 수 있다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454A666-EB34-DF6B-4FA2-894D26B23A67}"/>
              </a:ext>
            </a:extLst>
          </p:cNvPr>
          <p:cNvSpPr>
            <a:spLocks noGrp="1"/>
          </p:cNvSpPr>
          <p:nvPr/>
        </p:nvSpPr>
        <p:spPr>
          <a:xfrm>
            <a:off x="2550225" y="41494110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A128E92-3526-6BC5-C1AB-B9EEC2B25F53}"/>
              </a:ext>
            </a:extLst>
          </p:cNvPr>
          <p:cNvSpPr>
            <a:spLocks noGrp="1"/>
          </p:cNvSpPr>
          <p:nvPr/>
        </p:nvSpPr>
        <p:spPr>
          <a:xfrm>
            <a:off x="19070611" y="39375316"/>
            <a:ext cx="4821775" cy="93047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buNone/>
              <a:defRPr sz="3540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chemeClr val="accent6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논의 및 제한점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81B5DFC6-42FE-D37C-19C9-8E6FD25E9767}"/>
              </a:ext>
            </a:extLst>
          </p:cNvPr>
          <p:cNvSpPr>
            <a:spLocks noGrp="1"/>
          </p:cNvSpPr>
          <p:nvPr/>
        </p:nvSpPr>
        <p:spPr>
          <a:xfrm>
            <a:off x="19059842" y="40287190"/>
            <a:ext cx="8608623" cy="98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 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CT 심장에서는 volumefraction guardrail과 fallback이 비정상 마스크 선택 방지에 중요</a:t>
            </a:r>
          </a:p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endParaRPr sz="2400">
              <a:solidFill>
                <a:srgbClr val="1D273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DA641C4-60F3-1E08-240B-92FD9B39FDE1}"/>
              </a:ext>
            </a:extLst>
          </p:cNvPr>
          <p:cNvSpPr>
            <a:spLocks noGrp="1"/>
          </p:cNvSpPr>
          <p:nvPr/>
        </p:nvSpPr>
        <p:spPr>
          <a:xfrm>
            <a:off x="19258846" y="40501865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69F1E9A5-70B0-F6B8-7B00-8DFB2E831D47}"/>
              </a:ext>
            </a:extLst>
          </p:cNvPr>
          <p:cNvSpPr>
            <a:spLocks noGrp="1"/>
          </p:cNvSpPr>
          <p:nvPr/>
        </p:nvSpPr>
        <p:spPr>
          <a:xfrm>
            <a:off x="19065935" y="41142666"/>
            <a:ext cx="8834988" cy="8169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현재 후보 모델 수와 데이터셋 범위가 제한적이며, fallback 3 case 발생</a:t>
            </a:r>
          </a:p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endParaRPr sz="2400">
              <a:solidFill>
                <a:srgbClr val="1D273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BB6C83B2-00A4-B3E9-BFA1-F4437E516A19}"/>
              </a:ext>
            </a:extLst>
          </p:cNvPr>
          <p:cNvSpPr>
            <a:spLocks noGrp="1"/>
          </p:cNvSpPr>
          <p:nvPr/>
        </p:nvSpPr>
        <p:spPr>
          <a:xfrm>
            <a:off x="19268271" y="41378474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2" name="직사각형 341">
            <a:extLst>
              <a:ext uri="{FF2B5EF4-FFF2-40B4-BE49-F238E27FC236}">
                <a16:creationId xmlns:a16="http://schemas.microsoft.com/office/drawing/2014/main" id="{E27D3AA2-9451-4B8D-A13D-BDDD07DD16CC}"/>
              </a:ext>
            </a:extLst>
          </p:cNvPr>
          <p:cNvSpPr>
            <a:spLocks noGrp="1"/>
          </p:cNvSpPr>
          <p:nvPr/>
        </p:nvSpPr>
        <p:spPr>
          <a:xfrm>
            <a:off x="2266950" y="25317450"/>
            <a:ext cx="3333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3" name="직사각형 342">
            <a:extLst>
              <a:ext uri="{FF2B5EF4-FFF2-40B4-BE49-F238E27FC236}">
                <a16:creationId xmlns:a16="http://schemas.microsoft.com/office/drawing/2014/main" id="{5C89F79B-417C-4616-A863-80128E8E8354}"/>
              </a:ext>
            </a:extLst>
          </p:cNvPr>
          <p:cNvSpPr>
            <a:spLocks noGrp="1"/>
          </p:cNvSpPr>
          <p:nvPr/>
        </p:nvSpPr>
        <p:spPr>
          <a:xfrm>
            <a:off x="2343150" y="25355550"/>
            <a:ext cx="3181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field</a:t>
            </a:r>
          </a:p>
        </p:txBody>
      </p:sp>
      <p:sp>
        <p:nvSpPr>
          <p:cNvPr id="344" name="직사각형 343">
            <a:extLst>
              <a:ext uri="{FF2B5EF4-FFF2-40B4-BE49-F238E27FC236}">
                <a16:creationId xmlns:a16="http://schemas.microsoft.com/office/drawing/2014/main" id="{5E31D625-BF89-4C50-924B-38B8F336923B}"/>
              </a:ext>
            </a:extLst>
          </p:cNvPr>
          <p:cNvSpPr>
            <a:spLocks noGrp="1"/>
          </p:cNvSpPr>
          <p:nvPr/>
        </p:nvSpPr>
        <p:spPr>
          <a:xfrm>
            <a:off x="5600700" y="25317450"/>
            <a:ext cx="54292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id="{807884FD-1299-49F6-B6DD-543BC589CE7A}"/>
              </a:ext>
            </a:extLst>
          </p:cNvPr>
          <p:cNvSpPr>
            <a:spLocks noGrp="1"/>
          </p:cNvSpPr>
          <p:nvPr/>
        </p:nvSpPr>
        <p:spPr>
          <a:xfrm>
            <a:off x="5676900" y="25355550"/>
            <a:ext cx="5276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346" name="직사각형 345">
            <a:extLst>
              <a:ext uri="{FF2B5EF4-FFF2-40B4-BE49-F238E27FC236}">
                <a16:creationId xmlns:a16="http://schemas.microsoft.com/office/drawing/2014/main" id="{9824502A-B672-4554-A257-8A8B08BB968C}"/>
              </a:ext>
            </a:extLst>
          </p:cNvPr>
          <p:cNvSpPr>
            <a:spLocks noGrp="1"/>
          </p:cNvSpPr>
          <p:nvPr/>
        </p:nvSpPr>
        <p:spPr>
          <a:xfrm>
            <a:off x="11029950" y="25317450"/>
            <a:ext cx="285750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7" name="직사각형 346">
            <a:extLst>
              <a:ext uri="{FF2B5EF4-FFF2-40B4-BE49-F238E27FC236}">
                <a16:creationId xmlns:a16="http://schemas.microsoft.com/office/drawing/2014/main" id="{5F8EBE21-BC46-44D7-A247-89D87992DDB5}"/>
              </a:ext>
            </a:extLst>
          </p:cNvPr>
          <p:cNvSpPr>
            <a:spLocks noGrp="1"/>
          </p:cNvSpPr>
          <p:nvPr/>
        </p:nvSpPr>
        <p:spPr>
          <a:xfrm>
            <a:off x="11106150" y="2535555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348" name="직사각형 347">
            <a:extLst>
              <a:ext uri="{FF2B5EF4-FFF2-40B4-BE49-F238E27FC236}">
                <a16:creationId xmlns:a16="http://schemas.microsoft.com/office/drawing/2014/main" id="{EDFD5176-12BB-47F0-8F49-D16B02A0402D}"/>
              </a:ext>
            </a:extLst>
          </p:cNvPr>
          <p:cNvSpPr>
            <a:spLocks noGrp="1"/>
          </p:cNvSpPr>
          <p:nvPr/>
        </p:nvSpPr>
        <p:spPr>
          <a:xfrm>
            <a:off x="2266950" y="25869900"/>
            <a:ext cx="3333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9" name="직사각형 348">
            <a:extLst>
              <a:ext uri="{FF2B5EF4-FFF2-40B4-BE49-F238E27FC236}">
                <a16:creationId xmlns:a16="http://schemas.microsoft.com/office/drawing/2014/main" id="{DDD5C61B-2E64-480B-993F-529D2C4A7038}"/>
              </a:ext>
            </a:extLst>
          </p:cNvPr>
          <p:cNvSpPr>
            <a:spLocks noGrp="1"/>
          </p:cNvSpPr>
          <p:nvPr/>
        </p:nvSpPr>
        <p:spPr>
          <a:xfrm>
            <a:off x="2343150" y="259080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execution_status</a:t>
            </a:r>
          </a:p>
        </p:txBody>
      </p:sp>
      <p:sp>
        <p:nvSpPr>
          <p:cNvPr id="350" name="직사각형 349">
            <a:extLst>
              <a:ext uri="{FF2B5EF4-FFF2-40B4-BE49-F238E27FC236}">
                <a16:creationId xmlns:a16="http://schemas.microsoft.com/office/drawing/2014/main" id="{B7BD6902-B881-442A-A0B0-F8AB1B7FB829}"/>
              </a:ext>
            </a:extLst>
          </p:cNvPr>
          <p:cNvSpPr>
            <a:spLocks noGrp="1"/>
          </p:cNvSpPr>
          <p:nvPr/>
        </p:nvSpPr>
        <p:spPr>
          <a:xfrm>
            <a:off x="5600700" y="25869900"/>
            <a:ext cx="5429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1" name="직사각형 350">
            <a:extLst>
              <a:ext uri="{FF2B5EF4-FFF2-40B4-BE49-F238E27FC236}">
                <a16:creationId xmlns:a16="http://schemas.microsoft.com/office/drawing/2014/main" id="{5AAB3C2B-7B72-4F93-A10A-569C6CB540C0}"/>
              </a:ext>
            </a:extLst>
          </p:cNvPr>
          <p:cNvSpPr>
            <a:spLocks noGrp="1"/>
          </p:cNvSpPr>
          <p:nvPr/>
        </p:nvSpPr>
        <p:spPr>
          <a:xfrm>
            <a:off x="5676900" y="2590800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모델 실행 성공 여부</a:t>
            </a:r>
          </a:p>
        </p:txBody>
      </p:sp>
      <p:sp>
        <p:nvSpPr>
          <p:cNvPr id="352" name="직사각형 351">
            <a:extLst>
              <a:ext uri="{FF2B5EF4-FFF2-40B4-BE49-F238E27FC236}">
                <a16:creationId xmlns:a16="http://schemas.microsoft.com/office/drawing/2014/main" id="{BAF11D0F-746E-4AB0-BFDA-3D0743F0FBF9}"/>
              </a:ext>
            </a:extLst>
          </p:cNvPr>
          <p:cNvSpPr>
            <a:spLocks noGrp="1"/>
          </p:cNvSpPr>
          <p:nvPr/>
        </p:nvSpPr>
        <p:spPr>
          <a:xfrm>
            <a:off x="11029950" y="2586990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3" name="직사각형 352">
            <a:extLst>
              <a:ext uri="{FF2B5EF4-FFF2-40B4-BE49-F238E27FC236}">
                <a16:creationId xmlns:a16="http://schemas.microsoft.com/office/drawing/2014/main" id="{072021D3-764E-4EA5-A6E1-9A8D202E4AAA}"/>
              </a:ext>
            </a:extLst>
          </p:cNvPr>
          <p:cNvSpPr>
            <a:spLocks noGrp="1"/>
          </p:cNvSpPr>
          <p:nvPr/>
        </p:nvSpPr>
        <p:spPr>
          <a:xfrm>
            <a:off x="11106150" y="2590800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상태 플래그</a:t>
            </a:r>
          </a:p>
        </p:txBody>
      </p: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246E025D-8F2C-47DB-9905-44E2CDA0B33F}"/>
              </a:ext>
            </a:extLst>
          </p:cNvPr>
          <p:cNvSpPr>
            <a:spLocks noGrp="1"/>
          </p:cNvSpPr>
          <p:nvPr/>
        </p:nvSpPr>
        <p:spPr>
          <a:xfrm>
            <a:off x="2266950" y="26536650"/>
            <a:ext cx="33337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5" name="직사각형 354">
            <a:extLst>
              <a:ext uri="{FF2B5EF4-FFF2-40B4-BE49-F238E27FC236}">
                <a16:creationId xmlns:a16="http://schemas.microsoft.com/office/drawing/2014/main" id="{5EBDD734-EC6B-459D-ABCF-83988E13FF0B}"/>
              </a:ext>
            </a:extLst>
          </p:cNvPr>
          <p:cNvSpPr>
            <a:spLocks noGrp="1"/>
          </p:cNvSpPr>
          <p:nvPr/>
        </p:nvSpPr>
        <p:spPr>
          <a:xfrm>
            <a:off x="2343150" y="2657475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prior_routing_score</a:t>
            </a:r>
          </a:p>
        </p:txBody>
      </p:sp>
      <p:sp>
        <p:nvSpPr>
          <p:cNvPr id="356" name="직사각형 355">
            <a:extLst>
              <a:ext uri="{FF2B5EF4-FFF2-40B4-BE49-F238E27FC236}">
                <a16:creationId xmlns:a16="http://schemas.microsoft.com/office/drawing/2014/main" id="{2BD11088-8711-4833-BAD6-92DE917B21CF}"/>
              </a:ext>
            </a:extLst>
          </p:cNvPr>
          <p:cNvSpPr>
            <a:spLocks noGrp="1"/>
          </p:cNvSpPr>
          <p:nvPr/>
        </p:nvSpPr>
        <p:spPr>
          <a:xfrm>
            <a:off x="5600700" y="26536650"/>
            <a:ext cx="54292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2C33FB76-D7DE-40CD-A6A8-66BD02692DD3}"/>
              </a:ext>
            </a:extLst>
          </p:cNvPr>
          <p:cNvSpPr>
            <a:spLocks noGrp="1"/>
          </p:cNvSpPr>
          <p:nvPr/>
        </p:nvSpPr>
        <p:spPr>
          <a:xfrm>
            <a:off x="5676900" y="2657475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과거 검증 결과 기반 사전 점수</a:t>
            </a:r>
          </a:p>
        </p:txBody>
      </p:sp>
      <p:sp>
        <p:nvSpPr>
          <p:cNvPr id="358" name="직사각형 357">
            <a:extLst>
              <a:ext uri="{FF2B5EF4-FFF2-40B4-BE49-F238E27FC236}">
                <a16:creationId xmlns:a16="http://schemas.microsoft.com/office/drawing/2014/main" id="{77BE33CE-BC38-4D78-8346-C5CBD96388F1}"/>
              </a:ext>
            </a:extLst>
          </p:cNvPr>
          <p:cNvSpPr>
            <a:spLocks noGrp="1"/>
          </p:cNvSpPr>
          <p:nvPr/>
        </p:nvSpPr>
        <p:spPr>
          <a:xfrm>
            <a:off x="11029950" y="26536650"/>
            <a:ext cx="285750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9" name="직사각형 358">
            <a:extLst>
              <a:ext uri="{FF2B5EF4-FFF2-40B4-BE49-F238E27FC236}">
                <a16:creationId xmlns:a16="http://schemas.microsoft.com/office/drawing/2014/main" id="{89D1F74A-85F1-4884-97CE-847F156E23F9}"/>
              </a:ext>
            </a:extLst>
          </p:cNvPr>
          <p:cNvSpPr>
            <a:spLocks noGrp="1"/>
          </p:cNvSpPr>
          <p:nvPr/>
        </p:nvSpPr>
        <p:spPr>
          <a:xfrm>
            <a:off x="11106150" y="2657475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과거 근거</a:t>
            </a:r>
          </a:p>
        </p:txBody>
      </p:sp>
      <p:sp>
        <p:nvSpPr>
          <p:cNvPr id="360" name="직사각형 359">
            <a:extLst>
              <a:ext uri="{FF2B5EF4-FFF2-40B4-BE49-F238E27FC236}">
                <a16:creationId xmlns:a16="http://schemas.microsoft.com/office/drawing/2014/main" id="{1A0C766B-1E29-41ED-8CCE-943C7191FEE0}"/>
              </a:ext>
            </a:extLst>
          </p:cNvPr>
          <p:cNvSpPr>
            <a:spLocks noGrp="1"/>
          </p:cNvSpPr>
          <p:nvPr/>
        </p:nvSpPr>
        <p:spPr>
          <a:xfrm>
            <a:off x="2266950" y="27203400"/>
            <a:ext cx="3333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1" name="직사각형 360">
            <a:extLst>
              <a:ext uri="{FF2B5EF4-FFF2-40B4-BE49-F238E27FC236}">
                <a16:creationId xmlns:a16="http://schemas.microsoft.com/office/drawing/2014/main" id="{A82C2EE5-DCD0-4FE7-811F-F0A73CBFAB66}"/>
              </a:ext>
            </a:extLst>
          </p:cNvPr>
          <p:cNvSpPr>
            <a:spLocks noGrp="1"/>
          </p:cNvSpPr>
          <p:nvPr/>
        </p:nvSpPr>
        <p:spPr>
          <a:xfrm>
            <a:off x="2343150" y="272415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overlap_score</a:t>
            </a:r>
          </a:p>
        </p:txBody>
      </p:sp>
      <p:sp>
        <p:nvSpPr>
          <p:cNvPr id="362" name="직사각형 361">
            <a:extLst>
              <a:ext uri="{FF2B5EF4-FFF2-40B4-BE49-F238E27FC236}">
                <a16:creationId xmlns:a16="http://schemas.microsoft.com/office/drawing/2014/main" id="{419DF133-5B81-4307-93B3-63D1F4F52500}"/>
              </a:ext>
            </a:extLst>
          </p:cNvPr>
          <p:cNvSpPr>
            <a:spLocks noGrp="1"/>
          </p:cNvSpPr>
          <p:nvPr/>
        </p:nvSpPr>
        <p:spPr>
          <a:xfrm>
            <a:off x="5600700" y="27203400"/>
            <a:ext cx="5429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3" name="직사각형 362">
            <a:extLst>
              <a:ext uri="{FF2B5EF4-FFF2-40B4-BE49-F238E27FC236}">
                <a16:creationId xmlns:a16="http://schemas.microsoft.com/office/drawing/2014/main" id="{DA938A30-E18A-486C-94A8-97B23F5E03BB}"/>
              </a:ext>
            </a:extLst>
          </p:cNvPr>
          <p:cNvSpPr>
            <a:spLocks noGrp="1"/>
          </p:cNvSpPr>
          <p:nvPr/>
        </p:nvSpPr>
        <p:spPr>
          <a:xfrm>
            <a:off x="5676900" y="2724150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후보 마스크 간 합의 기반 점수</a:t>
            </a:r>
          </a:p>
        </p:txBody>
      </p:sp>
      <p:sp>
        <p:nvSpPr>
          <p:cNvPr id="364" name="직사각형 363">
            <a:extLst>
              <a:ext uri="{FF2B5EF4-FFF2-40B4-BE49-F238E27FC236}">
                <a16:creationId xmlns:a16="http://schemas.microsoft.com/office/drawing/2014/main" id="{B0756040-D307-4FAC-A3E6-BED4A8D1E5E9}"/>
              </a:ext>
            </a:extLst>
          </p:cNvPr>
          <p:cNvSpPr>
            <a:spLocks noGrp="1"/>
          </p:cNvSpPr>
          <p:nvPr/>
        </p:nvSpPr>
        <p:spPr>
          <a:xfrm>
            <a:off x="11029950" y="2720340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5" name="직사각형 364">
            <a:extLst>
              <a:ext uri="{FF2B5EF4-FFF2-40B4-BE49-F238E27FC236}">
                <a16:creationId xmlns:a16="http://schemas.microsoft.com/office/drawing/2014/main" id="{6748A883-424B-446E-9F2C-59D3C30DC032}"/>
              </a:ext>
            </a:extLst>
          </p:cNvPr>
          <p:cNvSpPr>
            <a:spLocks noGrp="1"/>
          </p:cNvSpPr>
          <p:nvPr/>
        </p:nvSpPr>
        <p:spPr>
          <a:xfrm>
            <a:off x="11106150" y="2724150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현재 입력(no-GT)</a:t>
            </a:r>
          </a:p>
        </p:txBody>
      </p:sp>
      <p:sp>
        <p:nvSpPr>
          <p:cNvPr id="366" name="직사각형 365">
            <a:extLst>
              <a:ext uri="{FF2B5EF4-FFF2-40B4-BE49-F238E27FC236}">
                <a16:creationId xmlns:a16="http://schemas.microsoft.com/office/drawing/2014/main" id="{B73B1867-A2A5-460E-A641-46C008B00408}"/>
              </a:ext>
            </a:extLst>
          </p:cNvPr>
          <p:cNvSpPr>
            <a:spLocks noGrp="1"/>
          </p:cNvSpPr>
          <p:nvPr/>
        </p:nvSpPr>
        <p:spPr>
          <a:xfrm>
            <a:off x="2266950" y="27870150"/>
            <a:ext cx="33337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7" name="직사각형 366">
            <a:extLst>
              <a:ext uri="{FF2B5EF4-FFF2-40B4-BE49-F238E27FC236}">
                <a16:creationId xmlns:a16="http://schemas.microsoft.com/office/drawing/2014/main" id="{F31B7B77-C356-4E40-A867-8551617B96B2}"/>
              </a:ext>
            </a:extLst>
          </p:cNvPr>
          <p:cNvSpPr>
            <a:spLocks noGrp="1"/>
          </p:cNvSpPr>
          <p:nvPr/>
        </p:nvSpPr>
        <p:spPr>
          <a:xfrm>
            <a:off x="2343150" y="2790825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mask_quality_score</a:t>
            </a:r>
          </a:p>
        </p:txBody>
      </p:sp>
      <p:sp>
        <p:nvSpPr>
          <p:cNvPr id="368" name="직사각형 367">
            <a:extLst>
              <a:ext uri="{FF2B5EF4-FFF2-40B4-BE49-F238E27FC236}">
                <a16:creationId xmlns:a16="http://schemas.microsoft.com/office/drawing/2014/main" id="{85673FA1-C3F7-4E8F-9917-AB7F696CE099}"/>
              </a:ext>
            </a:extLst>
          </p:cNvPr>
          <p:cNvSpPr>
            <a:spLocks noGrp="1"/>
          </p:cNvSpPr>
          <p:nvPr/>
        </p:nvSpPr>
        <p:spPr>
          <a:xfrm>
            <a:off x="5600700" y="27870150"/>
            <a:ext cx="54292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9" name="직사각형 368">
            <a:extLst>
              <a:ext uri="{FF2B5EF4-FFF2-40B4-BE49-F238E27FC236}">
                <a16:creationId xmlns:a16="http://schemas.microsoft.com/office/drawing/2014/main" id="{480D1AFF-52E6-4243-8D26-72A6497D9F98}"/>
              </a:ext>
            </a:extLst>
          </p:cNvPr>
          <p:cNvSpPr>
            <a:spLocks noGrp="1"/>
          </p:cNvSpPr>
          <p:nvPr/>
        </p:nvSpPr>
        <p:spPr>
          <a:xfrm>
            <a:off x="5676900" y="2790825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면적/연결성/구멍 등 마스크 품질</a:t>
            </a:r>
          </a:p>
        </p:txBody>
      </p:sp>
      <p:sp>
        <p:nvSpPr>
          <p:cNvPr id="370" name="직사각형 369">
            <a:extLst>
              <a:ext uri="{FF2B5EF4-FFF2-40B4-BE49-F238E27FC236}">
                <a16:creationId xmlns:a16="http://schemas.microsoft.com/office/drawing/2014/main" id="{700288D7-80CD-4D15-9E46-77981B56E00F}"/>
              </a:ext>
            </a:extLst>
          </p:cNvPr>
          <p:cNvSpPr>
            <a:spLocks noGrp="1"/>
          </p:cNvSpPr>
          <p:nvPr/>
        </p:nvSpPr>
        <p:spPr>
          <a:xfrm>
            <a:off x="11029950" y="27870150"/>
            <a:ext cx="285750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1" name="직사각형 370">
            <a:extLst>
              <a:ext uri="{FF2B5EF4-FFF2-40B4-BE49-F238E27FC236}">
                <a16:creationId xmlns:a16="http://schemas.microsoft.com/office/drawing/2014/main" id="{D3DD587D-EB47-4C41-82C2-D662E201FB2C}"/>
              </a:ext>
            </a:extLst>
          </p:cNvPr>
          <p:cNvSpPr>
            <a:spLocks noGrp="1"/>
          </p:cNvSpPr>
          <p:nvPr/>
        </p:nvSpPr>
        <p:spPr>
          <a:xfrm>
            <a:off x="11106150" y="2790825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현재 입력(no-GT)</a:t>
            </a:r>
          </a:p>
        </p:txBody>
      </p:sp>
      <p:sp>
        <p:nvSpPr>
          <p:cNvPr id="372" name="직사각형 371">
            <a:extLst>
              <a:ext uri="{FF2B5EF4-FFF2-40B4-BE49-F238E27FC236}">
                <a16:creationId xmlns:a16="http://schemas.microsoft.com/office/drawing/2014/main" id="{106703D1-5944-4117-96B2-3F18DA7898ED}"/>
              </a:ext>
            </a:extLst>
          </p:cNvPr>
          <p:cNvSpPr>
            <a:spLocks noGrp="1"/>
          </p:cNvSpPr>
          <p:nvPr/>
        </p:nvSpPr>
        <p:spPr>
          <a:xfrm>
            <a:off x="2266950" y="28536900"/>
            <a:ext cx="3333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3" name="직사각형 372">
            <a:extLst>
              <a:ext uri="{FF2B5EF4-FFF2-40B4-BE49-F238E27FC236}">
                <a16:creationId xmlns:a16="http://schemas.microsoft.com/office/drawing/2014/main" id="{C2EC9E3E-4815-43D0-AFE5-0D1C15F75EAD}"/>
              </a:ext>
            </a:extLst>
          </p:cNvPr>
          <p:cNvSpPr>
            <a:spLocks noGrp="1"/>
          </p:cNvSpPr>
          <p:nvPr/>
        </p:nvSpPr>
        <p:spPr>
          <a:xfrm>
            <a:off x="2343150" y="285750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routing_score</a:t>
            </a:r>
          </a:p>
        </p:txBody>
      </p:sp>
      <p:sp>
        <p:nvSpPr>
          <p:cNvPr id="374" name="직사각형 373">
            <a:extLst>
              <a:ext uri="{FF2B5EF4-FFF2-40B4-BE49-F238E27FC236}">
                <a16:creationId xmlns:a16="http://schemas.microsoft.com/office/drawing/2014/main" id="{C6681F9F-6513-4AB5-AF5B-C3B69ECA99A5}"/>
              </a:ext>
            </a:extLst>
          </p:cNvPr>
          <p:cNvSpPr>
            <a:spLocks noGrp="1"/>
          </p:cNvSpPr>
          <p:nvPr/>
        </p:nvSpPr>
        <p:spPr>
          <a:xfrm>
            <a:off x="5600700" y="28536900"/>
            <a:ext cx="5429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5" name="직사각형 374">
            <a:extLst>
              <a:ext uri="{FF2B5EF4-FFF2-40B4-BE49-F238E27FC236}">
                <a16:creationId xmlns:a16="http://schemas.microsoft.com/office/drawing/2014/main" id="{5F6BAE29-715B-474E-8647-2763A47B28A6}"/>
              </a:ext>
            </a:extLst>
          </p:cNvPr>
          <p:cNvSpPr>
            <a:spLocks noGrp="1"/>
          </p:cNvSpPr>
          <p:nvPr/>
        </p:nvSpPr>
        <p:spPr>
          <a:xfrm>
            <a:off x="5676900" y="2857500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최종 선택에 사용하는 결합 점수</a:t>
            </a:r>
          </a:p>
        </p:txBody>
      </p:sp>
      <p:sp>
        <p:nvSpPr>
          <p:cNvPr id="376" name="직사각형 375">
            <a:extLst>
              <a:ext uri="{FF2B5EF4-FFF2-40B4-BE49-F238E27FC236}">
                <a16:creationId xmlns:a16="http://schemas.microsoft.com/office/drawing/2014/main" id="{B07B0036-8BD8-44C6-8F72-2328433B7AD7}"/>
              </a:ext>
            </a:extLst>
          </p:cNvPr>
          <p:cNvSpPr>
            <a:spLocks noGrp="1"/>
          </p:cNvSpPr>
          <p:nvPr/>
        </p:nvSpPr>
        <p:spPr>
          <a:xfrm>
            <a:off x="11029950" y="2853690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7" name="직사각형 376">
            <a:extLst>
              <a:ext uri="{FF2B5EF4-FFF2-40B4-BE49-F238E27FC236}">
                <a16:creationId xmlns:a16="http://schemas.microsoft.com/office/drawing/2014/main" id="{7CAB413B-A03B-4E4D-A818-AA4A2BF853AE}"/>
              </a:ext>
            </a:extLst>
          </p:cNvPr>
          <p:cNvSpPr>
            <a:spLocks noGrp="1"/>
          </p:cNvSpPr>
          <p:nvPr/>
        </p:nvSpPr>
        <p:spPr>
          <a:xfrm>
            <a:off x="11106150" y="2857500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결합 점수</a:t>
            </a:r>
          </a:p>
        </p:txBody>
      </p:sp>
      <p:sp>
        <p:nvSpPr>
          <p:cNvPr id="378" name="직사각형 377">
            <a:extLst>
              <a:ext uri="{FF2B5EF4-FFF2-40B4-BE49-F238E27FC236}">
                <a16:creationId xmlns:a16="http://schemas.microsoft.com/office/drawing/2014/main" id="{4DC33979-85D4-4184-95FF-095988C8E4F6}"/>
              </a:ext>
            </a:extLst>
          </p:cNvPr>
          <p:cNvSpPr>
            <a:spLocks noGrp="1"/>
          </p:cNvSpPr>
          <p:nvPr/>
        </p:nvSpPr>
        <p:spPr>
          <a:xfrm>
            <a:off x="2266950" y="29670375"/>
            <a:ext cx="11620500" cy="685800"/>
          </a:xfrm>
          <a:prstGeom prst="rect">
            <a:avLst/>
          </a:prstGeom>
          <a:solidFill>
            <a:srgbClr val="EEF2F1"/>
          </a:solidFill>
          <a:ln w="0">
            <a:solidFill>
              <a:srgbClr val="EEF2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9" name="직사각형 378">
            <a:extLst>
              <a:ext uri="{FF2B5EF4-FFF2-40B4-BE49-F238E27FC236}">
                <a16:creationId xmlns:a16="http://schemas.microsoft.com/office/drawing/2014/main" id="{689872F2-F330-45A9-BB6E-9EDB7ECCB5E4}"/>
              </a:ext>
            </a:extLst>
          </p:cNvPr>
          <p:cNvSpPr>
            <a:spLocks noGrp="1"/>
          </p:cNvSpPr>
          <p:nvPr/>
        </p:nvSpPr>
        <p:spPr>
          <a:xfrm>
            <a:off x="2476500" y="29765625"/>
            <a:ext cx="11191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Routing Score = 0.60 Prior + 0.20 Overlap + 0.20 Quality</a:t>
            </a:r>
          </a:p>
        </p:txBody>
      </p:sp>
      <p:sp>
        <p:nvSpPr>
          <p:cNvPr id="380" name="직사각형 379">
            <a:extLst>
              <a:ext uri="{FF2B5EF4-FFF2-40B4-BE49-F238E27FC236}">
                <a16:creationId xmlns:a16="http://schemas.microsoft.com/office/drawing/2014/main" id="{4D51E2C6-1122-4174-9117-6676285D5539}"/>
              </a:ext>
            </a:extLst>
          </p:cNvPr>
          <p:cNvSpPr>
            <a:spLocks noGrp="1"/>
          </p:cNvSpPr>
          <p:nvPr/>
        </p:nvSpPr>
        <p:spPr>
          <a:xfrm>
            <a:off x="2333625" y="3077527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1" name="직사각형 380">
            <a:extLst>
              <a:ext uri="{FF2B5EF4-FFF2-40B4-BE49-F238E27FC236}">
                <a16:creationId xmlns:a16="http://schemas.microsoft.com/office/drawing/2014/main" id="{26F589B6-BF9C-4CA8-A69F-FE97009653C0}"/>
              </a:ext>
            </a:extLst>
          </p:cNvPr>
          <p:cNvSpPr>
            <a:spLocks noGrp="1"/>
          </p:cNvSpPr>
          <p:nvPr/>
        </p:nvSpPr>
        <p:spPr>
          <a:xfrm>
            <a:off x="2695575" y="30622875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실행 실패 또는 비정상 마스크는 hard constraint와 fallback으로 선택에서 제외한다.</a:t>
            </a:r>
          </a:p>
        </p:txBody>
      </p:sp>
      <p:sp>
        <p:nvSpPr>
          <p:cNvPr id="382" name="직사각형 381">
            <a:extLst>
              <a:ext uri="{FF2B5EF4-FFF2-40B4-BE49-F238E27FC236}">
                <a16:creationId xmlns:a16="http://schemas.microsoft.com/office/drawing/2014/main" id="{77B165C5-22B3-49D2-AB6B-D99DE4FCBF8E}"/>
              </a:ext>
            </a:extLst>
          </p:cNvPr>
          <p:cNvSpPr>
            <a:spLocks noGrp="1"/>
          </p:cNvSpPr>
          <p:nvPr/>
        </p:nvSpPr>
        <p:spPr>
          <a:xfrm>
            <a:off x="2333625" y="3144202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3" name="직사각형 382">
            <a:extLst>
              <a:ext uri="{FF2B5EF4-FFF2-40B4-BE49-F238E27FC236}">
                <a16:creationId xmlns:a16="http://schemas.microsoft.com/office/drawing/2014/main" id="{A5CF5A3B-EC40-4E2A-A7B3-ACEF7CA16903}"/>
              </a:ext>
            </a:extLst>
          </p:cNvPr>
          <p:cNvSpPr>
            <a:spLocks noGrp="1"/>
          </p:cNvSpPr>
          <p:nvPr/>
        </p:nvSpPr>
        <p:spPr>
          <a:xfrm>
            <a:off x="2695575" y="31289625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prior는 과거 검증 근거, overlap/quality는 현재 입력에서 GT 없이 계산되는 근거이다.</a:t>
            </a:r>
          </a:p>
        </p:txBody>
      </p:sp>
      <p:sp>
        <p:nvSpPr>
          <p:cNvPr id="384" name="직사각형 383">
            <a:extLst>
              <a:ext uri="{FF2B5EF4-FFF2-40B4-BE49-F238E27FC236}">
                <a16:creationId xmlns:a16="http://schemas.microsoft.com/office/drawing/2014/main" id="{F386206F-C90D-43C2-8A08-827555627914}"/>
              </a:ext>
            </a:extLst>
          </p:cNvPr>
          <p:cNvSpPr>
            <a:spLocks noGrp="1"/>
          </p:cNvSpPr>
          <p:nvPr/>
        </p:nvSpPr>
        <p:spPr>
          <a:xfrm>
            <a:off x="16287750" y="7858125"/>
            <a:ext cx="11430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360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전체 라우팅 평균 일치율 94.5%</a:t>
            </a:r>
          </a:p>
        </p:txBody>
      </p:sp>
      <p:sp>
        <p:nvSpPr>
          <p:cNvPr id="385" name="직사각형 384">
            <a:extLst>
              <a:ext uri="{FF2B5EF4-FFF2-40B4-BE49-F238E27FC236}">
                <a16:creationId xmlns:a16="http://schemas.microsoft.com/office/drawing/2014/main" id="{F159C0CB-8467-4AB9-87F5-D44582F15310}"/>
              </a:ext>
            </a:extLst>
          </p:cNvPr>
          <p:cNvSpPr>
            <a:spLocks noGrp="1"/>
          </p:cNvSpPr>
          <p:nvPr/>
        </p:nvSpPr>
        <p:spPr>
          <a:xfrm>
            <a:off x="16287750" y="8858250"/>
            <a:ext cx="2952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6" name="직사각형 385">
            <a:extLst>
              <a:ext uri="{FF2B5EF4-FFF2-40B4-BE49-F238E27FC236}">
                <a16:creationId xmlns:a16="http://schemas.microsoft.com/office/drawing/2014/main" id="{4DA5CF09-1C2F-443C-927A-2D5E9401A73A}"/>
              </a:ext>
            </a:extLst>
          </p:cNvPr>
          <p:cNvSpPr>
            <a:spLocks noGrp="1"/>
          </p:cNvSpPr>
          <p:nvPr/>
        </p:nvSpPr>
        <p:spPr>
          <a:xfrm>
            <a:off x="16363950" y="88963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441F684B-54BD-4564-9AAA-EC6285348C3C}"/>
              </a:ext>
            </a:extLst>
          </p:cNvPr>
          <p:cNvSpPr>
            <a:spLocks noGrp="1"/>
          </p:cNvSpPr>
          <p:nvPr/>
        </p:nvSpPr>
        <p:spPr>
          <a:xfrm>
            <a:off x="19240500" y="8858250"/>
            <a:ext cx="2571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5956128A-97BA-40F2-BC4D-91767E75B488}"/>
              </a:ext>
            </a:extLst>
          </p:cNvPr>
          <p:cNvSpPr>
            <a:spLocks noGrp="1"/>
          </p:cNvSpPr>
          <p:nvPr/>
        </p:nvSpPr>
        <p:spPr>
          <a:xfrm>
            <a:off x="19316700" y="8896350"/>
            <a:ext cx="2419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일치 case</a:t>
            </a:r>
          </a:p>
        </p:txBody>
      </p:sp>
      <p:sp>
        <p:nvSpPr>
          <p:cNvPr id="389" name="직사각형 388">
            <a:extLst>
              <a:ext uri="{FF2B5EF4-FFF2-40B4-BE49-F238E27FC236}">
                <a16:creationId xmlns:a16="http://schemas.microsoft.com/office/drawing/2014/main" id="{5B8F46CC-A46A-4A12-B51F-C6C05FC3063E}"/>
              </a:ext>
            </a:extLst>
          </p:cNvPr>
          <p:cNvSpPr>
            <a:spLocks noGrp="1"/>
          </p:cNvSpPr>
          <p:nvPr/>
        </p:nvSpPr>
        <p:spPr>
          <a:xfrm>
            <a:off x="21812250" y="8858250"/>
            <a:ext cx="2190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0" name="직사각형 389">
            <a:extLst>
              <a:ext uri="{FF2B5EF4-FFF2-40B4-BE49-F238E27FC236}">
                <a16:creationId xmlns:a16="http://schemas.microsoft.com/office/drawing/2014/main" id="{B302CF75-6927-4FAB-B981-241DBD66785C}"/>
              </a:ext>
            </a:extLst>
          </p:cNvPr>
          <p:cNvSpPr>
            <a:spLocks noGrp="1"/>
          </p:cNvSpPr>
          <p:nvPr/>
        </p:nvSpPr>
        <p:spPr>
          <a:xfrm>
            <a:off x="21888450" y="8896350"/>
            <a:ext cx="2038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일치율</a:t>
            </a:r>
          </a:p>
        </p:txBody>
      </p:sp>
      <p:sp>
        <p:nvSpPr>
          <p:cNvPr id="391" name="직사각형 390">
            <a:extLst>
              <a:ext uri="{FF2B5EF4-FFF2-40B4-BE49-F238E27FC236}">
                <a16:creationId xmlns:a16="http://schemas.microsoft.com/office/drawing/2014/main" id="{752BC0A1-1A05-4713-8D18-70A9A256C4E6}"/>
              </a:ext>
            </a:extLst>
          </p:cNvPr>
          <p:cNvSpPr>
            <a:spLocks noGrp="1"/>
          </p:cNvSpPr>
          <p:nvPr/>
        </p:nvSpPr>
        <p:spPr>
          <a:xfrm>
            <a:off x="24003000" y="8858250"/>
            <a:ext cx="3714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2" name="직사각형 391">
            <a:extLst>
              <a:ext uri="{FF2B5EF4-FFF2-40B4-BE49-F238E27FC236}">
                <a16:creationId xmlns:a16="http://schemas.microsoft.com/office/drawing/2014/main" id="{BDED7AF8-161A-42C4-9477-019A409FE10C}"/>
              </a:ext>
            </a:extLst>
          </p:cNvPr>
          <p:cNvSpPr>
            <a:spLocks noGrp="1"/>
          </p:cNvSpPr>
          <p:nvPr/>
        </p:nvSpPr>
        <p:spPr>
          <a:xfrm>
            <a:off x="24079200" y="8896350"/>
            <a:ext cx="3562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비고</a:t>
            </a:r>
          </a:p>
        </p:txBody>
      </p:sp>
      <p:sp>
        <p:nvSpPr>
          <p:cNvPr id="393" name="직사각형 392">
            <a:extLst>
              <a:ext uri="{FF2B5EF4-FFF2-40B4-BE49-F238E27FC236}">
                <a16:creationId xmlns:a16="http://schemas.microsoft.com/office/drawing/2014/main" id="{8616DB29-6A1B-40C9-B0D1-B72B843146B4}"/>
              </a:ext>
            </a:extLst>
          </p:cNvPr>
          <p:cNvSpPr>
            <a:spLocks noGrp="1"/>
          </p:cNvSpPr>
          <p:nvPr/>
        </p:nvSpPr>
        <p:spPr>
          <a:xfrm>
            <a:off x="16287750" y="9410700"/>
            <a:ext cx="295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4" name="직사각형 393">
            <a:extLst>
              <a:ext uri="{FF2B5EF4-FFF2-40B4-BE49-F238E27FC236}">
                <a16:creationId xmlns:a16="http://schemas.microsoft.com/office/drawing/2014/main" id="{42C6C3FE-E7D3-4548-957B-8D460EA34D3F}"/>
              </a:ext>
            </a:extLst>
          </p:cNvPr>
          <p:cNvSpPr>
            <a:spLocks noGrp="1"/>
          </p:cNvSpPr>
          <p:nvPr/>
        </p:nvSpPr>
        <p:spPr>
          <a:xfrm>
            <a:off x="16363950" y="94488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395" name="직사각형 394">
            <a:extLst>
              <a:ext uri="{FF2B5EF4-FFF2-40B4-BE49-F238E27FC236}">
                <a16:creationId xmlns:a16="http://schemas.microsoft.com/office/drawing/2014/main" id="{428DE730-8399-428C-A569-654A4CE4090A}"/>
              </a:ext>
            </a:extLst>
          </p:cNvPr>
          <p:cNvSpPr>
            <a:spLocks noGrp="1"/>
          </p:cNvSpPr>
          <p:nvPr/>
        </p:nvSpPr>
        <p:spPr>
          <a:xfrm>
            <a:off x="19240500" y="9410700"/>
            <a:ext cx="2571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6" name="직사각형 395">
            <a:extLst>
              <a:ext uri="{FF2B5EF4-FFF2-40B4-BE49-F238E27FC236}">
                <a16:creationId xmlns:a16="http://schemas.microsoft.com/office/drawing/2014/main" id="{AFD005C6-9D21-4990-9572-CAA2C6CA3777}"/>
              </a:ext>
            </a:extLst>
          </p:cNvPr>
          <p:cNvSpPr>
            <a:spLocks noGrp="1"/>
          </p:cNvSpPr>
          <p:nvPr/>
        </p:nvSpPr>
        <p:spPr>
          <a:xfrm>
            <a:off x="19316700" y="94488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47 / 50</a:t>
            </a:r>
          </a:p>
        </p:txBody>
      </p:sp>
      <p:sp>
        <p:nvSpPr>
          <p:cNvPr id="397" name="직사각형 396">
            <a:extLst>
              <a:ext uri="{FF2B5EF4-FFF2-40B4-BE49-F238E27FC236}">
                <a16:creationId xmlns:a16="http://schemas.microsoft.com/office/drawing/2014/main" id="{38993D3C-14F1-4B46-A9E6-4EE422BCE106}"/>
              </a:ext>
            </a:extLst>
          </p:cNvPr>
          <p:cNvSpPr>
            <a:spLocks noGrp="1"/>
          </p:cNvSpPr>
          <p:nvPr/>
        </p:nvSpPr>
        <p:spPr>
          <a:xfrm>
            <a:off x="21812250" y="94107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8" name="직사각형 397">
            <a:extLst>
              <a:ext uri="{FF2B5EF4-FFF2-40B4-BE49-F238E27FC236}">
                <a16:creationId xmlns:a16="http://schemas.microsoft.com/office/drawing/2014/main" id="{8ECE83A7-6211-403F-BD5A-C49B00663771}"/>
              </a:ext>
            </a:extLst>
          </p:cNvPr>
          <p:cNvSpPr>
            <a:spLocks noGrp="1"/>
          </p:cNvSpPr>
          <p:nvPr/>
        </p:nvSpPr>
        <p:spPr>
          <a:xfrm>
            <a:off x="21888450" y="94488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94.0%</a:t>
            </a:r>
          </a:p>
        </p:txBody>
      </p:sp>
      <p:sp>
        <p:nvSpPr>
          <p:cNvPr id="399" name="직사각형 398">
            <a:extLst>
              <a:ext uri="{FF2B5EF4-FFF2-40B4-BE49-F238E27FC236}">
                <a16:creationId xmlns:a16="http://schemas.microsoft.com/office/drawing/2014/main" id="{CCB9435A-C260-4805-AEA6-B655643655AE}"/>
              </a:ext>
            </a:extLst>
          </p:cNvPr>
          <p:cNvSpPr>
            <a:spLocks noGrp="1"/>
          </p:cNvSpPr>
          <p:nvPr/>
        </p:nvSpPr>
        <p:spPr>
          <a:xfrm>
            <a:off x="24003000" y="9410700"/>
            <a:ext cx="3714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0" name="직사각형 399">
            <a:extLst>
              <a:ext uri="{FF2B5EF4-FFF2-40B4-BE49-F238E27FC236}">
                <a16:creationId xmlns:a16="http://schemas.microsoft.com/office/drawing/2014/main" id="{4F98F99A-37DB-4B78-9AAB-43B490AF409D}"/>
              </a:ext>
            </a:extLst>
          </p:cNvPr>
          <p:cNvSpPr>
            <a:spLocks noGrp="1"/>
          </p:cNvSpPr>
          <p:nvPr/>
        </p:nvSpPr>
        <p:spPr>
          <a:xfrm>
            <a:off x="24079200" y="94488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안정적 라우팅</a:t>
            </a:r>
          </a:p>
        </p:txBody>
      </p:sp>
      <p:sp>
        <p:nvSpPr>
          <p:cNvPr id="401" name="직사각형 400">
            <a:extLst>
              <a:ext uri="{FF2B5EF4-FFF2-40B4-BE49-F238E27FC236}">
                <a16:creationId xmlns:a16="http://schemas.microsoft.com/office/drawing/2014/main" id="{FC58D440-6619-42A1-9FC4-5A2381F557CB}"/>
              </a:ext>
            </a:extLst>
          </p:cNvPr>
          <p:cNvSpPr>
            <a:spLocks noGrp="1"/>
          </p:cNvSpPr>
          <p:nvPr/>
        </p:nvSpPr>
        <p:spPr>
          <a:xfrm>
            <a:off x="16287750" y="10058400"/>
            <a:ext cx="2952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CC21367D-8AA4-41D1-9EEB-C8BB263ED38D}"/>
              </a:ext>
            </a:extLst>
          </p:cNvPr>
          <p:cNvSpPr>
            <a:spLocks noGrp="1"/>
          </p:cNvSpPr>
          <p:nvPr/>
        </p:nvSpPr>
        <p:spPr>
          <a:xfrm>
            <a:off x="16363950" y="100965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403" name="직사각형 402">
            <a:extLst>
              <a:ext uri="{FF2B5EF4-FFF2-40B4-BE49-F238E27FC236}">
                <a16:creationId xmlns:a16="http://schemas.microsoft.com/office/drawing/2014/main" id="{1AE1B278-5E98-4425-8EA9-D4EB1FE3EE35}"/>
              </a:ext>
            </a:extLst>
          </p:cNvPr>
          <p:cNvSpPr>
            <a:spLocks noGrp="1"/>
          </p:cNvSpPr>
          <p:nvPr/>
        </p:nvSpPr>
        <p:spPr>
          <a:xfrm>
            <a:off x="19240500" y="10058400"/>
            <a:ext cx="2571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4" name="직사각형 403">
            <a:extLst>
              <a:ext uri="{FF2B5EF4-FFF2-40B4-BE49-F238E27FC236}">
                <a16:creationId xmlns:a16="http://schemas.microsoft.com/office/drawing/2014/main" id="{71D117CA-EDDA-41F0-8C7F-2829C7441E10}"/>
              </a:ext>
            </a:extLst>
          </p:cNvPr>
          <p:cNvSpPr>
            <a:spLocks noGrp="1"/>
          </p:cNvSpPr>
          <p:nvPr/>
        </p:nvSpPr>
        <p:spPr>
          <a:xfrm>
            <a:off x="19316700" y="100965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49 / 50</a:t>
            </a:r>
          </a:p>
        </p:txBody>
      </p:sp>
      <p:sp>
        <p:nvSpPr>
          <p:cNvPr id="405" name="직사각형 404">
            <a:extLst>
              <a:ext uri="{FF2B5EF4-FFF2-40B4-BE49-F238E27FC236}">
                <a16:creationId xmlns:a16="http://schemas.microsoft.com/office/drawing/2014/main" id="{C3BDAE7D-3C03-458D-9F35-5E626E11D1D1}"/>
              </a:ext>
            </a:extLst>
          </p:cNvPr>
          <p:cNvSpPr>
            <a:spLocks noGrp="1"/>
          </p:cNvSpPr>
          <p:nvPr/>
        </p:nvSpPr>
        <p:spPr>
          <a:xfrm>
            <a:off x="21812250" y="10058400"/>
            <a:ext cx="2190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6" name="직사각형 405">
            <a:extLst>
              <a:ext uri="{FF2B5EF4-FFF2-40B4-BE49-F238E27FC236}">
                <a16:creationId xmlns:a16="http://schemas.microsoft.com/office/drawing/2014/main" id="{B2338B47-076D-40E5-B823-5507EC680064}"/>
              </a:ext>
            </a:extLst>
          </p:cNvPr>
          <p:cNvSpPr>
            <a:spLocks noGrp="1"/>
          </p:cNvSpPr>
          <p:nvPr/>
        </p:nvSpPr>
        <p:spPr>
          <a:xfrm>
            <a:off x="21888450" y="100965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98.0%</a:t>
            </a:r>
          </a:p>
        </p:txBody>
      </p:sp>
      <p:sp>
        <p:nvSpPr>
          <p:cNvPr id="407" name="직사각형 406">
            <a:extLst>
              <a:ext uri="{FF2B5EF4-FFF2-40B4-BE49-F238E27FC236}">
                <a16:creationId xmlns:a16="http://schemas.microsoft.com/office/drawing/2014/main" id="{EC094DB1-0DD8-4265-B548-5A1E74431D52}"/>
              </a:ext>
            </a:extLst>
          </p:cNvPr>
          <p:cNvSpPr>
            <a:spLocks noGrp="1"/>
          </p:cNvSpPr>
          <p:nvPr/>
        </p:nvSpPr>
        <p:spPr>
          <a:xfrm>
            <a:off x="24003000" y="10058400"/>
            <a:ext cx="3714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8" name="직사각형 407">
            <a:extLst>
              <a:ext uri="{FF2B5EF4-FFF2-40B4-BE49-F238E27FC236}">
                <a16:creationId xmlns:a16="http://schemas.microsoft.com/office/drawing/2014/main" id="{073A6203-0B35-4F37-8376-EE034AB81032}"/>
              </a:ext>
            </a:extLst>
          </p:cNvPr>
          <p:cNvSpPr>
            <a:spLocks noGrp="1"/>
          </p:cNvSpPr>
          <p:nvPr/>
        </p:nvSpPr>
        <p:spPr>
          <a:xfrm>
            <a:off x="24079200" y="100965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높은 일치율</a:t>
            </a:r>
          </a:p>
        </p:txBody>
      </p:sp>
      <p:sp>
        <p:nvSpPr>
          <p:cNvPr id="409" name="직사각형 408">
            <a:extLst>
              <a:ext uri="{FF2B5EF4-FFF2-40B4-BE49-F238E27FC236}">
                <a16:creationId xmlns:a16="http://schemas.microsoft.com/office/drawing/2014/main" id="{F2E829C7-4E5C-4807-B262-EBCB67420212}"/>
              </a:ext>
            </a:extLst>
          </p:cNvPr>
          <p:cNvSpPr>
            <a:spLocks noGrp="1"/>
          </p:cNvSpPr>
          <p:nvPr/>
        </p:nvSpPr>
        <p:spPr>
          <a:xfrm>
            <a:off x="16287750" y="10706100"/>
            <a:ext cx="295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0" name="직사각형 409">
            <a:extLst>
              <a:ext uri="{FF2B5EF4-FFF2-40B4-BE49-F238E27FC236}">
                <a16:creationId xmlns:a16="http://schemas.microsoft.com/office/drawing/2014/main" id="{33FE420C-82EB-46C9-A391-219DA738A973}"/>
              </a:ext>
            </a:extLst>
          </p:cNvPr>
          <p:cNvSpPr>
            <a:spLocks noGrp="1"/>
          </p:cNvSpPr>
          <p:nvPr/>
        </p:nvSpPr>
        <p:spPr>
          <a:xfrm>
            <a:off x="16363950" y="107442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411" name="직사각형 410">
            <a:extLst>
              <a:ext uri="{FF2B5EF4-FFF2-40B4-BE49-F238E27FC236}">
                <a16:creationId xmlns:a16="http://schemas.microsoft.com/office/drawing/2014/main" id="{298132F5-23CD-4A52-B625-26C0134B8531}"/>
              </a:ext>
            </a:extLst>
          </p:cNvPr>
          <p:cNvSpPr>
            <a:spLocks noGrp="1"/>
          </p:cNvSpPr>
          <p:nvPr/>
        </p:nvSpPr>
        <p:spPr>
          <a:xfrm>
            <a:off x="19240500" y="10706100"/>
            <a:ext cx="2571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2" name="직사각형 411">
            <a:extLst>
              <a:ext uri="{FF2B5EF4-FFF2-40B4-BE49-F238E27FC236}">
                <a16:creationId xmlns:a16="http://schemas.microsoft.com/office/drawing/2014/main" id="{E8B966FE-9354-4844-B081-68F587B0DAED}"/>
              </a:ext>
            </a:extLst>
          </p:cNvPr>
          <p:cNvSpPr>
            <a:spLocks noGrp="1"/>
          </p:cNvSpPr>
          <p:nvPr/>
        </p:nvSpPr>
        <p:spPr>
          <a:xfrm>
            <a:off x="19316700" y="107442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43 / 50</a:t>
            </a:r>
          </a:p>
        </p:txBody>
      </p:sp>
      <p:sp>
        <p:nvSpPr>
          <p:cNvPr id="413" name="직사각형 412">
            <a:extLst>
              <a:ext uri="{FF2B5EF4-FFF2-40B4-BE49-F238E27FC236}">
                <a16:creationId xmlns:a16="http://schemas.microsoft.com/office/drawing/2014/main" id="{15A84F02-1122-4626-B06D-AB475B6D7157}"/>
              </a:ext>
            </a:extLst>
          </p:cNvPr>
          <p:cNvSpPr>
            <a:spLocks noGrp="1"/>
          </p:cNvSpPr>
          <p:nvPr/>
        </p:nvSpPr>
        <p:spPr>
          <a:xfrm>
            <a:off x="21812250" y="107061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4" name="직사각형 413">
            <a:extLst>
              <a:ext uri="{FF2B5EF4-FFF2-40B4-BE49-F238E27FC236}">
                <a16:creationId xmlns:a16="http://schemas.microsoft.com/office/drawing/2014/main" id="{8A36C3A2-0EFD-405B-885C-6E752DDD46D3}"/>
              </a:ext>
            </a:extLst>
          </p:cNvPr>
          <p:cNvSpPr>
            <a:spLocks noGrp="1"/>
          </p:cNvSpPr>
          <p:nvPr/>
        </p:nvSpPr>
        <p:spPr>
          <a:xfrm>
            <a:off x="21888450" y="107442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86.0%</a:t>
            </a:r>
          </a:p>
        </p:txBody>
      </p:sp>
      <p:sp>
        <p:nvSpPr>
          <p:cNvPr id="415" name="직사각형 414">
            <a:extLst>
              <a:ext uri="{FF2B5EF4-FFF2-40B4-BE49-F238E27FC236}">
                <a16:creationId xmlns:a16="http://schemas.microsoft.com/office/drawing/2014/main" id="{92822442-BC93-4D87-BFAF-7C0899CBE98D}"/>
              </a:ext>
            </a:extLst>
          </p:cNvPr>
          <p:cNvSpPr>
            <a:spLocks noGrp="1"/>
          </p:cNvSpPr>
          <p:nvPr/>
        </p:nvSpPr>
        <p:spPr>
          <a:xfrm>
            <a:off x="24003000" y="10706100"/>
            <a:ext cx="3714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6" name="직사각형 415">
            <a:extLst>
              <a:ext uri="{FF2B5EF4-FFF2-40B4-BE49-F238E27FC236}">
                <a16:creationId xmlns:a16="http://schemas.microsoft.com/office/drawing/2014/main" id="{63DFBC9B-6F1D-4FB6-A76F-3C569895E372}"/>
              </a:ext>
            </a:extLst>
          </p:cNvPr>
          <p:cNvSpPr>
            <a:spLocks noGrp="1"/>
          </p:cNvSpPr>
          <p:nvPr/>
        </p:nvSpPr>
        <p:spPr>
          <a:xfrm>
            <a:off x="24079200" y="107442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상대적으로 낮음</a:t>
            </a:r>
          </a:p>
        </p:txBody>
      </p:sp>
      <p:sp>
        <p:nvSpPr>
          <p:cNvPr id="417" name="직사각형 416">
            <a:extLst>
              <a:ext uri="{FF2B5EF4-FFF2-40B4-BE49-F238E27FC236}">
                <a16:creationId xmlns:a16="http://schemas.microsoft.com/office/drawing/2014/main" id="{B7FF18A3-B2DC-472A-8A69-4EE5664C852C}"/>
              </a:ext>
            </a:extLst>
          </p:cNvPr>
          <p:cNvSpPr>
            <a:spLocks noGrp="1"/>
          </p:cNvSpPr>
          <p:nvPr/>
        </p:nvSpPr>
        <p:spPr>
          <a:xfrm>
            <a:off x="16287750" y="11353800"/>
            <a:ext cx="2952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8" name="직사각형 417">
            <a:extLst>
              <a:ext uri="{FF2B5EF4-FFF2-40B4-BE49-F238E27FC236}">
                <a16:creationId xmlns:a16="http://schemas.microsoft.com/office/drawing/2014/main" id="{26CF3CD8-31EF-46BA-81AE-20780E94A51B}"/>
              </a:ext>
            </a:extLst>
          </p:cNvPr>
          <p:cNvSpPr>
            <a:spLocks noGrp="1"/>
          </p:cNvSpPr>
          <p:nvPr/>
        </p:nvSpPr>
        <p:spPr>
          <a:xfrm>
            <a:off x="16363950" y="113919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419" name="직사각형 418">
            <a:extLst>
              <a:ext uri="{FF2B5EF4-FFF2-40B4-BE49-F238E27FC236}">
                <a16:creationId xmlns:a16="http://schemas.microsoft.com/office/drawing/2014/main" id="{7C16DC1A-DE30-4A6C-A10F-01EBEE72940F}"/>
              </a:ext>
            </a:extLst>
          </p:cNvPr>
          <p:cNvSpPr>
            <a:spLocks noGrp="1"/>
          </p:cNvSpPr>
          <p:nvPr/>
        </p:nvSpPr>
        <p:spPr>
          <a:xfrm>
            <a:off x="19240500" y="11353800"/>
            <a:ext cx="2571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0" name="직사각형 419">
            <a:extLst>
              <a:ext uri="{FF2B5EF4-FFF2-40B4-BE49-F238E27FC236}">
                <a16:creationId xmlns:a16="http://schemas.microsoft.com/office/drawing/2014/main" id="{EFE3BFA8-2011-47EB-A236-04BE6E11B85A}"/>
              </a:ext>
            </a:extLst>
          </p:cNvPr>
          <p:cNvSpPr>
            <a:spLocks noGrp="1"/>
          </p:cNvSpPr>
          <p:nvPr/>
        </p:nvSpPr>
        <p:spPr>
          <a:xfrm>
            <a:off x="19316700" y="113919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50 / 50</a:t>
            </a:r>
          </a:p>
        </p:txBody>
      </p:sp>
      <p:sp>
        <p:nvSpPr>
          <p:cNvPr id="421" name="직사각형 420">
            <a:extLst>
              <a:ext uri="{FF2B5EF4-FFF2-40B4-BE49-F238E27FC236}">
                <a16:creationId xmlns:a16="http://schemas.microsoft.com/office/drawing/2014/main" id="{1FBFD279-E083-4B49-B128-8FE3B3DC9B9D}"/>
              </a:ext>
            </a:extLst>
          </p:cNvPr>
          <p:cNvSpPr>
            <a:spLocks noGrp="1"/>
          </p:cNvSpPr>
          <p:nvPr/>
        </p:nvSpPr>
        <p:spPr>
          <a:xfrm>
            <a:off x="21812250" y="11353800"/>
            <a:ext cx="2190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2" name="직사각형 421">
            <a:extLst>
              <a:ext uri="{FF2B5EF4-FFF2-40B4-BE49-F238E27FC236}">
                <a16:creationId xmlns:a16="http://schemas.microsoft.com/office/drawing/2014/main" id="{F953EAC9-FB3F-4BEA-B104-ADA87CC94DCB}"/>
              </a:ext>
            </a:extLst>
          </p:cNvPr>
          <p:cNvSpPr>
            <a:spLocks noGrp="1"/>
          </p:cNvSpPr>
          <p:nvPr/>
        </p:nvSpPr>
        <p:spPr>
          <a:xfrm>
            <a:off x="21888450" y="113919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100.0%</a:t>
            </a:r>
          </a:p>
        </p:txBody>
      </p:sp>
      <p:sp>
        <p:nvSpPr>
          <p:cNvPr id="423" name="직사각형 422">
            <a:extLst>
              <a:ext uri="{FF2B5EF4-FFF2-40B4-BE49-F238E27FC236}">
                <a16:creationId xmlns:a16="http://schemas.microsoft.com/office/drawing/2014/main" id="{B2C3F468-B267-4E43-A6A5-094E9FBF7E0B}"/>
              </a:ext>
            </a:extLst>
          </p:cNvPr>
          <p:cNvSpPr>
            <a:spLocks noGrp="1"/>
          </p:cNvSpPr>
          <p:nvPr/>
        </p:nvSpPr>
        <p:spPr>
          <a:xfrm>
            <a:off x="24003000" y="11353800"/>
            <a:ext cx="3714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4" name="직사각형 423">
            <a:extLst>
              <a:ext uri="{FF2B5EF4-FFF2-40B4-BE49-F238E27FC236}">
                <a16:creationId xmlns:a16="http://schemas.microsoft.com/office/drawing/2014/main" id="{712A81E1-7FA6-4F78-8774-D7BA63C4E355}"/>
              </a:ext>
            </a:extLst>
          </p:cNvPr>
          <p:cNvSpPr>
            <a:spLocks noGrp="1"/>
          </p:cNvSpPr>
          <p:nvPr/>
        </p:nvSpPr>
        <p:spPr>
          <a:xfrm>
            <a:off x="24079200" y="113919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fallback 검증 중요</a:t>
            </a:r>
          </a:p>
        </p:txBody>
      </p: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C7F5C676-0D36-42B3-B3DC-115AF5978CC4}"/>
              </a:ext>
            </a:extLst>
          </p:cNvPr>
          <p:cNvSpPr>
            <a:spLocks noGrp="1"/>
          </p:cNvSpPr>
          <p:nvPr/>
        </p:nvSpPr>
        <p:spPr>
          <a:xfrm>
            <a:off x="16287750" y="12001500"/>
            <a:ext cx="295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6" name="직사각형 425">
            <a:extLst>
              <a:ext uri="{FF2B5EF4-FFF2-40B4-BE49-F238E27FC236}">
                <a16:creationId xmlns:a16="http://schemas.microsoft.com/office/drawing/2014/main" id="{52D12707-A3E0-4B21-B90E-FE3AA021715D}"/>
              </a:ext>
            </a:extLst>
          </p:cNvPr>
          <p:cNvSpPr>
            <a:spLocks noGrp="1"/>
          </p:cNvSpPr>
          <p:nvPr/>
        </p:nvSpPr>
        <p:spPr>
          <a:xfrm>
            <a:off x="16363950" y="120396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427" name="직사각형 426">
            <a:extLst>
              <a:ext uri="{FF2B5EF4-FFF2-40B4-BE49-F238E27FC236}">
                <a16:creationId xmlns:a16="http://schemas.microsoft.com/office/drawing/2014/main" id="{5240DB00-8918-4852-B374-0ECB81205AD1}"/>
              </a:ext>
            </a:extLst>
          </p:cNvPr>
          <p:cNvSpPr>
            <a:spLocks noGrp="1"/>
          </p:cNvSpPr>
          <p:nvPr/>
        </p:nvSpPr>
        <p:spPr>
          <a:xfrm>
            <a:off x="19240500" y="12001500"/>
            <a:ext cx="2571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8" name="직사각형 427">
            <a:extLst>
              <a:ext uri="{FF2B5EF4-FFF2-40B4-BE49-F238E27FC236}">
                <a16:creationId xmlns:a16="http://schemas.microsoft.com/office/drawing/2014/main" id="{F84FDBC6-1EAD-4297-B507-B31BC0DEC539}"/>
              </a:ext>
            </a:extLst>
          </p:cNvPr>
          <p:cNvSpPr>
            <a:spLocks noGrp="1"/>
          </p:cNvSpPr>
          <p:nvPr/>
        </p:nvSpPr>
        <p:spPr>
          <a:xfrm>
            <a:off x="19316700" y="120396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189 / 200</a:t>
            </a:r>
          </a:p>
        </p:txBody>
      </p:sp>
      <p:sp>
        <p:nvSpPr>
          <p:cNvPr id="429" name="직사각형 428">
            <a:extLst>
              <a:ext uri="{FF2B5EF4-FFF2-40B4-BE49-F238E27FC236}">
                <a16:creationId xmlns:a16="http://schemas.microsoft.com/office/drawing/2014/main" id="{8995C019-9B9F-49AF-8A6B-745423552F78}"/>
              </a:ext>
            </a:extLst>
          </p:cNvPr>
          <p:cNvSpPr>
            <a:spLocks noGrp="1"/>
          </p:cNvSpPr>
          <p:nvPr/>
        </p:nvSpPr>
        <p:spPr>
          <a:xfrm>
            <a:off x="21812250" y="120015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0" name="직사각형 429">
            <a:extLst>
              <a:ext uri="{FF2B5EF4-FFF2-40B4-BE49-F238E27FC236}">
                <a16:creationId xmlns:a16="http://schemas.microsoft.com/office/drawing/2014/main" id="{D88E6354-676C-4631-B484-B4DDC8BBFCAD}"/>
              </a:ext>
            </a:extLst>
          </p:cNvPr>
          <p:cNvSpPr>
            <a:spLocks noGrp="1"/>
          </p:cNvSpPr>
          <p:nvPr/>
        </p:nvSpPr>
        <p:spPr>
          <a:xfrm>
            <a:off x="21888450" y="120396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94.5%</a:t>
            </a:r>
          </a:p>
        </p:txBody>
      </p: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47619792-1F49-42FD-A353-5CE24E82815A}"/>
              </a:ext>
            </a:extLst>
          </p:cNvPr>
          <p:cNvSpPr>
            <a:spLocks noGrp="1"/>
          </p:cNvSpPr>
          <p:nvPr/>
        </p:nvSpPr>
        <p:spPr>
          <a:xfrm>
            <a:off x="24003000" y="12001500"/>
            <a:ext cx="3714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2" name="직사각형 431">
            <a:extLst>
              <a:ext uri="{FF2B5EF4-FFF2-40B4-BE49-F238E27FC236}">
                <a16:creationId xmlns:a16="http://schemas.microsoft.com/office/drawing/2014/main" id="{2B1873AD-7BCA-4EE6-BBCE-3D3226271AF7}"/>
              </a:ext>
            </a:extLst>
          </p:cNvPr>
          <p:cNvSpPr>
            <a:spLocks noGrp="1"/>
          </p:cNvSpPr>
          <p:nvPr/>
        </p:nvSpPr>
        <p:spPr>
          <a:xfrm>
            <a:off x="24079200" y="120396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평균 DSC 0.9532</a:t>
            </a:r>
          </a:p>
        </p:txBody>
      </p:sp>
      <p:sp>
        <p:nvSpPr>
          <p:cNvPr id="433" name="직사각형 432">
            <a:extLst>
              <a:ext uri="{FF2B5EF4-FFF2-40B4-BE49-F238E27FC236}">
                <a16:creationId xmlns:a16="http://schemas.microsoft.com/office/drawing/2014/main" id="{BB0FD70E-63C1-42D5-A7F5-5FFB1E42089C}"/>
              </a:ext>
            </a:extLst>
          </p:cNvPr>
          <p:cNvSpPr>
            <a:spLocks noGrp="1"/>
          </p:cNvSpPr>
          <p:nvPr/>
        </p:nvSpPr>
        <p:spPr>
          <a:xfrm>
            <a:off x="16287750" y="13239750"/>
            <a:ext cx="3524250" cy="904875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4" name="직사각형 433">
            <a:extLst>
              <a:ext uri="{FF2B5EF4-FFF2-40B4-BE49-F238E27FC236}">
                <a16:creationId xmlns:a16="http://schemas.microsoft.com/office/drawing/2014/main" id="{1120F73E-DC32-4BEE-A112-0E73B7D307F8}"/>
              </a:ext>
            </a:extLst>
          </p:cNvPr>
          <p:cNvSpPr>
            <a:spLocks noGrp="1"/>
          </p:cNvSpPr>
          <p:nvPr/>
        </p:nvSpPr>
        <p:spPr>
          <a:xfrm>
            <a:off x="16383000" y="1331595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평균 DSC</a:t>
            </a:r>
          </a:p>
          <a:p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0.9532</a:t>
            </a:r>
          </a:p>
        </p:txBody>
      </p:sp>
      <p:sp>
        <p:nvSpPr>
          <p:cNvPr id="435" name="직사각형 434">
            <a:extLst>
              <a:ext uri="{FF2B5EF4-FFF2-40B4-BE49-F238E27FC236}">
                <a16:creationId xmlns:a16="http://schemas.microsoft.com/office/drawing/2014/main" id="{3B104B66-7252-4D9A-A8C6-057E47CCF200}"/>
              </a:ext>
            </a:extLst>
          </p:cNvPr>
          <p:cNvSpPr>
            <a:spLocks noGrp="1"/>
          </p:cNvSpPr>
          <p:nvPr/>
        </p:nvSpPr>
        <p:spPr>
          <a:xfrm>
            <a:off x="20288250" y="13239750"/>
            <a:ext cx="3524250" cy="904875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5CB8DA68-E153-4A33-A43E-2070E3300559}"/>
              </a:ext>
            </a:extLst>
          </p:cNvPr>
          <p:cNvSpPr>
            <a:spLocks noGrp="1"/>
          </p:cNvSpPr>
          <p:nvPr/>
        </p:nvSpPr>
        <p:spPr>
          <a:xfrm>
            <a:off x="20383500" y="1331595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평균 IoU</a:t>
            </a:r>
          </a:p>
          <a:p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0.9122</a:t>
            </a:r>
          </a:p>
        </p:txBody>
      </p:sp>
      <p:sp>
        <p:nvSpPr>
          <p:cNvPr id="437" name="직사각형 436">
            <a:extLst>
              <a:ext uri="{FF2B5EF4-FFF2-40B4-BE49-F238E27FC236}">
                <a16:creationId xmlns:a16="http://schemas.microsoft.com/office/drawing/2014/main" id="{9ECF17A0-4B64-44DC-B7D2-CE5C57A3842B}"/>
              </a:ext>
            </a:extLst>
          </p:cNvPr>
          <p:cNvSpPr>
            <a:spLocks noGrp="1"/>
          </p:cNvSpPr>
          <p:nvPr/>
        </p:nvSpPr>
        <p:spPr>
          <a:xfrm>
            <a:off x="24288750" y="13239750"/>
            <a:ext cx="3429000" cy="904875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8" name="직사각형 437">
            <a:extLst>
              <a:ext uri="{FF2B5EF4-FFF2-40B4-BE49-F238E27FC236}">
                <a16:creationId xmlns:a16="http://schemas.microsoft.com/office/drawing/2014/main" id="{F20BB76E-74BA-4E33-8EF8-BAD13345D5D9}"/>
              </a:ext>
            </a:extLst>
          </p:cNvPr>
          <p:cNvSpPr>
            <a:spLocks noGrp="1"/>
          </p:cNvSpPr>
          <p:nvPr/>
        </p:nvSpPr>
        <p:spPr>
          <a:xfrm>
            <a:off x="24384000" y="13315950"/>
            <a:ext cx="3238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평가 단위</a:t>
            </a:r>
          </a:p>
          <a:p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200 case</a:t>
            </a:r>
          </a:p>
        </p:txBody>
      </p:sp>
      <p:sp>
        <p:nvSpPr>
          <p:cNvPr id="439" name="직사각형 438">
            <a:extLst>
              <a:ext uri="{FF2B5EF4-FFF2-40B4-BE49-F238E27FC236}">
                <a16:creationId xmlns:a16="http://schemas.microsoft.com/office/drawing/2014/main" id="{101BE01C-3FC7-46BF-9340-AA924A034C96}"/>
              </a:ext>
            </a:extLst>
          </p:cNvPr>
          <p:cNvSpPr>
            <a:spLocks noGrp="1"/>
          </p:cNvSpPr>
          <p:nvPr/>
        </p:nvSpPr>
        <p:spPr>
          <a:xfrm>
            <a:off x="16287750" y="1467802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8D835133-014A-40C5-B190-F307F4410E6A}"/>
              </a:ext>
            </a:extLst>
          </p:cNvPr>
          <p:cNvSpPr>
            <a:spLocks noGrp="1"/>
          </p:cNvSpPr>
          <p:nvPr/>
        </p:nvSpPr>
        <p:spPr>
          <a:xfrm>
            <a:off x="16649700" y="14525625"/>
            <a:ext cx="10877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네 조건에서 각 50 case를 평가했으며, 전체 189/200 case가 사후 최고 DSC 모델과 일치했다.</a:t>
            </a:r>
          </a:p>
        </p:txBody>
      </p: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E6B0E686-F809-4CCA-9ABF-58E33E59AE2B}"/>
              </a:ext>
            </a:extLst>
          </p:cNvPr>
          <p:cNvSpPr>
            <a:spLocks noGrp="1"/>
          </p:cNvSpPr>
          <p:nvPr/>
        </p:nvSpPr>
        <p:spPr>
          <a:xfrm>
            <a:off x="16287750" y="15487650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2" name="직사각형 441">
            <a:extLst>
              <a:ext uri="{FF2B5EF4-FFF2-40B4-BE49-F238E27FC236}">
                <a16:creationId xmlns:a16="http://schemas.microsoft.com/office/drawing/2014/main" id="{A2DBB79B-0AD4-43ED-8D99-C4D336D0D478}"/>
              </a:ext>
            </a:extLst>
          </p:cNvPr>
          <p:cNvSpPr>
            <a:spLocks noGrp="1"/>
          </p:cNvSpPr>
          <p:nvPr/>
        </p:nvSpPr>
        <p:spPr>
          <a:xfrm>
            <a:off x="16649700" y="15335250"/>
            <a:ext cx="10877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CT 폐는 86.0%로 가장 낮아 향후 agent memory와 image-level feature 보강 대상이다.</a:t>
            </a:r>
          </a:p>
        </p:txBody>
      </p:sp>
      <p:sp>
        <p:nvSpPr>
          <p:cNvPr id="453" name="사각형: 둥근 모서리 452">
            <a:extLst>
              <a:ext uri="{FF2B5EF4-FFF2-40B4-BE49-F238E27FC236}">
                <a16:creationId xmlns:a16="http://schemas.microsoft.com/office/drawing/2014/main" id="{B13F31DE-1763-47F4-B21C-0799DD8015EA}"/>
              </a:ext>
            </a:extLst>
          </p:cNvPr>
          <p:cNvSpPr>
            <a:spLocks noGrp="1"/>
          </p:cNvSpPr>
          <p:nvPr/>
        </p:nvSpPr>
        <p:spPr>
          <a:xfrm>
            <a:off x="2762250" y="14832930"/>
            <a:ext cx="24003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1. 사용자 요청 및</a:t>
            </a:r>
          </a:p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입력 영상 수집</a:t>
            </a:r>
          </a:p>
        </p:txBody>
      </p:sp>
      <p:sp>
        <p:nvSpPr>
          <p:cNvPr id="454" name="사각형: 둥근 모서리 453">
            <a:extLst>
              <a:ext uri="{FF2B5EF4-FFF2-40B4-BE49-F238E27FC236}">
                <a16:creationId xmlns:a16="http://schemas.microsoft.com/office/drawing/2014/main" id="{18C906BE-7BC4-4933-BFC2-1AFBF582E5B6}"/>
              </a:ext>
            </a:extLst>
          </p:cNvPr>
          <p:cNvSpPr>
            <a:spLocks noGrp="1"/>
          </p:cNvSpPr>
          <p:nvPr/>
        </p:nvSpPr>
        <p:spPr>
          <a:xfrm>
            <a:off x="6496050" y="14832930"/>
            <a:ext cx="24003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2. 요청 파싱 및</a:t>
            </a:r>
          </a:p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대상 조건 해석</a:t>
            </a:r>
          </a:p>
        </p:txBody>
      </p:sp>
      <p:sp>
        <p:nvSpPr>
          <p:cNvPr id="455" name="사각형: 둥근 모서리 454">
            <a:extLst>
              <a:ext uri="{FF2B5EF4-FFF2-40B4-BE49-F238E27FC236}">
                <a16:creationId xmlns:a16="http://schemas.microsoft.com/office/drawing/2014/main" id="{7C3D27B5-A5C8-4E82-8147-D7D113429328}"/>
              </a:ext>
            </a:extLst>
          </p:cNvPr>
          <p:cNvSpPr>
            <a:spLocks noGrp="1"/>
          </p:cNvSpPr>
          <p:nvPr/>
        </p:nvSpPr>
        <p:spPr>
          <a:xfrm>
            <a:off x="10229850" y="14832930"/>
            <a:ext cx="24003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3. 후보 모델군</a:t>
            </a:r>
          </a:p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검색 및 구성</a:t>
            </a:r>
          </a:p>
        </p:txBody>
      </p:sp>
      <p:sp>
        <p:nvSpPr>
          <p:cNvPr id="456" name="사각형: 둥근 모서리 455">
            <a:extLst>
              <a:ext uri="{FF2B5EF4-FFF2-40B4-BE49-F238E27FC236}">
                <a16:creationId xmlns:a16="http://schemas.microsoft.com/office/drawing/2014/main" id="{E7541654-5EE0-489D-BC2C-E18693D19EDC}"/>
              </a:ext>
            </a:extLst>
          </p:cNvPr>
          <p:cNvSpPr>
            <a:spLocks noGrp="1"/>
          </p:cNvSpPr>
          <p:nvPr/>
        </p:nvSpPr>
        <p:spPr>
          <a:xfrm>
            <a:off x="2762250" y="16356930"/>
            <a:ext cx="24003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4. 후보 모델</a:t>
            </a:r>
          </a:p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병렬 실행</a:t>
            </a:r>
          </a:p>
        </p:txBody>
      </p:sp>
      <p:sp>
        <p:nvSpPr>
          <p:cNvPr id="457" name="사각형: 둥근 모서리 456">
            <a:extLst>
              <a:ext uri="{FF2B5EF4-FFF2-40B4-BE49-F238E27FC236}">
                <a16:creationId xmlns:a16="http://schemas.microsoft.com/office/drawing/2014/main" id="{50CE82FC-022F-4E74-A4B5-75823A5C5ECA}"/>
              </a:ext>
            </a:extLst>
          </p:cNvPr>
          <p:cNvSpPr>
            <a:spLocks noGrp="1"/>
          </p:cNvSpPr>
          <p:nvPr/>
        </p:nvSpPr>
        <p:spPr>
          <a:xfrm>
            <a:off x="6496050" y="16356930"/>
            <a:ext cx="24003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5. </a:t>
            </a:r>
            <a:r>
              <a:rPr sz="195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후보</a:t>
            </a:r>
            <a:r>
              <a:rPr sz="1950" b="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마스크</a:t>
            </a:r>
            <a:endParaRPr sz="1950" b="0" dirty="0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정규화 및 </a:t>
            </a:r>
            <a:r>
              <a:rPr sz="195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검증</a:t>
            </a:r>
            <a:endParaRPr sz="1950" b="0" dirty="0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58" name="사각형: 둥근 모서리 457">
            <a:extLst>
              <a:ext uri="{FF2B5EF4-FFF2-40B4-BE49-F238E27FC236}">
                <a16:creationId xmlns:a16="http://schemas.microsoft.com/office/drawing/2014/main" id="{AAC0D811-80D9-4FA6-A132-9035F6D36220}"/>
              </a:ext>
            </a:extLst>
          </p:cNvPr>
          <p:cNvSpPr>
            <a:spLocks noGrp="1"/>
          </p:cNvSpPr>
          <p:nvPr/>
        </p:nvSpPr>
        <p:spPr>
          <a:xfrm>
            <a:off x="10229850" y="16356930"/>
            <a:ext cx="24003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6. 후보 마스크 간</a:t>
            </a:r>
          </a:p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합의도 계산</a:t>
            </a:r>
          </a:p>
        </p:txBody>
      </p:sp>
      <p:sp>
        <p:nvSpPr>
          <p:cNvPr id="459" name="사각형: 둥근 모서리 458">
            <a:extLst>
              <a:ext uri="{FF2B5EF4-FFF2-40B4-BE49-F238E27FC236}">
                <a16:creationId xmlns:a16="http://schemas.microsoft.com/office/drawing/2014/main" id="{E113132C-E61E-46E3-83DE-6044DE2782DE}"/>
              </a:ext>
            </a:extLst>
          </p:cNvPr>
          <p:cNvSpPr>
            <a:spLocks noGrp="1"/>
          </p:cNvSpPr>
          <p:nvPr/>
        </p:nvSpPr>
        <p:spPr>
          <a:xfrm>
            <a:off x="2762250" y="17880930"/>
            <a:ext cx="24003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00" b="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7. </a:t>
            </a:r>
            <a:r>
              <a:rPr sz="200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후보</a:t>
            </a:r>
            <a:r>
              <a:rPr sz="2000" b="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점수표</a:t>
            </a:r>
            <a:r>
              <a:rPr sz="2000" b="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생성</a:t>
            </a:r>
            <a:endParaRPr sz="2000" b="0" dirty="0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60" name="사각형: 둥근 모서리 459">
            <a:extLst>
              <a:ext uri="{FF2B5EF4-FFF2-40B4-BE49-F238E27FC236}">
                <a16:creationId xmlns:a16="http://schemas.microsoft.com/office/drawing/2014/main" id="{BDC06A69-CF75-41A6-A463-DBBB3AA1C4E9}"/>
              </a:ext>
            </a:extLst>
          </p:cNvPr>
          <p:cNvSpPr>
            <a:spLocks noGrp="1"/>
          </p:cNvSpPr>
          <p:nvPr/>
        </p:nvSpPr>
        <p:spPr>
          <a:xfrm>
            <a:off x="6496050" y="17880930"/>
            <a:ext cx="24003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38100">
            <a:solidFill>
              <a:srgbClr val="C7352A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8. LLM 기반</a:t>
            </a:r>
          </a:p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최종 모델 선택</a:t>
            </a:r>
          </a:p>
        </p:txBody>
      </p:sp>
      <p:sp>
        <p:nvSpPr>
          <p:cNvPr id="461" name="사각형: 둥근 모서리 460">
            <a:extLst>
              <a:ext uri="{FF2B5EF4-FFF2-40B4-BE49-F238E27FC236}">
                <a16:creationId xmlns:a16="http://schemas.microsoft.com/office/drawing/2014/main" id="{015E7C95-B183-4C82-934F-87DA18F5EA9D}"/>
              </a:ext>
            </a:extLst>
          </p:cNvPr>
          <p:cNvSpPr>
            <a:spLocks noGrp="1"/>
          </p:cNvSpPr>
          <p:nvPr/>
        </p:nvSpPr>
        <p:spPr>
          <a:xfrm>
            <a:off x="10229850" y="17880930"/>
            <a:ext cx="24003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9. 선택 결과</a:t>
            </a:r>
          </a:p>
          <a:p>
            <a:pPr algn="ctr"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검증 및 저장</a:t>
            </a:r>
          </a:p>
        </p:txBody>
      </p:sp>
      <p:cxnSp>
        <p:nvCxnSpPr>
          <p:cNvPr id="673" name="직선 화살표 연결선 672"/>
          <p:cNvCxnSpPr>
            <a:stCxn id="453" idx="3"/>
            <a:endCxn id="454" idx="1"/>
          </p:cNvCxnSpPr>
          <p:nvPr/>
        </p:nvCxnSpPr>
        <p:spPr>
          <a:xfrm>
            <a:off x="5162550" y="15223455"/>
            <a:ext cx="1333500" cy="0"/>
          </a:xfrm>
          <a:prstGeom prst="straightConnector1">
            <a:avLst/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674" name="직선 화살표 연결선 673"/>
          <p:cNvCxnSpPr>
            <a:stCxn id="454" idx="3"/>
            <a:endCxn id="455" idx="1"/>
          </p:cNvCxnSpPr>
          <p:nvPr/>
        </p:nvCxnSpPr>
        <p:spPr>
          <a:xfrm>
            <a:off x="8896350" y="15223455"/>
            <a:ext cx="1333500" cy="0"/>
          </a:xfrm>
          <a:prstGeom prst="straightConnector1">
            <a:avLst/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675" name="연결선: 꺾임 674"/>
          <p:cNvCxnSpPr>
            <a:stCxn id="455" idx="2"/>
            <a:endCxn id="456" idx="0"/>
          </p:cNvCxnSpPr>
          <p:nvPr/>
        </p:nvCxnSpPr>
        <p:spPr>
          <a:xfrm flipH="1">
            <a:off x="3962400" y="15613980"/>
            <a:ext cx="7467600" cy="742950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676" name="직선 화살표 연결선 675"/>
          <p:cNvCxnSpPr>
            <a:stCxn id="456" idx="3"/>
            <a:endCxn id="457" idx="1"/>
          </p:cNvCxnSpPr>
          <p:nvPr/>
        </p:nvCxnSpPr>
        <p:spPr>
          <a:xfrm>
            <a:off x="5162550" y="16747455"/>
            <a:ext cx="1333500" cy="0"/>
          </a:xfrm>
          <a:prstGeom prst="straightConnector1">
            <a:avLst/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677" name="직선 화살표 연결선 676"/>
          <p:cNvCxnSpPr>
            <a:stCxn id="457" idx="3"/>
            <a:endCxn id="458" idx="1"/>
          </p:cNvCxnSpPr>
          <p:nvPr/>
        </p:nvCxnSpPr>
        <p:spPr>
          <a:xfrm>
            <a:off x="8896350" y="16747455"/>
            <a:ext cx="1333500" cy="0"/>
          </a:xfrm>
          <a:prstGeom prst="straightConnector1">
            <a:avLst/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678" name="연결선: 꺾임 677"/>
          <p:cNvCxnSpPr>
            <a:stCxn id="458" idx="2"/>
            <a:endCxn id="459" idx="0"/>
          </p:cNvCxnSpPr>
          <p:nvPr/>
        </p:nvCxnSpPr>
        <p:spPr>
          <a:xfrm flipH="1">
            <a:off x="3962400" y="17137980"/>
            <a:ext cx="7467600" cy="742950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679" name="직선 화살표 연결선 678"/>
          <p:cNvCxnSpPr>
            <a:stCxn id="459" idx="3"/>
            <a:endCxn id="460" idx="1"/>
          </p:cNvCxnSpPr>
          <p:nvPr/>
        </p:nvCxnSpPr>
        <p:spPr>
          <a:xfrm>
            <a:off x="5162550" y="18271455"/>
            <a:ext cx="1333500" cy="0"/>
          </a:xfrm>
          <a:prstGeom prst="straightConnector1">
            <a:avLst/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680" name="직선 화살표 연결선 679"/>
          <p:cNvCxnSpPr>
            <a:stCxn id="460" idx="3"/>
            <a:endCxn id="461" idx="1"/>
          </p:cNvCxnSpPr>
          <p:nvPr/>
        </p:nvCxnSpPr>
        <p:spPr>
          <a:xfrm>
            <a:off x="8896350" y="18271455"/>
            <a:ext cx="1333500" cy="0"/>
          </a:xfrm>
          <a:prstGeom prst="straightConnector1">
            <a:avLst/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sp>
        <p:nvSpPr>
          <p:cNvPr id="471" name="직사각형 470">
            <a:extLst>
              <a:ext uri="{FF2B5EF4-FFF2-40B4-BE49-F238E27FC236}">
                <a16:creationId xmlns:a16="http://schemas.microsoft.com/office/drawing/2014/main" id="{B7DC5925-252F-4A98-B4C6-B66C70DC9D1F}"/>
              </a:ext>
            </a:extLst>
          </p:cNvPr>
          <p:cNvSpPr>
            <a:spLocks noGrp="1"/>
          </p:cNvSpPr>
          <p:nvPr/>
        </p:nvSpPr>
        <p:spPr>
          <a:xfrm>
            <a:off x="2378775" y="19544926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2" name="직사각형 471">
            <a:extLst>
              <a:ext uri="{FF2B5EF4-FFF2-40B4-BE49-F238E27FC236}">
                <a16:creationId xmlns:a16="http://schemas.microsoft.com/office/drawing/2014/main" id="{4F68CCAD-DCB0-4581-915B-D0A10B4730DA}"/>
              </a:ext>
            </a:extLst>
          </p:cNvPr>
          <p:cNvSpPr>
            <a:spLocks noGrp="1"/>
          </p:cNvSpPr>
          <p:nvPr/>
        </p:nvSpPr>
        <p:spPr>
          <a:xfrm>
            <a:off x="2740725" y="19392526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LLM은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원본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영상을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직접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판독하지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않고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후보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실행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후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생성된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scorecard를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해석한다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73" name="직사각형 472">
            <a:extLst>
              <a:ext uri="{FF2B5EF4-FFF2-40B4-BE49-F238E27FC236}">
                <a16:creationId xmlns:a16="http://schemas.microsoft.com/office/drawing/2014/main" id="{87CB136D-A2F5-498B-A099-06D676E705D8}"/>
              </a:ext>
            </a:extLst>
          </p:cNvPr>
          <p:cNvSpPr>
            <a:spLocks noGrp="1"/>
          </p:cNvSpPr>
          <p:nvPr/>
        </p:nvSpPr>
        <p:spPr>
          <a:xfrm>
            <a:off x="2341796" y="20744202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4" name="직사각형 473">
            <a:extLst>
              <a:ext uri="{FF2B5EF4-FFF2-40B4-BE49-F238E27FC236}">
                <a16:creationId xmlns:a16="http://schemas.microsoft.com/office/drawing/2014/main" id="{A0ECC835-EC5A-42A5-A0CD-F6DB3969B14F}"/>
              </a:ext>
            </a:extLst>
          </p:cNvPr>
          <p:cNvSpPr>
            <a:spLocks noGrp="1"/>
          </p:cNvSpPr>
          <p:nvPr/>
        </p:nvSpPr>
        <p:spPr>
          <a:xfrm>
            <a:off x="2703746" y="20591802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8단계에서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조건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해석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최종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후보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이유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문장화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및 fallback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검증을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수행한다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75" name="직사각형 474">
            <a:extLst>
              <a:ext uri="{FF2B5EF4-FFF2-40B4-BE49-F238E27FC236}">
                <a16:creationId xmlns:a16="http://schemas.microsoft.com/office/drawing/2014/main" id="{7712FB3E-CD52-4882-832B-53B2B08FE1B1}"/>
              </a:ext>
            </a:extLst>
          </p:cNvPr>
          <p:cNvSpPr>
            <a:spLocks noGrp="1"/>
          </p:cNvSpPr>
          <p:nvPr/>
        </p:nvSpPr>
        <p:spPr>
          <a:xfrm>
            <a:off x="16192500" y="32404050"/>
            <a:ext cx="1162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이미지 해석 기준</a:t>
            </a:r>
          </a:p>
        </p:txBody>
      </p:sp>
      <p:sp>
        <p:nvSpPr>
          <p:cNvPr id="476" name="직사각형 475">
            <a:extLst>
              <a:ext uri="{FF2B5EF4-FFF2-40B4-BE49-F238E27FC236}">
                <a16:creationId xmlns:a16="http://schemas.microsoft.com/office/drawing/2014/main" id="{E33C5F18-565E-4775-ADF8-AB7AE346EC78}"/>
              </a:ext>
            </a:extLst>
          </p:cNvPr>
          <p:cNvSpPr>
            <a:spLocks noGrp="1"/>
          </p:cNvSpPr>
          <p:nvPr/>
        </p:nvSpPr>
        <p:spPr>
          <a:xfrm>
            <a:off x="16240125" y="33108900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7" name="직사각형 476">
            <a:extLst>
              <a:ext uri="{FF2B5EF4-FFF2-40B4-BE49-F238E27FC236}">
                <a16:creationId xmlns:a16="http://schemas.microsoft.com/office/drawing/2014/main" id="{2C01024A-F352-4EB0-AE59-286644A4FE10}"/>
              </a:ext>
            </a:extLst>
          </p:cNvPr>
          <p:cNvSpPr>
            <a:spLocks noGrp="1"/>
          </p:cNvSpPr>
          <p:nvPr/>
        </p:nvSpPr>
        <p:spPr>
          <a:xfrm>
            <a:off x="16602075" y="32956500"/>
            <a:ext cx="11068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각 행은 CXR 폐, CXR 심장, CT 폐, CT 심장 조건이며 열은 원본, GT, 선택 mask, 비교 overlay이다.</a:t>
            </a:r>
          </a:p>
        </p:txBody>
      </p:sp>
      <p:sp>
        <p:nvSpPr>
          <p:cNvPr id="478" name="타원 477">
            <a:extLst>
              <a:ext uri="{FF2B5EF4-FFF2-40B4-BE49-F238E27FC236}">
                <a16:creationId xmlns:a16="http://schemas.microsoft.com/office/drawing/2014/main" id="{5D484F6A-77F7-4CBB-8320-F6C814FDEA33}"/>
              </a:ext>
            </a:extLst>
          </p:cNvPr>
          <p:cNvSpPr>
            <a:spLocks noGrp="1"/>
          </p:cNvSpPr>
          <p:nvPr/>
        </p:nvSpPr>
        <p:spPr>
          <a:xfrm>
            <a:off x="16592550" y="33851850"/>
            <a:ext cx="266700" cy="266700"/>
          </a:xfrm>
          <a:prstGeom prst="ellipse">
            <a:avLst/>
          </a:prstGeom>
          <a:solidFill>
            <a:srgbClr val="199245"/>
          </a:solidFill>
          <a:ln w="9525">
            <a:solidFill>
              <a:srgbClr val="1992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9" name="직사각형 478">
            <a:extLst>
              <a:ext uri="{FF2B5EF4-FFF2-40B4-BE49-F238E27FC236}">
                <a16:creationId xmlns:a16="http://schemas.microsoft.com/office/drawing/2014/main" id="{96C1230A-1281-4B88-A34D-80FF8E239661}"/>
              </a:ext>
            </a:extLst>
          </p:cNvPr>
          <p:cNvSpPr>
            <a:spLocks noGrp="1"/>
          </p:cNvSpPr>
          <p:nvPr/>
        </p:nvSpPr>
        <p:spPr>
          <a:xfrm>
            <a:off x="16973550" y="338137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l">
              <a:def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GT mask</a:t>
            </a:r>
          </a:p>
        </p:txBody>
      </p:sp>
      <p:sp>
        <p:nvSpPr>
          <p:cNvPr id="480" name="타원 479">
            <a:extLst>
              <a:ext uri="{FF2B5EF4-FFF2-40B4-BE49-F238E27FC236}">
                <a16:creationId xmlns:a16="http://schemas.microsoft.com/office/drawing/2014/main" id="{BCB71E4D-5913-4B74-9AB6-B9630CBBE904}"/>
              </a:ext>
            </a:extLst>
          </p:cNvPr>
          <p:cNvSpPr>
            <a:spLocks noGrp="1"/>
          </p:cNvSpPr>
          <p:nvPr/>
        </p:nvSpPr>
        <p:spPr>
          <a:xfrm>
            <a:off x="19002375" y="33851850"/>
            <a:ext cx="266700" cy="266700"/>
          </a:xfrm>
          <a:prstGeom prst="ellipse">
            <a:avLst/>
          </a:prstGeom>
          <a:solidFill>
            <a:srgbClr val="C7352A"/>
          </a:solidFill>
          <a:ln w="9525">
            <a:solidFill>
              <a:srgbClr val="C735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1" name="직사각형 480">
            <a:extLst>
              <a:ext uri="{FF2B5EF4-FFF2-40B4-BE49-F238E27FC236}">
                <a16:creationId xmlns:a16="http://schemas.microsoft.com/office/drawing/2014/main" id="{B3E09412-0AAE-4F93-8202-A99FA49622BA}"/>
              </a:ext>
            </a:extLst>
          </p:cNvPr>
          <p:cNvSpPr>
            <a:spLocks noGrp="1"/>
          </p:cNvSpPr>
          <p:nvPr/>
        </p:nvSpPr>
        <p:spPr>
          <a:xfrm>
            <a:off x="19383375" y="338137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l">
              <a:def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 모델 mask</a:t>
            </a:r>
          </a:p>
        </p:txBody>
      </p:sp>
      <p:sp>
        <p:nvSpPr>
          <p:cNvPr id="482" name="타원 481">
            <a:extLst>
              <a:ext uri="{FF2B5EF4-FFF2-40B4-BE49-F238E27FC236}">
                <a16:creationId xmlns:a16="http://schemas.microsoft.com/office/drawing/2014/main" id="{82AB0A33-179E-4B9F-9D86-C34E0CA24516}"/>
              </a:ext>
            </a:extLst>
          </p:cNvPr>
          <p:cNvSpPr>
            <a:spLocks noGrp="1"/>
          </p:cNvSpPr>
          <p:nvPr/>
        </p:nvSpPr>
        <p:spPr>
          <a:xfrm>
            <a:off x="22621875" y="33851850"/>
            <a:ext cx="266700" cy="266700"/>
          </a:xfrm>
          <a:prstGeom prst="ellipse">
            <a:avLst/>
          </a:prstGeom>
          <a:solidFill>
            <a:srgbClr val="D9B800"/>
          </a:solidFill>
          <a:ln w="9525">
            <a:solidFill>
              <a:srgbClr val="D9B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3" name="직사각형 482">
            <a:extLst>
              <a:ext uri="{FF2B5EF4-FFF2-40B4-BE49-F238E27FC236}">
                <a16:creationId xmlns:a16="http://schemas.microsoft.com/office/drawing/2014/main" id="{0D415DAF-01A6-4452-A3B4-C5B3DB012529}"/>
              </a:ext>
            </a:extLst>
          </p:cNvPr>
          <p:cNvSpPr>
            <a:spLocks noGrp="1"/>
          </p:cNvSpPr>
          <p:nvPr/>
        </p:nvSpPr>
        <p:spPr>
          <a:xfrm>
            <a:off x="23002875" y="338137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l">
              <a:def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1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GT ∩ </a:t>
            </a:r>
            <a:r>
              <a:rPr sz="2100" b="1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2100" b="1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mask</a:t>
            </a:r>
          </a:p>
        </p:txBody>
      </p:sp>
      <p:sp>
        <p:nvSpPr>
          <p:cNvPr id="484" name="직사각형 483">
            <a:extLst>
              <a:ext uri="{FF2B5EF4-FFF2-40B4-BE49-F238E27FC236}">
                <a16:creationId xmlns:a16="http://schemas.microsoft.com/office/drawing/2014/main" id="{1A2F0FFF-BD27-4913-86CA-14C0A8CA6CCE}"/>
              </a:ext>
            </a:extLst>
          </p:cNvPr>
          <p:cNvSpPr>
            <a:spLocks noGrp="1"/>
          </p:cNvSpPr>
          <p:nvPr/>
        </p:nvSpPr>
        <p:spPr>
          <a:xfrm>
            <a:off x="16240125" y="34613850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5" name="직사각형 484">
            <a:extLst>
              <a:ext uri="{FF2B5EF4-FFF2-40B4-BE49-F238E27FC236}">
                <a16:creationId xmlns:a16="http://schemas.microsoft.com/office/drawing/2014/main" id="{DF62A4A4-2658-4CD6-9526-95E23F0B6E74}"/>
              </a:ext>
            </a:extLst>
          </p:cNvPr>
          <p:cNvSpPr>
            <a:spLocks noGrp="1"/>
          </p:cNvSpPr>
          <p:nvPr/>
        </p:nvSpPr>
        <p:spPr>
          <a:xfrm>
            <a:off x="16602075" y="34461450"/>
            <a:ext cx="11068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색상 범례를 기준으로 GT와 선택 mask의 위치·겹침을 비교해 후보 선택의 타당성을 확인한다.</a:t>
            </a:r>
          </a:p>
        </p:txBody>
      </p:sp>
      <p:sp>
        <p:nvSpPr>
          <p:cNvPr id="486" name="직사각형 485">
            <a:extLst>
              <a:ext uri="{FF2B5EF4-FFF2-40B4-BE49-F238E27FC236}">
                <a16:creationId xmlns:a16="http://schemas.microsoft.com/office/drawing/2014/main" id="{9FA3915D-03A3-40F5-A501-FDE98E57D1BE}"/>
              </a:ext>
            </a:extLst>
          </p:cNvPr>
          <p:cNvSpPr>
            <a:spLocks noGrp="1"/>
          </p:cNvSpPr>
          <p:nvPr/>
        </p:nvSpPr>
        <p:spPr>
          <a:xfrm>
            <a:off x="16240125" y="3544252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7" name="직사각형 486">
            <a:extLst>
              <a:ext uri="{FF2B5EF4-FFF2-40B4-BE49-F238E27FC236}">
                <a16:creationId xmlns:a16="http://schemas.microsoft.com/office/drawing/2014/main" id="{EB23027A-94F9-4463-BEEE-3CCA36B6E25D}"/>
              </a:ext>
            </a:extLst>
          </p:cNvPr>
          <p:cNvSpPr>
            <a:spLocks noGrp="1"/>
          </p:cNvSpPr>
          <p:nvPr/>
        </p:nvSpPr>
        <p:spPr>
          <a:xfrm>
            <a:off x="16602075" y="35290125"/>
            <a:ext cx="11068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조건마다 선택 후보가 달라져 단일 고정 모델보다 장기·modality별 라우팅이 필요함을 보여준다.</a:t>
            </a:r>
          </a:p>
        </p:txBody>
      </p:sp>
    </p:spTree>
    <p:extLst>
      <p:ext uri="{BB962C8B-B14F-4D97-AF65-F5344CB8AC3E}">
        <p14:creationId xmlns:p14="http://schemas.microsoft.com/office/powerpoint/2010/main" val="17719825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628</Words>
  <Application>Microsoft Office PowerPoint</Application>
  <DocSecurity>0</DocSecurity>
  <PresentationFormat>사용자 지정</PresentationFormat>
  <Paragraphs>123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Pretendard</vt:lpstr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이유업</cp:lastModifiedBy>
  <cp:revision>2</cp:revision>
  <dcterms:created xsi:type="dcterms:W3CDTF">2026-06-22T13:28:58Z</dcterms:created>
  <dcterms:modified xsi:type="dcterms:W3CDTF">2026-06-22T13:37:25Z</dcterms:modified>
</cp:coreProperties>
</file>