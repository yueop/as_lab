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/>
    <p:restoredTop sz="88220" autoAdjust="0"/>
  </p:normalViewPr>
  <p:slideViewPr>
    <p:cSldViewPr snapToGrid="0" snapToObjects="1">
      <p:cViewPr>
        <p:scale>
          <a:sx n="33" d="100"/>
          <a:sy n="33" d="100"/>
        </p:scale>
        <p:origin x="1890" y="-4362"/>
      </p:cViewPr>
      <p:guideLst>
        <p:guide orient="horz" pos="13479"/>
        <p:guide pos="95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직사각형 319"/>
          <p:cNvSpPr>
            <a:spLocks noGrp="1"/>
          </p:cNvSpPr>
          <p:nvPr/>
        </p:nvSpPr>
        <p:spPr>
          <a:xfrm>
            <a:off x="0" y="-121920"/>
            <a:ext cx="30279976" cy="42927270"/>
          </a:xfrm>
          <a:prstGeom prst="rect">
            <a:avLst/>
          </a:prstGeom>
          <a:solidFill>
            <a:srgbClr val="F7F8F6"/>
          </a:solidFill>
          <a:ln w="0">
            <a:solidFill>
              <a:srgbClr val="F7F8F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>
            <a:spLocks noGrp="1"/>
          </p:cNvSpPr>
          <p:nvPr/>
        </p:nvSpPr>
        <p:spPr>
          <a:xfrm>
            <a:off x="0" y="1954116"/>
            <a:ext cx="30279976" cy="3441515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직사각형 4"/>
          <p:cNvSpPr>
            <a:spLocks noGrp="1"/>
          </p:cNvSpPr>
          <p:nvPr/>
        </p:nvSpPr>
        <p:spPr>
          <a:xfrm>
            <a:off x="8091442" y="2315700"/>
            <a:ext cx="14744406" cy="1870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분할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선택을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위한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LLM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endParaRPr sz="6400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라우팅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오케스트레이터</a:t>
            </a:r>
            <a:r>
              <a:rPr sz="6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sz="6400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직사각형 5"/>
          <p:cNvSpPr>
            <a:spLocks noGrp="1"/>
          </p:cNvSpPr>
          <p:nvPr/>
        </p:nvSpPr>
        <p:spPr>
          <a:xfrm>
            <a:off x="8990491" y="4304983"/>
            <a:ext cx="13305927" cy="8992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 dirty="0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이유업, </a:t>
            </a:r>
            <a:r>
              <a:rPr sz="2400" b="0" dirty="0" err="1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하성민</a:t>
            </a:r>
            <a:r>
              <a:rPr sz="2400" b="0" dirty="0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|  </a:t>
            </a:r>
            <a:r>
              <a:rPr sz="2400" b="0" dirty="0" err="1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안양대학교</a:t>
            </a:r>
            <a:r>
              <a:rPr sz="2400" b="0" dirty="0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0" dirty="0" err="1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컴퓨터공학과</a:t>
            </a:r>
            <a:endParaRPr sz="2400" b="0" dirty="0">
              <a:solidFill>
                <a:srgbClr val="E5ECE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 dirty="0">
                <a:solidFill>
                  <a:srgbClr val="E5ECE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E-mail: yueop9261@gmail.com, seha@anyang.ac.kr</a:t>
            </a:r>
          </a:p>
        </p:txBody>
      </p:sp>
      <p:sp>
        <p:nvSpPr>
          <p:cNvPr id="25" name="직사각형 24"/>
          <p:cNvSpPr>
            <a:spLocks noGrp="1"/>
          </p:cNvSpPr>
          <p:nvPr/>
        </p:nvSpPr>
        <p:spPr>
          <a:xfrm>
            <a:off x="1618288" y="6115050"/>
            <a:ext cx="12946308" cy="6294904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직사각형 25"/>
          <p:cNvSpPr>
            <a:spLocks noGrp="1"/>
          </p:cNvSpPr>
          <p:nvPr/>
        </p:nvSpPr>
        <p:spPr>
          <a:xfrm>
            <a:off x="2085794" y="6618642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직사각형 26"/>
          <p:cNvSpPr>
            <a:spLocks noGrp="1"/>
          </p:cNvSpPr>
          <p:nvPr/>
        </p:nvSpPr>
        <p:spPr>
          <a:xfrm>
            <a:off x="2085794" y="6600657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</a:p>
        </p:txBody>
      </p:sp>
      <p:sp>
        <p:nvSpPr>
          <p:cNvPr id="28" name="직사각형 27"/>
          <p:cNvSpPr>
            <a:spLocks noGrp="1"/>
          </p:cNvSpPr>
          <p:nvPr/>
        </p:nvSpPr>
        <p:spPr>
          <a:xfrm>
            <a:off x="3236577" y="6546701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배경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직사각형 28"/>
          <p:cNvSpPr>
            <a:spLocks noGrp="1"/>
          </p:cNvSpPr>
          <p:nvPr/>
        </p:nvSpPr>
        <p:spPr>
          <a:xfrm>
            <a:off x="2265604" y="798553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직사각형 29"/>
          <p:cNvSpPr>
            <a:spLocks noGrp="1"/>
          </p:cNvSpPr>
          <p:nvPr/>
        </p:nvSpPr>
        <p:spPr>
          <a:xfrm>
            <a:off x="2661185" y="7876616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의료영상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분할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modality에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성능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차이가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큼</a:t>
            </a:r>
          </a:p>
        </p:txBody>
      </p:sp>
      <p:sp>
        <p:nvSpPr>
          <p:cNvPr id="31" name="직사각형 30"/>
          <p:cNvSpPr>
            <a:spLocks noGrp="1"/>
          </p:cNvSpPr>
          <p:nvPr/>
        </p:nvSpPr>
        <p:spPr>
          <a:xfrm>
            <a:off x="2265604" y="8920779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직사각형 31"/>
          <p:cNvSpPr>
            <a:spLocks noGrp="1"/>
          </p:cNvSpPr>
          <p:nvPr/>
        </p:nvSpPr>
        <p:spPr>
          <a:xfrm>
            <a:off x="2661185" y="8762035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추론 시점에는 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GT mask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없어 입력별 최적 모델을 직접 판단하기 어려움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직사각형 32"/>
          <p:cNvSpPr>
            <a:spLocks noGrp="1"/>
          </p:cNvSpPr>
          <p:nvPr/>
        </p:nvSpPr>
        <p:spPr>
          <a:xfrm>
            <a:off x="2265604" y="985602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33"/>
          <p:cNvSpPr>
            <a:spLocks noGrp="1"/>
          </p:cNvSpPr>
          <p:nvPr/>
        </p:nvSpPr>
        <p:spPr>
          <a:xfrm>
            <a:off x="2661185" y="9747101"/>
            <a:ext cx="10932438" cy="5132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고정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방식은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특성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실패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후보에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취약함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직사각형 34"/>
          <p:cNvSpPr>
            <a:spLocks noGrp="1"/>
          </p:cNvSpPr>
          <p:nvPr/>
        </p:nvSpPr>
        <p:spPr>
          <a:xfrm>
            <a:off x="2265604" y="107912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/>
          <p:cNvSpPr>
            <a:spLocks noGrp="1"/>
          </p:cNvSpPr>
          <p:nvPr/>
        </p:nvSpPr>
        <p:spPr>
          <a:xfrm>
            <a:off x="2661185" y="10539469"/>
            <a:ext cx="10932438" cy="636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임상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정확도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판단자가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아니라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scorecard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근거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계층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직사각형 36"/>
          <p:cNvSpPr>
            <a:spLocks noGrp="1"/>
          </p:cNvSpPr>
          <p:nvPr/>
        </p:nvSpPr>
        <p:spPr>
          <a:xfrm>
            <a:off x="2265604" y="11726508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직사각형 37"/>
          <p:cNvSpPr>
            <a:spLocks noGrp="1"/>
          </p:cNvSpPr>
          <p:nvPr/>
        </p:nvSpPr>
        <p:spPr>
          <a:xfrm>
            <a:off x="2661185" y="11608062"/>
            <a:ext cx="10932438" cy="5141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hard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constraint와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fallback으로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실패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비정상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선택을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방지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1618288" y="12949518"/>
            <a:ext cx="12946308" cy="989199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/>
          <p:cNvSpPr>
            <a:spLocks noGrp="1"/>
          </p:cNvSpPr>
          <p:nvPr/>
        </p:nvSpPr>
        <p:spPr>
          <a:xfrm>
            <a:off x="2085794" y="1345311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/>
          <p:cNvSpPr>
            <a:spLocks noGrp="1"/>
          </p:cNvSpPr>
          <p:nvPr/>
        </p:nvSpPr>
        <p:spPr>
          <a:xfrm>
            <a:off x="2085794" y="1343512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</a:p>
        </p:txBody>
      </p:sp>
      <p:sp>
        <p:nvSpPr>
          <p:cNvPr id="42" name="직사각형 41"/>
          <p:cNvSpPr>
            <a:spLocks noGrp="1"/>
          </p:cNvSpPr>
          <p:nvPr/>
        </p:nvSpPr>
        <p:spPr>
          <a:xfrm>
            <a:off x="3236577" y="13381168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직사각형 44"/>
          <p:cNvSpPr>
            <a:spLocks noGrp="1"/>
          </p:cNvSpPr>
          <p:nvPr/>
        </p:nvSpPr>
        <p:spPr>
          <a:xfrm>
            <a:off x="2265604" y="2189560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>
            <a:spLocks noGrp="1"/>
          </p:cNvSpPr>
          <p:nvPr/>
        </p:nvSpPr>
        <p:spPr>
          <a:xfrm>
            <a:off x="2661185" y="21767620"/>
            <a:ext cx="10932438" cy="71941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scorecard로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prior, overlap, quality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근거를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형식으로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정규화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/>
          <p:cNvSpPr>
            <a:spLocks noGrp="1"/>
          </p:cNvSpPr>
          <p:nvPr/>
        </p:nvSpPr>
        <p:spPr>
          <a:xfrm>
            <a:off x="2265604" y="2243516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직사각형 47"/>
          <p:cNvSpPr>
            <a:spLocks noGrp="1"/>
          </p:cNvSpPr>
          <p:nvPr/>
        </p:nvSpPr>
        <p:spPr>
          <a:xfrm>
            <a:off x="2661185" y="22326230"/>
            <a:ext cx="10932438" cy="71941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router가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이유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문장화를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담당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직사각형 48"/>
          <p:cNvSpPr>
            <a:spLocks noGrp="1"/>
          </p:cNvSpPr>
          <p:nvPr/>
        </p:nvSpPr>
        <p:spPr>
          <a:xfrm>
            <a:off x="1618288" y="23560928"/>
            <a:ext cx="12946308" cy="93884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직사각형 49"/>
          <p:cNvSpPr>
            <a:spLocks noGrp="1"/>
          </p:cNvSpPr>
          <p:nvPr/>
        </p:nvSpPr>
        <p:spPr>
          <a:xfrm>
            <a:off x="2085794" y="2406452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직사각형 50"/>
          <p:cNvSpPr>
            <a:spLocks noGrp="1"/>
          </p:cNvSpPr>
          <p:nvPr/>
        </p:nvSpPr>
        <p:spPr>
          <a:xfrm>
            <a:off x="2085794" y="24046536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</a:p>
        </p:txBody>
      </p:sp>
      <p:sp>
        <p:nvSpPr>
          <p:cNvPr id="52" name="직사각형 51"/>
          <p:cNvSpPr>
            <a:spLocks noGrp="1"/>
          </p:cNvSpPr>
          <p:nvPr/>
        </p:nvSpPr>
        <p:spPr>
          <a:xfrm>
            <a:off x="3236577" y="23992580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점수표와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라우팅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직사각형 52"/>
          <p:cNvSpPr>
            <a:spLocks noGrp="1"/>
          </p:cNvSpPr>
          <p:nvPr/>
        </p:nvSpPr>
        <p:spPr>
          <a:xfrm>
            <a:off x="2265604" y="25323500"/>
            <a:ext cx="11651677" cy="791359"/>
          </a:xfrm>
          <a:prstGeom prst="rect">
            <a:avLst/>
          </a:prstGeom>
          <a:solidFill>
            <a:srgbClr val="2037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직사각형 53"/>
          <p:cNvSpPr>
            <a:spLocks noGrp="1"/>
          </p:cNvSpPr>
          <p:nvPr/>
        </p:nvSpPr>
        <p:spPr>
          <a:xfrm>
            <a:off x="2517338" y="25395444"/>
            <a:ext cx="413562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field</a:t>
            </a:r>
          </a:p>
        </p:txBody>
      </p:sp>
      <p:sp>
        <p:nvSpPr>
          <p:cNvPr id="55" name="직사각형 54"/>
          <p:cNvSpPr>
            <a:spLocks noGrp="1"/>
          </p:cNvSpPr>
          <p:nvPr/>
        </p:nvSpPr>
        <p:spPr>
          <a:xfrm>
            <a:off x="7012583" y="25395444"/>
            <a:ext cx="6473154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의미</a:t>
            </a:r>
            <a:endParaRPr sz="2548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직사각형 55"/>
          <p:cNvSpPr>
            <a:spLocks noGrp="1"/>
          </p:cNvSpPr>
          <p:nvPr/>
        </p:nvSpPr>
        <p:spPr>
          <a:xfrm>
            <a:off x="2265604" y="26186802"/>
            <a:ext cx="11651677" cy="79135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직사각형 56"/>
          <p:cNvSpPr>
            <a:spLocks noGrp="1"/>
          </p:cNvSpPr>
          <p:nvPr/>
        </p:nvSpPr>
        <p:spPr>
          <a:xfrm>
            <a:off x="2517338" y="26258744"/>
            <a:ext cx="413562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prior_routing_score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직사각형 57"/>
          <p:cNvSpPr>
            <a:spLocks noGrp="1"/>
          </p:cNvSpPr>
          <p:nvPr/>
        </p:nvSpPr>
        <p:spPr>
          <a:xfrm>
            <a:off x="7012583" y="26258744"/>
            <a:ext cx="6473154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직사각형 58"/>
          <p:cNvSpPr>
            <a:spLocks noGrp="1"/>
          </p:cNvSpPr>
          <p:nvPr/>
        </p:nvSpPr>
        <p:spPr>
          <a:xfrm>
            <a:off x="2265604" y="27050104"/>
            <a:ext cx="11651677" cy="791359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직사각형 59"/>
          <p:cNvSpPr>
            <a:spLocks noGrp="1"/>
          </p:cNvSpPr>
          <p:nvPr/>
        </p:nvSpPr>
        <p:spPr>
          <a:xfrm>
            <a:off x="2517338" y="27122044"/>
            <a:ext cx="413562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overlap_score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직사각형 60"/>
          <p:cNvSpPr>
            <a:spLocks noGrp="1"/>
          </p:cNvSpPr>
          <p:nvPr/>
        </p:nvSpPr>
        <p:spPr>
          <a:xfrm>
            <a:off x="7012583" y="27122044"/>
            <a:ext cx="6473154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mask 간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합의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직사각형 61"/>
          <p:cNvSpPr>
            <a:spLocks noGrp="1"/>
          </p:cNvSpPr>
          <p:nvPr/>
        </p:nvSpPr>
        <p:spPr>
          <a:xfrm>
            <a:off x="2265604" y="27913404"/>
            <a:ext cx="11651677" cy="79135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/>
          <p:cNvSpPr>
            <a:spLocks noGrp="1"/>
          </p:cNvSpPr>
          <p:nvPr/>
        </p:nvSpPr>
        <p:spPr>
          <a:xfrm>
            <a:off x="2517338" y="27985346"/>
            <a:ext cx="413562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mask_quality_score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직사각형 63"/>
          <p:cNvSpPr>
            <a:spLocks noGrp="1"/>
          </p:cNvSpPr>
          <p:nvPr/>
        </p:nvSpPr>
        <p:spPr>
          <a:xfrm>
            <a:off x="7012583" y="27985346"/>
            <a:ext cx="6473154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면적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연결성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구멍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</a:t>
            </a:r>
            <a:r>
              <a:rPr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안정성</a:t>
            </a:r>
            <a:endParaRPr sz="28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직사각형 64"/>
          <p:cNvSpPr>
            <a:spLocks noGrp="1"/>
          </p:cNvSpPr>
          <p:nvPr/>
        </p:nvSpPr>
        <p:spPr>
          <a:xfrm>
            <a:off x="2265604" y="29136416"/>
            <a:ext cx="11651677" cy="719418"/>
          </a:xfrm>
          <a:prstGeom prst="rect">
            <a:avLst/>
          </a:prstGeom>
          <a:solidFill>
            <a:srgbClr val="F4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직사각형 65"/>
          <p:cNvSpPr>
            <a:spLocks noGrp="1"/>
          </p:cNvSpPr>
          <p:nvPr/>
        </p:nvSpPr>
        <p:spPr>
          <a:xfrm>
            <a:off x="2481376" y="29226342"/>
            <a:ext cx="11148209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defRPr sz="2832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32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Routing Score</a:t>
            </a:r>
            <a:r>
              <a:rPr sz="32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0.6 Prior + 0.2 Overlap + 0.2 Quality</a:t>
            </a:r>
          </a:p>
        </p:txBody>
      </p:sp>
      <p:sp>
        <p:nvSpPr>
          <p:cNvPr id="67" name="직사각형 66"/>
          <p:cNvSpPr>
            <a:spLocks noGrp="1"/>
          </p:cNvSpPr>
          <p:nvPr/>
        </p:nvSpPr>
        <p:spPr>
          <a:xfrm>
            <a:off x="1618288" y="33310732"/>
            <a:ext cx="12946308" cy="5125851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직사각형 67"/>
          <p:cNvSpPr>
            <a:spLocks noGrp="1"/>
          </p:cNvSpPr>
          <p:nvPr/>
        </p:nvSpPr>
        <p:spPr>
          <a:xfrm>
            <a:off x="2085794" y="33814324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직사각형 68"/>
          <p:cNvSpPr>
            <a:spLocks noGrp="1"/>
          </p:cNvSpPr>
          <p:nvPr/>
        </p:nvSpPr>
        <p:spPr>
          <a:xfrm>
            <a:off x="2085794" y="33796340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</a:p>
        </p:txBody>
      </p:sp>
      <p:sp>
        <p:nvSpPr>
          <p:cNvPr id="70" name="직사각형 69"/>
          <p:cNvSpPr>
            <a:spLocks noGrp="1"/>
          </p:cNvSpPr>
          <p:nvPr/>
        </p:nvSpPr>
        <p:spPr>
          <a:xfrm>
            <a:off x="3236577" y="33742384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 모델 구성</a:t>
            </a:r>
          </a:p>
        </p:txBody>
      </p:sp>
      <p:sp>
        <p:nvSpPr>
          <p:cNvPr id="72" name="직사각형 71"/>
          <p:cNvSpPr>
            <a:spLocks noGrp="1"/>
          </p:cNvSpPr>
          <p:nvPr/>
        </p:nvSpPr>
        <p:spPr>
          <a:xfrm>
            <a:off x="2265604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직사각형 72"/>
          <p:cNvSpPr>
            <a:spLocks noGrp="1"/>
          </p:cNvSpPr>
          <p:nvPr/>
        </p:nvSpPr>
        <p:spPr>
          <a:xfrm>
            <a:off x="2589262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폐</a:t>
            </a:r>
          </a:p>
        </p:txBody>
      </p:sp>
      <p:sp>
        <p:nvSpPr>
          <p:cNvPr id="75" name="직사각형 74"/>
          <p:cNvSpPr>
            <a:spLocks noGrp="1"/>
          </p:cNvSpPr>
          <p:nvPr/>
        </p:nvSpPr>
        <p:spPr>
          <a:xfrm>
            <a:off x="8199328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직사각형 75"/>
          <p:cNvSpPr>
            <a:spLocks noGrp="1"/>
          </p:cNvSpPr>
          <p:nvPr/>
        </p:nvSpPr>
        <p:spPr>
          <a:xfrm>
            <a:off x="8522986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</a:t>
            </a:r>
            <a:r>
              <a:rPr sz="2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  <a:endParaRPr sz="2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직사각형 77"/>
          <p:cNvSpPr>
            <a:spLocks noGrp="1"/>
          </p:cNvSpPr>
          <p:nvPr/>
        </p:nvSpPr>
        <p:spPr>
          <a:xfrm>
            <a:off x="2265604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직사각형 78"/>
          <p:cNvSpPr>
            <a:spLocks noGrp="1"/>
          </p:cNvSpPr>
          <p:nvPr/>
        </p:nvSpPr>
        <p:spPr>
          <a:xfrm>
            <a:off x="2589262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폐</a:t>
            </a:r>
          </a:p>
        </p:txBody>
      </p:sp>
      <p:sp>
        <p:nvSpPr>
          <p:cNvPr id="81" name="직사각형 80"/>
          <p:cNvSpPr>
            <a:spLocks noGrp="1"/>
          </p:cNvSpPr>
          <p:nvPr/>
        </p:nvSpPr>
        <p:spPr>
          <a:xfrm>
            <a:off x="8199328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직사각형 81"/>
          <p:cNvSpPr>
            <a:spLocks noGrp="1"/>
          </p:cNvSpPr>
          <p:nvPr/>
        </p:nvSpPr>
        <p:spPr>
          <a:xfrm>
            <a:off x="8522986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</a:t>
            </a:r>
            <a:r>
              <a:rPr sz="2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  <a:endParaRPr sz="2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직사각형 83"/>
          <p:cNvSpPr>
            <a:spLocks noGrp="1"/>
          </p:cNvSpPr>
          <p:nvPr/>
        </p:nvSpPr>
        <p:spPr>
          <a:xfrm>
            <a:off x="15139987" y="6115050"/>
            <a:ext cx="13539681" cy="12998859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직사각형 84"/>
          <p:cNvSpPr>
            <a:spLocks noGrp="1"/>
          </p:cNvSpPr>
          <p:nvPr/>
        </p:nvSpPr>
        <p:spPr>
          <a:xfrm>
            <a:off x="15769321" y="665240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직사각형 85"/>
          <p:cNvSpPr>
            <a:spLocks noGrp="1"/>
          </p:cNvSpPr>
          <p:nvPr/>
        </p:nvSpPr>
        <p:spPr>
          <a:xfrm>
            <a:off x="15769321" y="663441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</a:p>
        </p:txBody>
      </p:sp>
      <p:sp>
        <p:nvSpPr>
          <p:cNvPr id="87" name="직사각형 86"/>
          <p:cNvSpPr>
            <a:spLocks noGrp="1"/>
          </p:cNvSpPr>
          <p:nvPr/>
        </p:nvSpPr>
        <p:spPr>
          <a:xfrm>
            <a:off x="16920104" y="6580459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직사각형 87"/>
          <p:cNvSpPr>
            <a:spLocks noGrp="1"/>
          </p:cNvSpPr>
          <p:nvPr/>
        </p:nvSpPr>
        <p:spPr>
          <a:xfrm>
            <a:off x="16542504" y="8001309"/>
            <a:ext cx="8222496" cy="122300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defRPr sz="3115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54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</a:t>
            </a:r>
            <a:r>
              <a:rPr sz="54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54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라우팅</a:t>
            </a:r>
            <a:r>
              <a:rPr sz="54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54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평균 </a:t>
            </a:r>
            <a:r>
              <a:rPr sz="54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일치율</a:t>
            </a:r>
            <a:endParaRPr sz="54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직사각형 88"/>
          <p:cNvSpPr>
            <a:spLocks noGrp="1"/>
          </p:cNvSpPr>
          <p:nvPr/>
        </p:nvSpPr>
        <p:spPr>
          <a:xfrm>
            <a:off x="24364230" y="7876615"/>
            <a:ext cx="3955816" cy="12230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defRPr sz="7644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72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94.5%</a:t>
            </a:r>
            <a:endParaRPr sz="7644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직사각형 90"/>
          <p:cNvSpPr>
            <a:spLocks noGrp="1"/>
          </p:cNvSpPr>
          <p:nvPr/>
        </p:nvSpPr>
        <p:spPr>
          <a:xfrm>
            <a:off x="16542504" y="9838036"/>
            <a:ext cx="2517338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32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폐</a:t>
            </a:r>
          </a:p>
        </p:txBody>
      </p:sp>
      <p:sp>
        <p:nvSpPr>
          <p:cNvPr id="92" name="직사각형 91"/>
          <p:cNvSpPr>
            <a:spLocks noGrp="1"/>
          </p:cNvSpPr>
          <p:nvPr/>
        </p:nvSpPr>
        <p:spPr>
          <a:xfrm>
            <a:off x="19275614" y="9963934"/>
            <a:ext cx="7012583" cy="395680"/>
          </a:xfrm>
          <a:prstGeom prst="rect">
            <a:avLst/>
          </a:prstGeom>
          <a:solidFill>
            <a:srgbClr val="E8EDEE"/>
          </a:solidFill>
          <a:ln w="0">
            <a:solidFill>
              <a:srgbClr val="E8EDE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직사각형 92"/>
          <p:cNvSpPr>
            <a:spLocks noGrp="1"/>
          </p:cNvSpPr>
          <p:nvPr/>
        </p:nvSpPr>
        <p:spPr>
          <a:xfrm>
            <a:off x="19275614" y="9963934"/>
            <a:ext cx="6591828" cy="395680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직사각형 93"/>
          <p:cNvSpPr>
            <a:spLocks noGrp="1"/>
          </p:cNvSpPr>
          <p:nvPr/>
        </p:nvSpPr>
        <p:spPr>
          <a:xfrm>
            <a:off x="26521950" y="9838036"/>
            <a:ext cx="1582326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48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94</a:t>
            </a:r>
            <a:r>
              <a:rPr lang="en-US" altLang="ko-KR" sz="2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%</a:t>
            </a:r>
            <a:endParaRPr sz="2800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직사각형 94"/>
          <p:cNvSpPr>
            <a:spLocks noGrp="1"/>
          </p:cNvSpPr>
          <p:nvPr/>
        </p:nvSpPr>
        <p:spPr>
          <a:xfrm>
            <a:off x="16542504" y="10917163"/>
            <a:ext cx="2517338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32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</a:t>
            </a:r>
            <a:r>
              <a:rPr sz="2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  <a:endParaRPr sz="2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6" name="직사각형 95"/>
          <p:cNvSpPr>
            <a:spLocks noGrp="1"/>
          </p:cNvSpPr>
          <p:nvPr/>
        </p:nvSpPr>
        <p:spPr>
          <a:xfrm>
            <a:off x="19275614" y="11043061"/>
            <a:ext cx="7012583" cy="395680"/>
          </a:xfrm>
          <a:prstGeom prst="rect">
            <a:avLst/>
          </a:prstGeom>
          <a:solidFill>
            <a:srgbClr val="E8EDEE"/>
          </a:solidFill>
          <a:ln w="0">
            <a:solidFill>
              <a:srgbClr val="E8EDE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직사각형 96"/>
          <p:cNvSpPr>
            <a:spLocks noGrp="1"/>
          </p:cNvSpPr>
          <p:nvPr/>
        </p:nvSpPr>
        <p:spPr>
          <a:xfrm>
            <a:off x="19275614" y="11043061"/>
            <a:ext cx="6872332" cy="395680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직사각형 97"/>
          <p:cNvSpPr>
            <a:spLocks noGrp="1"/>
          </p:cNvSpPr>
          <p:nvPr/>
        </p:nvSpPr>
        <p:spPr>
          <a:xfrm>
            <a:off x="26521950" y="10917163"/>
            <a:ext cx="1582326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48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98%</a:t>
            </a:r>
            <a:endParaRPr sz="2800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9" name="직사각형 98"/>
          <p:cNvSpPr>
            <a:spLocks noGrp="1"/>
          </p:cNvSpPr>
          <p:nvPr/>
        </p:nvSpPr>
        <p:spPr>
          <a:xfrm>
            <a:off x="16542504" y="11996289"/>
            <a:ext cx="2517338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32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폐</a:t>
            </a:r>
          </a:p>
        </p:txBody>
      </p:sp>
      <p:sp>
        <p:nvSpPr>
          <p:cNvPr id="100" name="직사각형 99"/>
          <p:cNvSpPr>
            <a:spLocks noGrp="1"/>
          </p:cNvSpPr>
          <p:nvPr/>
        </p:nvSpPr>
        <p:spPr>
          <a:xfrm>
            <a:off x="19275614" y="12122187"/>
            <a:ext cx="7012583" cy="395680"/>
          </a:xfrm>
          <a:prstGeom prst="rect">
            <a:avLst/>
          </a:prstGeom>
          <a:solidFill>
            <a:srgbClr val="E8EDEE"/>
          </a:solidFill>
          <a:ln w="0">
            <a:solidFill>
              <a:srgbClr val="E8EDE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직사각형 100"/>
          <p:cNvSpPr>
            <a:spLocks noGrp="1"/>
          </p:cNvSpPr>
          <p:nvPr/>
        </p:nvSpPr>
        <p:spPr>
          <a:xfrm>
            <a:off x="19275614" y="12122187"/>
            <a:ext cx="6030822" cy="395680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직사각형 101"/>
          <p:cNvSpPr>
            <a:spLocks noGrp="1"/>
          </p:cNvSpPr>
          <p:nvPr/>
        </p:nvSpPr>
        <p:spPr>
          <a:xfrm>
            <a:off x="26521950" y="11996289"/>
            <a:ext cx="1582326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48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86%</a:t>
            </a:r>
            <a:endParaRPr sz="2548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직사각형 102"/>
          <p:cNvSpPr>
            <a:spLocks noGrp="1"/>
          </p:cNvSpPr>
          <p:nvPr/>
        </p:nvSpPr>
        <p:spPr>
          <a:xfrm>
            <a:off x="16542504" y="13075416"/>
            <a:ext cx="2517338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32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</a:t>
            </a:r>
            <a:r>
              <a:rPr sz="2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  <a:endParaRPr sz="2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직사각형 103"/>
          <p:cNvSpPr>
            <a:spLocks noGrp="1"/>
          </p:cNvSpPr>
          <p:nvPr/>
        </p:nvSpPr>
        <p:spPr>
          <a:xfrm>
            <a:off x="19275614" y="13201314"/>
            <a:ext cx="7012583" cy="395680"/>
          </a:xfrm>
          <a:prstGeom prst="rect">
            <a:avLst/>
          </a:prstGeom>
          <a:solidFill>
            <a:srgbClr val="E8EDEE"/>
          </a:solidFill>
          <a:ln w="0">
            <a:solidFill>
              <a:srgbClr val="E8EDE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직사각형 104"/>
          <p:cNvSpPr>
            <a:spLocks noGrp="1"/>
          </p:cNvSpPr>
          <p:nvPr/>
        </p:nvSpPr>
        <p:spPr>
          <a:xfrm>
            <a:off x="19275614" y="13201314"/>
            <a:ext cx="7012583" cy="395680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직사각형 105"/>
          <p:cNvSpPr>
            <a:spLocks noGrp="1"/>
          </p:cNvSpPr>
          <p:nvPr/>
        </p:nvSpPr>
        <p:spPr>
          <a:xfrm>
            <a:off x="26521950" y="13075416"/>
            <a:ext cx="1582326" cy="5755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48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</a:t>
            </a:r>
            <a:endParaRPr sz="2800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4" name="직사각형 143"/>
          <p:cNvSpPr>
            <a:spLocks noGrp="1"/>
          </p:cNvSpPr>
          <p:nvPr/>
        </p:nvSpPr>
        <p:spPr>
          <a:xfrm>
            <a:off x="15063568" y="19669926"/>
            <a:ext cx="13539681" cy="18766657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5" name="직사각형 144"/>
          <p:cNvSpPr>
            <a:spLocks noGrp="1"/>
          </p:cNvSpPr>
          <p:nvPr/>
        </p:nvSpPr>
        <p:spPr>
          <a:xfrm>
            <a:off x="15679417" y="20195426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6" name="직사각형 145"/>
          <p:cNvSpPr>
            <a:spLocks noGrp="1"/>
          </p:cNvSpPr>
          <p:nvPr/>
        </p:nvSpPr>
        <p:spPr>
          <a:xfrm>
            <a:off x="15679417" y="20200884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3398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sz="3398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7" name="직사각형 146"/>
          <p:cNvSpPr>
            <a:spLocks noGrp="1"/>
          </p:cNvSpPr>
          <p:nvPr/>
        </p:nvSpPr>
        <p:spPr>
          <a:xfrm>
            <a:off x="16920022" y="20218520"/>
            <a:ext cx="5376395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마스크</a:t>
            </a:r>
            <a:r>
              <a:rPr sz="4800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0" name="직사각형 159"/>
          <p:cNvSpPr>
            <a:spLocks noGrp="1"/>
          </p:cNvSpPr>
          <p:nvPr/>
        </p:nvSpPr>
        <p:spPr>
          <a:xfrm>
            <a:off x="1618288" y="38992436"/>
            <a:ext cx="27061380" cy="143884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1" name="직사각형 160"/>
          <p:cNvSpPr>
            <a:spLocks noGrp="1"/>
          </p:cNvSpPr>
          <p:nvPr/>
        </p:nvSpPr>
        <p:spPr>
          <a:xfrm>
            <a:off x="1659318" y="39322896"/>
            <a:ext cx="27061380" cy="3114642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62" name="직사각형 161"/>
          <p:cNvSpPr>
            <a:spLocks noGrp="1"/>
          </p:cNvSpPr>
          <p:nvPr/>
        </p:nvSpPr>
        <p:spPr>
          <a:xfrm>
            <a:off x="2265605" y="39466747"/>
            <a:ext cx="1649904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 dirty="0" err="1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  <a:endParaRPr sz="4800" b="1" dirty="0">
              <a:solidFill>
                <a:srgbClr val="20374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3" name="직사각형 162"/>
          <p:cNvSpPr>
            <a:spLocks noGrp="1"/>
          </p:cNvSpPr>
          <p:nvPr/>
        </p:nvSpPr>
        <p:spPr>
          <a:xfrm>
            <a:off x="2341796" y="40402826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시스템에서 </a:t>
            </a:r>
            <a:r>
              <a:rPr lang="en-US" altLang="ko-KR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</a:t>
            </a: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후보 모델의 실행 결과와 </a:t>
            </a:r>
            <a:r>
              <a:rPr lang="en-US" altLang="ko-KR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scorecard</a:t>
            </a: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해석하여</a:t>
            </a:r>
            <a:r>
              <a:rPr lang="en-US" altLang="ko-KR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</a:t>
            </a:r>
            <a:r>
              <a:rPr lang="en-US" altLang="ko-KR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·modality </a:t>
            </a: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조건에 맞는 모델 선택을 보조한다</a:t>
            </a:r>
            <a:r>
              <a:rPr lang="en-US" altLang="ko-KR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64" name="직사각형 163"/>
          <p:cNvSpPr>
            <a:spLocks noGrp="1"/>
          </p:cNvSpPr>
          <p:nvPr/>
        </p:nvSpPr>
        <p:spPr>
          <a:xfrm>
            <a:off x="11984679" y="39466747"/>
            <a:ext cx="3694738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4800" b="1" dirty="0">
                <a:solidFill>
                  <a:srgbClr val="637D8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후속 연구</a:t>
            </a:r>
            <a:endParaRPr sz="4800" b="1" dirty="0">
              <a:solidFill>
                <a:srgbClr val="637D8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7" name="직사각형 166"/>
          <p:cNvSpPr>
            <a:spLocks noGrp="1"/>
          </p:cNvSpPr>
          <p:nvPr/>
        </p:nvSpPr>
        <p:spPr>
          <a:xfrm>
            <a:off x="12181454" y="4069825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8" name="직사각형 167"/>
          <p:cNvSpPr>
            <a:spLocks noGrp="1"/>
          </p:cNvSpPr>
          <p:nvPr/>
        </p:nvSpPr>
        <p:spPr>
          <a:xfrm>
            <a:off x="12577035" y="40570268"/>
            <a:ext cx="515763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memory </a:t>
            </a:r>
            <a:r>
              <a:rPr sz="24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prior score </a:t>
            </a:r>
            <a:r>
              <a:rPr sz="2400" b="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보정</a:t>
            </a:r>
            <a:endParaRPr sz="24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직사각형 168"/>
          <p:cNvSpPr>
            <a:spLocks noGrp="1"/>
          </p:cNvSpPr>
          <p:nvPr/>
        </p:nvSpPr>
        <p:spPr>
          <a:xfrm>
            <a:off x="12181454" y="4139249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0" name="직사각형 169"/>
          <p:cNvSpPr>
            <a:spLocks noGrp="1"/>
          </p:cNvSpPr>
          <p:nvPr/>
        </p:nvSpPr>
        <p:spPr>
          <a:xfrm>
            <a:off x="12577034" y="41283556"/>
            <a:ext cx="4927807" cy="390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모델 통합 확장 실험 진행</a:t>
            </a:r>
          </a:p>
        </p:txBody>
      </p:sp>
      <p:pic>
        <p:nvPicPr>
          <p:cNvPr id="321" name="그림 3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-81800"/>
            <a:ext cx="7012583" cy="1995450"/>
          </a:xfrm>
          <a:prstGeom prst="rect">
            <a:avLst/>
          </a:prstGeom>
        </p:spPr>
      </p:pic>
      <p:pic>
        <p:nvPicPr>
          <p:cNvPr id="322" name="그림 32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919236" y="14567877"/>
            <a:ext cx="9301515" cy="5396298"/>
          </a:xfrm>
          <a:prstGeom prst="rect">
            <a:avLst/>
          </a:prstGeom>
        </p:spPr>
      </p:pic>
      <p:pic>
        <p:nvPicPr>
          <p:cNvPr id="324" name="그림 323"/>
          <p:cNvPicPr/>
          <p:nvPr/>
        </p:nvPicPr>
        <p:blipFill rotWithShape="1">
          <a:blip r:embed="rId5"/>
          <a:srcRect t="5518"/>
          <a:stretch>
            <a:fillRect/>
          </a:stretch>
        </p:blipFill>
        <p:spPr>
          <a:xfrm>
            <a:off x="17245561" y="21477258"/>
            <a:ext cx="11357907" cy="1096917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26" name="직사각형 325"/>
          <p:cNvSpPr>
            <a:spLocks noGrp="1"/>
          </p:cNvSpPr>
          <p:nvPr/>
        </p:nvSpPr>
        <p:spPr>
          <a:xfrm>
            <a:off x="15886384" y="22545736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</a:t>
            </a:r>
            <a:r>
              <a:rPr lang="ko-KR" altLang="en-US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</a:t>
            </a:r>
          </a:p>
        </p:txBody>
      </p:sp>
      <p:sp>
        <p:nvSpPr>
          <p:cNvPr id="327" name="직사각형 326"/>
          <p:cNvSpPr>
            <a:spLocks noGrp="1"/>
          </p:cNvSpPr>
          <p:nvPr/>
        </p:nvSpPr>
        <p:spPr>
          <a:xfrm>
            <a:off x="15867267" y="25276608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 </a:t>
            </a:r>
            <a:r>
              <a:rPr lang="ko-KR" altLang="en-US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</a:p>
        </p:txBody>
      </p:sp>
      <p:sp>
        <p:nvSpPr>
          <p:cNvPr id="328" name="직사각형 327"/>
          <p:cNvSpPr>
            <a:spLocks noGrp="1"/>
          </p:cNvSpPr>
          <p:nvPr/>
        </p:nvSpPr>
        <p:spPr>
          <a:xfrm>
            <a:off x="15918651" y="28008821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</a:t>
            </a:r>
            <a:r>
              <a:rPr lang="ko-KR" altLang="en-US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</a:t>
            </a:r>
          </a:p>
        </p:txBody>
      </p:sp>
      <p:sp>
        <p:nvSpPr>
          <p:cNvPr id="329" name="직사각형 328"/>
          <p:cNvSpPr>
            <a:spLocks noGrp="1"/>
          </p:cNvSpPr>
          <p:nvPr/>
        </p:nvSpPr>
        <p:spPr>
          <a:xfrm>
            <a:off x="15959190" y="30793649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</a:t>
            </a:r>
            <a:r>
              <a:rPr lang="ko-KR" altLang="en-US" sz="2548" b="1" dirty="0">
                <a:solidFill>
                  <a:srgbClr val="2037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</a:t>
            </a:r>
          </a:p>
        </p:txBody>
      </p:sp>
      <p:sp>
        <p:nvSpPr>
          <p:cNvPr id="331" name="직사각형 330"/>
          <p:cNvSpPr>
            <a:spLocks noGrp="1"/>
          </p:cNvSpPr>
          <p:nvPr/>
        </p:nvSpPr>
        <p:spPr>
          <a:xfrm>
            <a:off x="16121721" y="33433308"/>
            <a:ext cx="12198325" cy="30215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defRPr sz="2832" b="0">
                <a:solidFill>
                  <a:srgbClr val="58656E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조건에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선택되는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모델이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달라지므로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  <a:r>
              <a:rPr lang="ko-KR" alt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조건별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라우팅이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필요함을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보여준다</a:t>
            </a: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noGrp="1"/>
          </p:cNvSpPr>
          <p:nvPr/>
        </p:nvSpPr>
        <p:spPr>
          <a:xfrm>
            <a:off x="2409451" y="34920430"/>
            <a:ext cx="10932438" cy="111509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CXR/CT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폐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 조건별로 공개 분할 모델 후보군을 구성하고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 입력에 대해 각 후보 모델의 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mask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scorecard</a:t>
            </a:r>
            <a:r>
              <a:rPr lang="ko-KR" altLang="en-US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생성하였다</a:t>
            </a:r>
            <a:r>
              <a:rPr lang="en-US" altLang="ko-KR" sz="28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noGrp="1"/>
          </p:cNvSpPr>
          <p:nvPr/>
        </p:nvSpPr>
        <p:spPr>
          <a:xfrm>
            <a:off x="5457228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models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noGrp="1"/>
          </p:cNvSpPr>
          <p:nvPr/>
        </p:nvSpPr>
        <p:spPr>
          <a:xfrm>
            <a:off x="5452733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models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noGrp="1"/>
          </p:cNvSpPr>
          <p:nvPr/>
        </p:nvSpPr>
        <p:spPr>
          <a:xfrm>
            <a:off x="11372971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models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noGrp="1"/>
          </p:cNvSpPr>
          <p:nvPr/>
        </p:nvSpPr>
        <p:spPr>
          <a:xfrm>
            <a:off x="11386457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en-US" sz="2400" b="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models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9D8F6D4-6848-FB17-5209-7DE8E2DD5AE4}"/>
              </a:ext>
            </a:extLst>
          </p:cNvPr>
          <p:cNvSpPr>
            <a:spLocks noGrp="1"/>
          </p:cNvSpPr>
          <p:nvPr/>
        </p:nvSpPr>
        <p:spPr>
          <a:xfrm>
            <a:off x="17073130" y="32446432"/>
            <a:ext cx="11882870" cy="5208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defRPr sz="2832" b="0">
                <a:solidFill>
                  <a:srgbClr val="58656E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초록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GT mask / 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빨강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 모델 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mask / 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 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overlay: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GT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선택 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mask</a:t>
            </a:r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비교</a:t>
            </a:r>
          </a:p>
        </p:txBody>
      </p:sp>
      <p:pic>
        <p:nvPicPr>
          <p:cNvPr id="7" name="그림 6" descr="안양대학교 로고">
            <a:extLst>
              <a:ext uri="{FF2B5EF4-FFF2-40B4-BE49-F238E27FC236}">
                <a16:creationId xmlns:a16="http://schemas.microsoft.com/office/drawing/2014/main" id="{F23416EC-8C8C-5B96-2F50-63E276E63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3537" y="-81800"/>
            <a:ext cx="4566577" cy="198361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noGrp="1"/>
          </p:cNvSpPr>
          <p:nvPr/>
        </p:nvSpPr>
        <p:spPr>
          <a:xfrm>
            <a:off x="2540800" y="40617501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noGrp="1"/>
          </p:cNvSpPr>
          <p:nvPr/>
        </p:nvSpPr>
        <p:spPr>
          <a:xfrm>
            <a:off x="2347889" y="41258302"/>
            <a:ext cx="8611957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정답 마스크가 없는 실제 추론 환경에서도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검증 성능과 현재 후보 마스크의 합의도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품질 정보를 결합해 선택 근거를 제시할 수 있다</a:t>
            </a:r>
            <a:endParaRPr sz="24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noGrp="1"/>
          </p:cNvSpPr>
          <p:nvPr/>
        </p:nvSpPr>
        <p:spPr>
          <a:xfrm>
            <a:off x="2550225" y="41494110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noGrp="1"/>
          </p:cNvSpPr>
          <p:nvPr/>
        </p:nvSpPr>
        <p:spPr>
          <a:xfrm>
            <a:off x="19070611" y="39375316"/>
            <a:ext cx="4821775" cy="9304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4800" b="1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논의 및 </a:t>
            </a:r>
            <a:r>
              <a:rPr lang="ko-KR" altLang="en-US" sz="4800" b="1" dirty="0" err="1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제한점</a:t>
            </a:r>
            <a:endParaRPr sz="4800" b="1" dirty="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noGrp="1"/>
          </p:cNvSpPr>
          <p:nvPr/>
        </p:nvSpPr>
        <p:spPr>
          <a:xfrm>
            <a:off x="19059842" y="40287190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 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심장에서는 </a:t>
            </a:r>
            <a:r>
              <a:rPr lang="en-US" altLang="ko-KR" sz="2400" dirty="0" err="1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volumefraction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guardrail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fallback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비정상 마스크 선택 방지에 중요</a:t>
            </a:r>
          </a:p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24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noGrp="1"/>
          </p:cNvSpPr>
          <p:nvPr/>
        </p:nvSpPr>
        <p:spPr>
          <a:xfrm>
            <a:off x="19258846" y="405018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noGrp="1"/>
          </p:cNvSpPr>
          <p:nvPr/>
        </p:nvSpPr>
        <p:spPr>
          <a:xfrm>
            <a:off x="19065935" y="41142666"/>
            <a:ext cx="8834988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현재 후보 모델 수와 데이터셋 범위가 제한적이며</a:t>
            </a:r>
            <a:r>
              <a:rPr lang="en-US" altLang="ko-KR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fallback 3 case </a:t>
            </a:r>
            <a:r>
              <a:rPr lang="ko-KR" altLang="en-US" sz="2400" dirty="0">
                <a:solidFill>
                  <a:srgbClr val="1D27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발생</a:t>
            </a:r>
          </a:p>
          <a:p>
            <a:pPr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 b="0" dirty="0">
              <a:solidFill>
                <a:srgbClr val="1D273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noGrp="1"/>
          </p:cNvSpPr>
          <p:nvPr/>
        </p:nvSpPr>
        <p:spPr>
          <a:xfrm>
            <a:off x="19268271" y="4137847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382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Pretendard</vt:lpstr>
      <vt:lpstr>ChatGPT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이유업</cp:lastModifiedBy>
  <cp:revision>77</cp:revision>
  <dcterms:modified xsi:type="dcterms:W3CDTF">2026-06-22T12:47:11Z</dcterms:modified>
  <cp:version/>
</cp:coreProperties>
</file>