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b4aae33e40400d" /><Relationship Type="http://schemas.openxmlformats.org/officeDocument/2006/relationships/extended-properties" Target="/docProps/app.xml" Id="R4592c80106b541d6" /><Relationship Type="http://schemas.openxmlformats.org/officeDocument/2006/relationships/officeDocument" Target="/ppt/presentation.xml" Id="Rb45061807d414a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ad6fe2fbd4411c"/>
  </p:sldMasterIdLst>
  <p:notesMasterIdLst>
    <p:notesMasterId xmlns:r="http://schemas.openxmlformats.org/officeDocument/2006/relationships" r:id="R579a7eefab8843b7"/>
  </p:notesMasterIdLst>
  <p:sldIdLst>
    <p:sldId xmlns:r="http://schemas.openxmlformats.org/officeDocument/2006/relationships" id="256" r:id="R9cece941a2af4b66"/>
  </p:sldIdLst>
  <p:sldSz cx="30279975" cy="428053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90139748b742ac" /><Relationship Type="http://schemas.openxmlformats.org/officeDocument/2006/relationships/slideMaster" Target="/ppt/slideMasters/slideMaster1.xml" Id="R60ad6fe2fbd4411c" /><Relationship Type="http://schemas.openxmlformats.org/officeDocument/2006/relationships/notesMaster" Target="/ppt/notesMasters/notesMaster1.xml" Id="R579a7eefab8843b7" /><Relationship Type="http://schemas.openxmlformats.org/officeDocument/2006/relationships/presProps" Target="/ppt/presProps.xml" Id="R5bc554b5f3a744ce" /><Relationship Type="http://schemas.openxmlformats.org/officeDocument/2006/relationships/tableStyles" Target="/ppt/tableStyles.xml" Id="R39f2539641834004" /><Relationship Type="http://schemas.openxmlformats.org/officeDocument/2006/relationships/slide" Target="/ppt/slides/slide1.xml" Id="R9cece941a2af4b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ea34015c6945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ca3318de344222" /><Relationship Type="http://schemas.openxmlformats.org/officeDocument/2006/relationships/notesMaster" Target="/ppt/notesMasters/notesMaster1.xml" Id="Ra6f6f348424c4d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61865179d047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ea8b15f4994a94" /><Relationship Type="http://schemas.openxmlformats.org/officeDocument/2006/relationships/slideLayout" Target="/ppt/slideLayouts/slideLayout1.xml" Id="Ra062d3fb60fd45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62d3fb60fd45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e5316ce5d4e53" /><Relationship Type="http://schemas.openxmlformats.org/officeDocument/2006/relationships/image" Target="/ppt/media/image.png" Id="R94e4975fc7894150" /><Relationship Type="http://schemas.openxmlformats.org/officeDocument/2006/relationships/image" Target="/ppt/media/image2.png" Id="R7a63219d535f418d" /><Relationship Type="http://schemas.openxmlformats.org/officeDocument/2006/relationships/image" Target="/ppt/media/image.jpeg" Id="R9242f94770bb425c" /><Relationship Type="http://schemas.openxmlformats.org/officeDocument/2006/relationships/notesSlide" Target="/ppt/notesSlides/notesSlide1.xml" Id="Rfee4483e826f4e6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직사각형 319">
            <a:extLst xmlns:a="http://schemas.openxmlformats.org/drawingml/2006/main">
              <a:ext uri="{FF2B5EF4-FFF2-40B4-BE49-F238E27FC236}">
                <a16:creationId xmlns:a16="http://schemas.microsoft.com/office/drawing/2014/main" id="{9DA4D294-F294-4F3D-B779-1C389CB5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21920"/>
            <a:ext cx="30279976" cy="42927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F7F8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A609A541-6956-4F94-8995-B722DFF5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54116"/>
            <a:ext cx="30279976" cy="34415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46"/>
          </a:solidFill>
          <a:ln xmlns:a="http://schemas.openxmlformats.org/drawingml/2006/main" w="0">
            <a:solidFill>
              <a:srgbClr val="20374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4CA5515-AFA4-4E1C-866E-9697082E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42" y="2315700"/>
            <a:ext cx="14744406" cy="1870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ctr"/>
          <a:lstStyle xmlns:a="http://schemas.openxmlformats.org/drawingml/2006/main"/>
          <a:p xmlns:a="http://schemas.openxmlformats.org/drawingml/2006/main">
            <a:pPr algn="ctr">
              <a:buNone/>
              <a:defRPr sz="552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6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최적 분할 모델 선택을 위한 LLM 기반</a:t>
            </a:r>
          </a:p>
          <a:p xmlns:a="http://schemas.openxmlformats.org/drawingml/2006/main">
            <a:pPr algn="ctr">
              <a:buNone/>
              <a:defRPr sz="552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6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모델 라우팅 오케스트레이터 개발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C9CE4B8A-F89B-42F7-992E-829D41DE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0491" y="4304983"/>
            <a:ext cx="13305927" cy="899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ctr"/>
          <a:lstStyle xmlns:a="http://schemas.openxmlformats.org/drawingml/2006/main"/>
          <a:p xmlns:a="http://schemas.openxmlformats.org/drawingml/2006/main">
            <a:pPr algn="ctr">
              <a:buNone/>
              <a:defRPr sz="2407" b="0">
                <a:solidFill>
                  <a:srgbClr val="E5ECEE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E5ECEE"/>
                </a:solidFill>
                <a:latin typeface="Pretendard"/>
                <a:ea typeface="Pretendard"/>
                <a:cs typeface="Pretendard"/>
              </a:rPr>
              <a:t>이유업, 하성민  |  안양대학교 컴퓨터공학과</a:t>
            </a:r>
          </a:p>
          <a:p xmlns:a="http://schemas.openxmlformats.org/drawingml/2006/main">
            <a:pPr algn="ctr">
              <a:buNone/>
              <a:defRPr sz="2407" b="0">
                <a:solidFill>
                  <a:srgbClr val="E5ECEE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E5ECEE"/>
                </a:solidFill>
                <a:latin typeface="Pretendard"/>
                <a:ea typeface="Pretendard"/>
                <a:cs typeface="Pretendard"/>
              </a:rPr>
              <a:t>E-mail: yueop9261@gmail.com, seha@anyang.ac.kr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E6ACC7DC-ACE3-4DF8-BCCB-18B2D668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88" y="6115050"/>
            <a:ext cx="12946308" cy="6294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5D37DFFE-77AB-477C-B571-A80E4611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794" y="6618642"/>
            <a:ext cx="863087" cy="8633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46"/>
          </a:solidFill>
          <a:ln xmlns:a="http://schemas.openxmlformats.org/drawingml/2006/main" w="0">
            <a:solidFill>
              <a:srgbClr val="20374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7A989891-A22D-486C-BF58-D4AE73E5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794" y="6600657"/>
            <a:ext cx="863087" cy="8633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095D8907-3F87-43EB-989C-D9E88574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577" y="6546701"/>
            <a:ext cx="10968399" cy="1043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ctr"/>
          <a:lstStyle xmlns:a="http://schemas.openxmlformats.org/drawingml/2006/main"/>
          <a:p xmlns:a="http://schemas.openxmlformats.org/drawingml/2006/main"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연구 배경 및 목적</a:t>
            </a:r>
          </a:p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8E90CEF2-8484-4004-847F-100935E0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604" y="7985536"/>
            <a:ext cx="179810" cy="1798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46E"/>
          </a:solidFill>
          <a:ln xmlns:a="http://schemas.openxmlformats.org/drawingml/2006/main" w="0">
            <a:solidFill>
              <a:srgbClr val="5974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09FB8A37-C7E5-48E6-BA5C-1636075C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185" y="7876616"/>
            <a:ext cx="10932438" cy="62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공개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의료영상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분할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모델은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장기와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modality에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따라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성능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차이가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큼</a:t>
            </a:r>
          </a:p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FDA21D1B-D5A8-4492-B40B-5E9A8ACA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604" y="8920779"/>
            <a:ext cx="179810" cy="1798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46E"/>
          </a:solidFill>
          <a:ln xmlns:a="http://schemas.openxmlformats.org/drawingml/2006/main" w="0">
            <a:solidFill>
              <a:srgbClr val="5974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687EBAB8-65FE-4C52-BD90-3A729362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184" y="8762035"/>
            <a:ext cx="11543791" cy="672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추론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시점에는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GT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mask가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없어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입력별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최적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모델을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직접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판단하기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어려움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EE8A4C4F-671C-41D3-B186-21F312BF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604" y="9856022"/>
            <a:ext cx="179810" cy="1798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46E"/>
          </a:solidFill>
          <a:ln xmlns:a="http://schemas.openxmlformats.org/drawingml/2006/main" w="0">
            <a:solidFill>
              <a:srgbClr val="5974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A6007F81-782E-4829-BBC8-9F3986F0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185" y="9747101"/>
            <a:ext cx="10932438" cy="5132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단일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모델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고정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방식은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특성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변화와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실패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후보에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취약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함</a:t>
            </a:r>
          </a:p>
        </p:txBody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0B7118FD-0F5B-4BB5-AA1A-251330EA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604" y="10791265"/>
            <a:ext cx="179810" cy="1798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46E"/>
          </a:solidFill>
          <a:ln xmlns:a="http://schemas.openxmlformats.org/drawingml/2006/main" w="0">
            <a:solidFill>
              <a:srgbClr val="5974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BDB9262B-4CCA-4C27-9DBD-EFAA9E6E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185" y="10539469"/>
            <a:ext cx="10932438" cy="636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LLM은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임상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정확도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판단자가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아니라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scorecard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해석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및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근거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생성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계층</a:t>
            </a:r>
          </a:p>
        </p:txBody>
      </p:sp>
      <p:sp>
        <p:nvSpPr>
          <p:cNvPr id="37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F794AB3A-65A9-45DE-BA6B-D5758FB8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604" y="11726508"/>
            <a:ext cx="179810" cy="1798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46E"/>
          </a:solidFill>
          <a:ln xmlns:a="http://schemas.openxmlformats.org/drawingml/2006/main" w="0">
            <a:solidFill>
              <a:srgbClr val="5974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D8AC8E30-2877-4AE6-A2C9-89ECECA9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185" y="11608062"/>
            <a:ext cx="10932438" cy="514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hard 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constraint와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fallback으로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실패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비정상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후보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선택을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방지</a:t>
            </a:r>
          </a:p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17890AB6-570B-4B75-B3F0-15FCF09D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88" y="12949518"/>
            <a:ext cx="12946308" cy="98919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8092039C-573D-46C5-B719-B5D9E089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794" y="13453110"/>
            <a:ext cx="863087" cy="8633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46"/>
          </a:solidFill>
          <a:ln xmlns:a="http://schemas.openxmlformats.org/drawingml/2006/main" w="0">
            <a:solidFill>
              <a:srgbClr val="20374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E4E19781-F704-4876-9D47-1224832A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794" y="13435125"/>
            <a:ext cx="863087" cy="8633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2" name="직사각형 41">
            <a:extLst xmlns:a="http://schemas.openxmlformats.org/drawingml/2006/main">
              <a:ext uri="{FF2B5EF4-FFF2-40B4-BE49-F238E27FC236}">
                <a16:creationId xmlns:a16="http://schemas.microsoft.com/office/drawing/2014/main" id="{638A51BD-C41C-4E43-8EE9-46035F1E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577" y="13381168"/>
            <a:ext cx="10968399" cy="1043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ctr"/>
          <a:lstStyle xmlns:a="http://schemas.openxmlformats.org/drawingml/2006/main"/>
          <a:p xmlns:a="http://schemas.openxmlformats.org/drawingml/2006/main"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제안 시스템</a:t>
            </a:r>
          </a:p>
        </p:txBody>
      </p:sp>
      <p:sp>
        <p:nvSpPr>
          <p:cNvPr id="49" name="직사각형 48">
            <a:extLst xmlns:a="http://schemas.openxmlformats.org/drawingml/2006/main">
              <a:ext uri="{FF2B5EF4-FFF2-40B4-BE49-F238E27FC236}">
                <a16:creationId xmlns:a16="http://schemas.microsoft.com/office/drawing/2014/main" id="{8034B644-3968-4CA0-8602-47E72B71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88" y="23560928"/>
            <a:ext cx="12946308" cy="938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직사각형 49">
            <a:extLst xmlns:a="http://schemas.openxmlformats.org/drawingml/2006/main">
              <a:ext uri="{FF2B5EF4-FFF2-40B4-BE49-F238E27FC236}">
                <a16:creationId xmlns:a16="http://schemas.microsoft.com/office/drawing/2014/main" id="{2A41D837-5797-4E09-A820-439926ED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794" y="24064520"/>
            <a:ext cx="863087" cy="8633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46"/>
          </a:solidFill>
          <a:ln xmlns:a="http://schemas.openxmlformats.org/drawingml/2006/main" w="0">
            <a:solidFill>
              <a:srgbClr val="20374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직사각형 50">
            <a:extLst xmlns:a="http://schemas.openxmlformats.org/drawingml/2006/main">
              <a:ext uri="{FF2B5EF4-FFF2-40B4-BE49-F238E27FC236}">
                <a16:creationId xmlns:a16="http://schemas.microsoft.com/office/drawing/2014/main" id="{ADAC5EC3-2180-4F1F-AE21-A2D35629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794" y="24046536"/>
            <a:ext cx="863087" cy="8633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2" name="직사각형 51">
            <a:extLst xmlns:a="http://schemas.openxmlformats.org/drawingml/2006/main">
              <a:ext uri="{FF2B5EF4-FFF2-40B4-BE49-F238E27FC236}">
                <a16:creationId xmlns:a16="http://schemas.microsoft.com/office/drawing/2014/main" id="{A082BAE3-315C-457D-8D71-CB085FC7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577" y="23992580"/>
            <a:ext cx="10968399" cy="1043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ctr"/>
          <a:lstStyle xmlns:a="http://schemas.openxmlformats.org/drawingml/2006/main"/>
          <a:p xmlns:a="http://schemas.openxmlformats.org/drawingml/2006/main"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후보 점수표와 라우팅 점수</a:t>
            </a:r>
          </a:p>
        </p:txBody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2FC521C-A0A8-4884-9A2D-09F72420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88" y="33310732"/>
            <a:ext cx="12946308" cy="5125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AAFE9315-A5C2-4A3A-8A09-3C98C51E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794" y="33814324"/>
            <a:ext cx="863087" cy="8633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46"/>
          </a:solidFill>
          <a:ln xmlns:a="http://schemas.openxmlformats.org/drawingml/2006/main" w="0">
            <a:solidFill>
              <a:srgbClr val="20374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4FD170E6-31B6-44C8-B501-C3980FDA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794" y="33796340"/>
            <a:ext cx="863087" cy="8633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470F305C-9C1A-4860-94B6-1B2CB248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577" y="33742384"/>
            <a:ext cx="10968399" cy="1043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ctr"/>
          <a:lstStyle xmlns:a="http://schemas.openxmlformats.org/drawingml/2006/main"/>
          <a:p xmlns:a="http://schemas.openxmlformats.org/drawingml/2006/main"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후보 모델 구성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AD5D398B-2F3F-4DB5-B9C5-AE2245ED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604" y="36278332"/>
            <a:ext cx="5304390" cy="7553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4300099D-632A-41F2-B2BA-C88B591E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262" y="36404228"/>
            <a:ext cx="2427433" cy="503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ctr"/>
          <a:lstStyle xmlns:a="http://schemas.openxmlformats.org/drawingml/2006/main"/>
          <a:p xmlns:a="http://schemas.openxmlformats.org/drawingml/2006/main"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폐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B85A035D-588B-41F9-986C-20375610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328" y="36278332"/>
            <a:ext cx="5304390" cy="7553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825E978E-57B5-45CA-938A-CB727A36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986" y="36404228"/>
            <a:ext cx="2427433" cy="503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ctr"/>
          <a:lstStyle xmlns:a="http://schemas.openxmlformats.org/drawingml/2006/main"/>
          <a:p xmlns:a="http://schemas.openxmlformats.org/drawingml/2006/main"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심장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E50203BC-15C3-4E1F-8C4E-8618AF55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604" y="37321484"/>
            <a:ext cx="5304390" cy="7553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9B39FC65-B257-452D-9CFB-ADF8E8A5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262" y="37447384"/>
            <a:ext cx="2427433" cy="503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ctr"/>
          <a:lstStyle xmlns:a="http://schemas.openxmlformats.org/drawingml/2006/main"/>
          <a:p xmlns:a="http://schemas.openxmlformats.org/drawingml/2006/main"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폐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985F3EF4-297B-4E6F-8C25-F11DFDDF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328" y="37321484"/>
            <a:ext cx="5304390" cy="7553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DE689642-3756-488D-910D-564C87A2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986" y="37447384"/>
            <a:ext cx="2427433" cy="503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ctr"/>
          <a:lstStyle xmlns:a="http://schemas.openxmlformats.org/drawingml/2006/main"/>
          <a:p xmlns:a="http://schemas.openxmlformats.org/drawingml/2006/main"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심장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274D7EF1-E1E6-40C9-965D-FF1360E2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987" y="6115050"/>
            <a:ext cx="13539681" cy="129988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2F6A52A8-81EC-4F23-989E-F38094D8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9321" y="6652400"/>
            <a:ext cx="863087" cy="8633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46"/>
          </a:solidFill>
          <a:ln xmlns:a="http://schemas.openxmlformats.org/drawingml/2006/main" w="0">
            <a:solidFill>
              <a:srgbClr val="20374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1CF59EFF-6063-48C3-87CA-8B7A6E00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9321" y="6634415"/>
            <a:ext cx="863087" cy="8633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4923BA9F-AD1E-40A2-936B-842A5198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0104" y="6580459"/>
            <a:ext cx="10968399" cy="1043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ctr"/>
          <a:lstStyle xmlns:a="http://schemas.openxmlformats.org/drawingml/2006/main"/>
          <a:p xmlns:a="http://schemas.openxmlformats.org/drawingml/2006/main"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실험 결과</a:t>
            </a:r>
          </a:p>
        </p:txBody>
      </p:sp>
      <p:sp>
        <p:nvSpPr>
          <p:cNvPr id="144" name="직사각형 143">
            <a:extLst xmlns:a="http://schemas.openxmlformats.org/drawingml/2006/main">
              <a:ext uri="{FF2B5EF4-FFF2-40B4-BE49-F238E27FC236}">
                <a16:creationId xmlns:a16="http://schemas.microsoft.com/office/drawing/2014/main" id="{95725AB3-514E-4210-A902-26E15FFB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3568" y="19669926"/>
            <a:ext cx="13539681" cy="18766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5" name="직사각형 144">
            <a:extLst xmlns:a="http://schemas.openxmlformats.org/drawingml/2006/main">
              <a:ext uri="{FF2B5EF4-FFF2-40B4-BE49-F238E27FC236}">
                <a16:creationId xmlns:a16="http://schemas.microsoft.com/office/drawing/2014/main" id="{097696B2-5AED-4619-BE9D-AA28CD08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417" y="20195426"/>
            <a:ext cx="863087" cy="8633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46"/>
          </a:solidFill>
          <a:ln xmlns:a="http://schemas.openxmlformats.org/drawingml/2006/main" w="0">
            <a:solidFill>
              <a:srgbClr val="20374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6" name="직사각형 145">
            <a:extLst xmlns:a="http://schemas.openxmlformats.org/drawingml/2006/main">
              <a:ext uri="{FF2B5EF4-FFF2-40B4-BE49-F238E27FC236}">
                <a16:creationId xmlns:a16="http://schemas.microsoft.com/office/drawing/2014/main" id="{0841D998-1803-4521-B66E-72FD6D8C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417" y="20200884"/>
            <a:ext cx="863087" cy="8633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147" name="직사각형 146">
            <a:extLst xmlns:a="http://schemas.openxmlformats.org/drawingml/2006/main">
              <a:ext uri="{FF2B5EF4-FFF2-40B4-BE49-F238E27FC236}">
                <a16:creationId xmlns:a16="http://schemas.microsoft.com/office/drawing/2014/main" id="{7A41DC34-6CAB-4EAB-B459-6524687E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0022" y="20218520"/>
            <a:ext cx="5376395" cy="1043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ctr"/>
          <a:lstStyle xmlns:a="http://schemas.openxmlformats.org/drawingml/2006/main"/>
          <a:p xmlns:a="http://schemas.openxmlformats.org/drawingml/2006/main"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선택 마스크 예시</a:t>
            </a:r>
          </a:p>
        </p:txBody>
      </p:sp>
      <p:sp>
        <p:nvSpPr>
          <p:cNvPr id="160" name="직사각형 159">
            <a:extLst xmlns:a="http://schemas.openxmlformats.org/drawingml/2006/main">
              <a:ext uri="{FF2B5EF4-FFF2-40B4-BE49-F238E27FC236}">
                <a16:creationId xmlns:a16="http://schemas.microsoft.com/office/drawing/2014/main" id="{88D42191-7E12-4371-9C2E-E71F9D6C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88" y="38992436"/>
            <a:ext cx="27061380" cy="143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D86"/>
          </a:solidFill>
          <a:ln xmlns:a="http://schemas.openxmlformats.org/drawingml/2006/main" w="0">
            <a:solidFill>
              <a:srgbClr val="637D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1" name="직사각형 160">
            <a:extLst xmlns:a="http://schemas.openxmlformats.org/drawingml/2006/main">
              <a:ext uri="{FF2B5EF4-FFF2-40B4-BE49-F238E27FC236}">
                <a16:creationId xmlns:a16="http://schemas.microsoft.com/office/drawing/2014/main" id="{C7432B98-DC56-4785-A2BA-48371852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318" y="39322896"/>
            <a:ext cx="27061380" cy="31146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2" name="직사각형 161">
            <a:extLst xmlns:a="http://schemas.openxmlformats.org/drawingml/2006/main">
              <a:ext uri="{FF2B5EF4-FFF2-40B4-BE49-F238E27FC236}">
                <a16:creationId xmlns:a16="http://schemas.microsoft.com/office/drawing/2014/main" id="{74559757-CA46-4348-870C-943AC465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605" y="39466747"/>
            <a:ext cx="1649904" cy="9360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t"/>
          <a:lstStyle xmlns:a="http://schemas.openxmlformats.org/drawingml/2006/main"/>
          <a:p xmlns:a="http://schemas.openxmlformats.org/drawingml/2006/main">
            <a:pPr algn="l">
              <a:buNone/>
              <a:defRPr sz="3823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163" name="직사각형 162">
            <a:extLst xmlns:a="http://schemas.openxmlformats.org/drawingml/2006/main">
              <a:ext uri="{FF2B5EF4-FFF2-40B4-BE49-F238E27FC236}">
                <a16:creationId xmlns:a16="http://schemas.microsoft.com/office/drawing/2014/main" id="{2AB65796-0D2A-455B-AC1C-81DCD18E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796" y="40402826"/>
            <a:ext cx="8608623" cy="9831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t"/>
          <a:lstStyle xmlns:a="http://schemas.openxmlformats.org/drawingml/2006/main"/>
          <a:p xmlns:a="http://schemas.openxmlformats.org/drawingml/2006/main"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 </a:t>
            </a: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이 시스템에서 LLM은 후보 모델의 실행 결과와 scorecard를 해석하여, 장기·modality 조건에 맞는 모델 선택을 보조한다.</a:t>
            </a:r>
          </a:p>
        </p:txBody>
      </p:sp>
      <p:sp>
        <p:nvSpPr>
          <p:cNvPr id="164" name="직사각형 163">
            <a:extLst xmlns:a="http://schemas.openxmlformats.org/drawingml/2006/main">
              <a:ext uri="{FF2B5EF4-FFF2-40B4-BE49-F238E27FC236}">
                <a16:creationId xmlns:a16="http://schemas.microsoft.com/office/drawing/2014/main" id="{3205798D-34EC-4F97-80E0-D1517DDA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4679" y="39466747"/>
            <a:ext cx="3694738" cy="9360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t"/>
          <a:lstStyle xmlns:a="http://schemas.openxmlformats.org/drawingml/2006/main"/>
          <a:p xmlns:a="http://schemas.openxmlformats.org/drawingml/2006/main">
            <a:pPr algn="l">
              <a:buNone/>
              <a:defRPr sz="3540" b="1">
                <a:solidFill>
                  <a:srgbClr val="637D8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637D86"/>
                </a:solidFill>
                <a:latin typeface="Pretendard"/>
                <a:ea typeface="Pretendard"/>
                <a:cs typeface="Pretendard"/>
              </a:rPr>
              <a:t>후속 연구</a:t>
            </a:r>
          </a:p>
        </p:txBody>
      </p:sp>
      <p:sp>
        <p:nvSpPr>
          <p:cNvPr id="167" name="직사각형 166">
            <a:extLst xmlns:a="http://schemas.openxmlformats.org/drawingml/2006/main">
              <a:ext uri="{FF2B5EF4-FFF2-40B4-BE49-F238E27FC236}">
                <a16:creationId xmlns:a16="http://schemas.microsoft.com/office/drawing/2014/main" id="{E25F9C6C-D5ED-423A-9E73-84090CBF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454" y="40698252"/>
            <a:ext cx="179810" cy="1798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46E"/>
          </a:solidFill>
          <a:ln xmlns:a="http://schemas.openxmlformats.org/drawingml/2006/main" w="0">
            <a:solidFill>
              <a:srgbClr val="5974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8" name="직사각형 167">
            <a:extLst xmlns:a="http://schemas.openxmlformats.org/drawingml/2006/main">
              <a:ext uri="{FF2B5EF4-FFF2-40B4-BE49-F238E27FC236}">
                <a16:creationId xmlns:a16="http://schemas.microsoft.com/office/drawing/2014/main" id="{0A465818-0BB2-4B8E-957A-59F555A9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7035" y="40570268"/>
            <a:ext cx="5157636" cy="6115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95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agent memory 기반 prior score 보정</a:t>
            </a:r>
          </a:p>
        </p:txBody>
      </p:sp>
      <p:sp>
        <p:nvSpPr>
          <p:cNvPr id="169" name="직사각형 168">
            <a:extLst xmlns:a="http://schemas.openxmlformats.org/drawingml/2006/main">
              <a:ext uri="{FF2B5EF4-FFF2-40B4-BE49-F238E27FC236}">
                <a16:creationId xmlns:a16="http://schemas.microsoft.com/office/drawing/2014/main" id="{50177D38-C4DE-4CFD-B171-77095436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454" y="41392492"/>
            <a:ext cx="179810" cy="1798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46E"/>
          </a:solidFill>
          <a:ln xmlns:a="http://schemas.openxmlformats.org/drawingml/2006/main" w="0">
            <a:solidFill>
              <a:srgbClr val="5974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0" name="직사각형 169">
            <a:extLst xmlns:a="http://schemas.openxmlformats.org/drawingml/2006/main">
              <a:ext uri="{FF2B5EF4-FFF2-40B4-BE49-F238E27FC236}">
                <a16:creationId xmlns:a16="http://schemas.microsoft.com/office/drawing/2014/main" id="{3BD3F7D1-05C4-49D7-A255-77E49BFE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7034" y="41283556"/>
            <a:ext cx="4927807" cy="390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95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신규 모델 통합 확장 실험 진행</a:t>
            </a:r>
          </a:p>
        </p:txBody>
      </p:sp>
      <p:pic>
        <p:nvPicPr>
          <p:cNvPr id="761" name="그림 3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e4975fc78941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81800"/>
            <a:ext cx="7012583" cy="1995450"/>
          </a:xfrm>
          <a:prstGeom xmlns:a="http://schemas.openxmlformats.org/drawingml/2006/main" prst="rect">
            <a:avLst/>
          </a:prstGeom>
        </p:spPr>
      </p:pic>
      <p:pic>
        <p:nvPicPr>
          <p:cNvPr id="762" name="그림 3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63219d535f418d"/>
          <a:srcRect xmlns:a="http://schemas.openxmlformats.org/drawingml/2006/main" l="0" t="5518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245561" y="21477258"/>
            <a:ext cx="11357907" cy="109691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6" name="직사각형 325">
            <a:extLst xmlns:a="http://schemas.openxmlformats.org/drawingml/2006/main">
              <a:ext uri="{FF2B5EF4-FFF2-40B4-BE49-F238E27FC236}">
                <a16:creationId xmlns:a16="http://schemas.microsoft.com/office/drawing/2014/main" id="{4D101276-8838-4ACA-8B70-08A086F2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6384" y="22545736"/>
            <a:ext cx="1186746" cy="53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폐</a:t>
            </a:r>
          </a:p>
        </p:txBody>
      </p:sp>
      <p:sp>
        <p:nvSpPr>
          <p:cNvPr id="327" name="직사각형 326">
            <a:extLst xmlns:a="http://schemas.openxmlformats.org/drawingml/2006/main">
              <a:ext uri="{FF2B5EF4-FFF2-40B4-BE49-F238E27FC236}">
                <a16:creationId xmlns:a16="http://schemas.microsoft.com/office/drawing/2014/main" id="{297E9D63-CB4A-481A-9A2C-32B2AC71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7267" y="25276608"/>
            <a:ext cx="1717324" cy="53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심장</a:t>
            </a:r>
          </a:p>
        </p:txBody>
      </p:sp>
      <p:sp>
        <p:nvSpPr>
          <p:cNvPr id="328" name="직사각형 327">
            <a:extLst xmlns:a="http://schemas.openxmlformats.org/drawingml/2006/main">
              <a:ext uri="{FF2B5EF4-FFF2-40B4-BE49-F238E27FC236}">
                <a16:creationId xmlns:a16="http://schemas.microsoft.com/office/drawing/2014/main" id="{E6DD765E-C2C4-45BB-B97F-5B4737C5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8651" y="28008821"/>
            <a:ext cx="1186746" cy="53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폐</a:t>
            </a:r>
          </a:p>
        </p:txBody>
      </p:sp>
      <p:sp>
        <p:nvSpPr>
          <p:cNvPr id="329" name="직사각형 328">
            <a:extLst xmlns:a="http://schemas.openxmlformats.org/drawingml/2006/main">
              <a:ext uri="{FF2B5EF4-FFF2-40B4-BE49-F238E27FC236}">
                <a16:creationId xmlns:a16="http://schemas.microsoft.com/office/drawing/2014/main" id="{EC4BFB31-AAEA-43A3-92AD-F437A062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9190" y="30793649"/>
            <a:ext cx="1717324" cy="53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심장</a:t>
            </a:r>
          </a:p>
        </p:txBody>
      </p:sp>
      <p:sp>
        <p:nvSpPr>
          <p:cNvPr id="142" name="직사각형 141">
            <a:extLst xmlns:a="http://schemas.openxmlformats.org/drawingml/2006/main">
              <a:ext uri="{FF2B5EF4-FFF2-40B4-BE49-F238E27FC236}">
                <a16:creationId xmlns:a16="http://schemas.microsoft.com/office/drawing/2014/main" id="{2CCF1073-2B2E-F5C0-C8FA-336E63C8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451" y="34920430"/>
            <a:ext cx="10932438" cy="11150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CXR/CT와 폐/심장 조건별로 공개 분할 모델 후보군을 구성하고, 동일 입력에 대해 각 후보 모델의 mask와 scorecard를 생성하였다.</a:t>
            </a:r>
          </a:p>
        </p:txBody>
      </p:sp>
      <p:sp>
        <p:nvSpPr>
          <p:cNvPr id="165" name="직사각형 164">
            <a:extLst xmlns:a="http://schemas.openxmlformats.org/drawingml/2006/main">
              <a:ext uri="{FF2B5EF4-FFF2-40B4-BE49-F238E27FC236}">
                <a16:creationId xmlns:a16="http://schemas.microsoft.com/office/drawing/2014/main" id="{98A1794A-2EBD-4030-3653-FB22A6F8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228" y="36355549"/>
            <a:ext cx="1681222" cy="6009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ctr"/>
          <a:lstStyle xmlns:a="http://schemas.openxmlformats.org/drawingml/2006/main"/>
          <a:p xmlns:a="http://schemas.openxmlformats.org/drawingml/2006/main"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3 models</a:t>
            </a:r>
          </a:p>
        </p:txBody>
      </p:sp>
      <p:sp>
        <p:nvSpPr>
          <p:cNvPr id="171" name="직사각형 170">
            <a:extLst xmlns:a="http://schemas.openxmlformats.org/drawingml/2006/main">
              <a:ext uri="{FF2B5EF4-FFF2-40B4-BE49-F238E27FC236}">
                <a16:creationId xmlns:a16="http://schemas.microsoft.com/office/drawing/2014/main" id="{EC52906A-714B-91A5-0D0D-B75CCFB5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2733" y="37398703"/>
            <a:ext cx="1681222" cy="6009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ctr"/>
          <a:lstStyle xmlns:a="http://schemas.openxmlformats.org/drawingml/2006/main"/>
          <a:p xmlns:a="http://schemas.openxmlformats.org/drawingml/2006/main"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3 models</a:t>
            </a:r>
          </a:p>
        </p:txBody>
      </p:sp>
      <p:sp>
        <p:nvSpPr>
          <p:cNvPr id="173" name="직사각형 172">
            <a:extLst xmlns:a="http://schemas.openxmlformats.org/drawingml/2006/main">
              <a:ext uri="{FF2B5EF4-FFF2-40B4-BE49-F238E27FC236}">
                <a16:creationId xmlns:a16="http://schemas.microsoft.com/office/drawing/2014/main" id="{B4496B56-2580-DAA9-4975-E322A536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971" y="37398703"/>
            <a:ext cx="1681222" cy="6009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ctr"/>
          <a:lstStyle xmlns:a="http://schemas.openxmlformats.org/drawingml/2006/main"/>
          <a:p xmlns:a="http://schemas.openxmlformats.org/drawingml/2006/main"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3 models</a:t>
            </a:r>
          </a:p>
        </p:txBody>
      </p:sp>
      <p:sp>
        <p:nvSpPr>
          <p:cNvPr id="175" name="직사각형 174">
            <a:extLst xmlns:a="http://schemas.openxmlformats.org/drawingml/2006/main">
              <a:ext uri="{FF2B5EF4-FFF2-40B4-BE49-F238E27FC236}">
                <a16:creationId xmlns:a16="http://schemas.microsoft.com/office/drawing/2014/main" id="{871A3BFC-2B78-646B-0A7B-01B76A7D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6457" y="36355549"/>
            <a:ext cx="1681222" cy="6009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ctr"/>
          <a:lstStyle xmlns:a="http://schemas.openxmlformats.org/drawingml/2006/main"/>
          <a:p xmlns:a="http://schemas.openxmlformats.org/drawingml/2006/main"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4</a:t>
            </a: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models</a:t>
            </a:r>
          </a:p>
        </p:txBody>
      </p:sp>
      <p:pic>
        <p:nvPicPr>
          <p:cNvPr id="772" name="그림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2f94770bb42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73537" y="-81800"/>
            <a:ext cx="4566577" cy="1983619"/>
          </a:xfrm>
          <a:prstGeom xmlns:a="http://schemas.openxmlformats.org/drawingml/2006/main" prst="rect">
            <a:avLst/>
          </a:prstGeom>
        </p:spPr>
      </p:pic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F2B088FE-269B-F73A-1515-4444DCD5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800" y="40617501"/>
            <a:ext cx="179810" cy="1798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46E"/>
          </a:solidFill>
          <a:ln xmlns:a="http://schemas.openxmlformats.org/drawingml/2006/main" w="0">
            <a:solidFill>
              <a:srgbClr val="5974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E40CE882-D77E-2CF9-4B66-EA0931AB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889" y="41258302"/>
            <a:ext cx="8611957" cy="816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t"/>
          <a:lstStyle xmlns:a="http://schemas.openxmlformats.org/drawingml/2006/main"/>
          <a:p xmlns:a="http://schemas.openxmlformats.org/drawingml/2006/main"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</a:t>
            </a: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정답 마스크가 없는 실제 추론 환경에서도, 과거 검증 성능과 현재 후보 마스크의 합의도·품질 정보를 결합해 선택 근거를 제시할 수 있다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D454A666-EB34-DF6B-4FA2-894D26B2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225" y="41494110"/>
            <a:ext cx="179810" cy="1798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46E"/>
          </a:solidFill>
          <a:ln xmlns:a="http://schemas.openxmlformats.org/drawingml/2006/main" w="0">
            <a:solidFill>
              <a:srgbClr val="5974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7" name="직사각형 106">
            <a:extLst xmlns:a="http://schemas.openxmlformats.org/drawingml/2006/main">
              <a:ext uri="{FF2B5EF4-FFF2-40B4-BE49-F238E27FC236}">
                <a16:creationId xmlns:a16="http://schemas.microsoft.com/office/drawing/2014/main" id="{6A128E92-3526-6BC5-C1AB-B9EEC2B2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0611" y="39375316"/>
            <a:ext cx="4821775" cy="93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t"/>
          <a:lstStyle xmlns:a="http://schemas.openxmlformats.org/drawingml/2006/main"/>
          <a:p xmlns:a="http://schemas.openxmlformats.org/drawingml/2006/main">
            <a:pPr algn="l">
              <a:buNone/>
              <a:defRPr sz="3540" b="1">
                <a:solidFill>
                  <a:srgbClr val="637D8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chemeClr val="accent6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논의 및 제한점</a:t>
            </a:r>
          </a:p>
        </p:txBody>
      </p:sp>
      <p:sp>
        <p:nvSpPr>
          <p:cNvPr id="179" name="직사각형 178">
            <a:extLst xmlns:a="http://schemas.openxmlformats.org/drawingml/2006/main">
              <a:ext uri="{FF2B5EF4-FFF2-40B4-BE49-F238E27FC236}">
                <a16:creationId xmlns:a16="http://schemas.microsoft.com/office/drawing/2014/main" id="{81B5DFC6-42FE-D37C-19C9-8E6FD25E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9842" y="40287190"/>
            <a:ext cx="8608623" cy="9831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t"/>
          <a:lstStyle xmlns:a="http://schemas.openxmlformats.org/drawingml/2006/main"/>
          <a:p xmlns:a="http://schemas.openxmlformats.org/drawingml/2006/main"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 </a:t>
            </a: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CT 심장에서는 volumefraction guardrail과 fallback이 비정상 마스크 선택 방지에 중요</a:t>
            </a:r>
          </a:p>
          <a:p xmlns:a="http://schemas.openxmlformats.org/drawingml/2006/main"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1" name="직사각형 180">
            <a:extLst xmlns:a="http://schemas.openxmlformats.org/drawingml/2006/main">
              <a:ext uri="{FF2B5EF4-FFF2-40B4-BE49-F238E27FC236}">
                <a16:creationId xmlns:a16="http://schemas.microsoft.com/office/drawing/2014/main" id="{9DA641C4-60F3-1E08-240B-92FD9B39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8846" y="40501865"/>
            <a:ext cx="179810" cy="1798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46E"/>
          </a:solidFill>
          <a:ln xmlns:a="http://schemas.openxmlformats.org/drawingml/2006/main" w="0">
            <a:solidFill>
              <a:srgbClr val="5974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3" name="직사각형 182">
            <a:extLst xmlns:a="http://schemas.openxmlformats.org/drawingml/2006/main">
              <a:ext uri="{FF2B5EF4-FFF2-40B4-BE49-F238E27FC236}">
                <a16:creationId xmlns:a16="http://schemas.microsoft.com/office/drawing/2014/main" id="{69F1E9A5-70B0-F6B8-7B00-8DFB2E83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5935" y="41142666"/>
            <a:ext cx="8834988" cy="816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9810" tIns="143884" rIns="179810" bIns="143884" anchor="t"/>
          <a:lstStyle xmlns:a="http://schemas.openxmlformats.org/drawingml/2006/main"/>
          <a:p xmlns:a="http://schemas.openxmlformats.org/drawingml/2006/main"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</a:t>
            </a: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현재 후보 모델 수와 데이터셋 범위가 제한적이며, fallback 3 case 발생</a:t>
            </a:r>
          </a:p>
          <a:p xmlns:a="http://schemas.openxmlformats.org/drawingml/2006/main"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5" name="직사각형 184">
            <a:extLst xmlns:a="http://schemas.openxmlformats.org/drawingml/2006/main">
              <a:ext uri="{FF2B5EF4-FFF2-40B4-BE49-F238E27FC236}">
                <a16:creationId xmlns:a16="http://schemas.microsoft.com/office/drawing/2014/main" id="{BB6C83B2-00A4-B3E9-BFA1-F4437E51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8271" y="41378474"/>
            <a:ext cx="179810" cy="1798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46E"/>
          </a:solidFill>
          <a:ln xmlns:a="http://schemas.openxmlformats.org/drawingml/2006/main" w="0">
            <a:solidFill>
              <a:srgbClr val="5974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2" name="직사각형 341">
            <a:extLst xmlns:a="http://schemas.openxmlformats.org/drawingml/2006/main">
              <a:ext uri="{FF2B5EF4-FFF2-40B4-BE49-F238E27FC236}">
                <a16:creationId xmlns:a16="http://schemas.microsoft.com/office/drawing/2014/main" id="{E27D3AA2-9451-4B8D-A13D-BDDD07DD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31745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948"/>
          </a:solidFill>
          <a:ln xmlns:a="http://schemas.openxmlformats.org/drawingml/2006/main" w="9525">
            <a:solidFill>
              <a:srgbClr val="1E39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3" name="직사각형 342">
            <a:extLst xmlns:a="http://schemas.openxmlformats.org/drawingml/2006/main">
              <a:ext uri="{FF2B5EF4-FFF2-40B4-BE49-F238E27FC236}">
                <a16:creationId xmlns:a16="http://schemas.microsoft.com/office/drawing/2014/main" id="{5C89F79B-417C-4616-A863-80128E8E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355550"/>
            <a:ext cx="318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field</a:t>
            </a:r>
          </a:p>
        </p:txBody>
      </p:sp>
      <p:sp>
        <p:nvSpPr>
          <p:cNvPr id="344" name="직사각형 343">
            <a:extLst xmlns:a="http://schemas.openxmlformats.org/drawingml/2006/main">
              <a:ext uri="{FF2B5EF4-FFF2-40B4-BE49-F238E27FC236}">
                <a16:creationId xmlns:a16="http://schemas.microsoft.com/office/drawing/2014/main" id="{5E31D625-BF89-4C50-924B-38B8F336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31745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948"/>
          </a:solidFill>
          <a:ln xmlns:a="http://schemas.openxmlformats.org/drawingml/2006/main" w="9525">
            <a:solidFill>
              <a:srgbClr val="1E39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5" name="직사각형 344">
            <a:extLst xmlns:a="http://schemas.openxmlformats.org/drawingml/2006/main">
              <a:ext uri="{FF2B5EF4-FFF2-40B4-BE49-F238E27FC236}">
                <a16:creationId xmlns:a16="http://schemas.microsoft.com/office/drawing/2014/main" id="{807884FD-1299-49F6-B6DD-543BC589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355550"/>
            <a:ext cx="527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346" name="직사각형 345">
            <a:extLst xmlns:a="http://schemas.openxmlformats.org/drawingml/2006/main">
              <a:ext uri="{FF2B5EF4-FFF2-40B4-BE49-F238E27FC236}">
                <a16:creationId xmlns:a16="http://schemas.microsoft.com/office/drawing/2014/main" id="{9824502A-B672-4554-A257-8A8B08BB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53174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948"/>
          </a:solidFill>
          <a:ln xmlns:a="http://schemas.openxmlformats.org/drawingml/2006/main" w="9525">
            <a:solidFill>
              <a:srgbClr val="1E39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7" name="직사각형 346">
            <a:extLst xmlns:a="http://schemas.openxmlformats.org/drawingml/2006/main">
              <a:ext uri="{FF2B5EF4-FFF2-40B4-BE49-F238E27FC236}">
                <a16:creationId xmlns:a16="http://schemas.microsoft.com/office/drawing/2014/main" id="{5F8EBE21-BC46-44D7-A247-89D87992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5355550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종류</a:t>
            </a:r>
          </a:p>
        </p:txBody>
      </p:sp>
      <p:sp>
        <p:nvSpPr>
          <p:cNvPr id="348" name="직사각형 347">
            <a:extLst xmlns:a="http://schemas.openxmlformats.org/drawingml/2006/main">
              <a:ext uri="{FF2B5EF4-FFF2-40B4-BE49-F238E27FC236}">
                <a16:creationId xmlns:a16="http://schemas.microsoft.com/office/drawing/2014/main" id="{EDFD5176-12BB-47F0-8F49-D16B02A0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8699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9" name="직사각형 348">
            <a:extLst xmlns:a="http://schemas.openxmlformats.org/drawingml/2006/main">
              <a:ext uri="{FF2B5EF4-FFF2-40B4-BE49-F238E27FC236}">
                <a16:creationId xmlns:a16="http://schemas.microsoft.com/office/drawing/2014/main" id="{DDD5C61B-2E64-480B-993F-529D2C4A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0"/>
            <a:ext cx="318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execution_status</a:t>
            </a:r>
          </a:p>
        </p:txBody>
      </p:sp>
      <p:sp>
        <p:nvSpPr>
          <p:cNvPr id="350" name="직사각형 349">
            <a:extLst xmlns:a="http://schemas.openxmlformats.org/drawingml/2006/main">
              <a:ext uri="{FF2B5EF4-FFF2-40B4-BE49-F238E27FC236}">
                <a16:creationId xmlns:a16="http://schemas.microsoft.com/office/drawing/2014/main" id="{B7BD6902-B881-442A-A0B0-F8AB1B7F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869900"/>
            <a:ext cx="542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1" name="직사각형 350">
            <a:extLst xmlns:a="http://schemas.openxmlformats.org/drawingml/2006/main">
              <a:ext uri="{FF2B5EF4-FFF2-40B4-BE49-F238E27FC236}">
                <a16:creationId xmlns:a16="http://schemas.microsoft.com/office/drawing/2014/main" id="{5AAB3C2B-7B72-4F93-A10A-569C6CB5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908000"/>
            <a:ext cx="527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모델 실행 성공 여부</a:t>
            </a:r>
          </a:p>
        </p:txBody>
      </p:sp>
      <p:sp>
        <p:nvSpPr>
          <p:cNvPr id="352" name="직사각형 351">
            <a:extLst xmlns:a="http://schemas.openxmlformats.org/drawingml/2006/main">
              <a:ext uri="{FF2B5EF4-FFF2-40B4-BE49-F238E27FC236}">
                <a16:creationId xmlns:a16="http://schemas.microsoft.com/office/drawing/2014/main" id="{BAF11D0F-746E-4AB0-BFDA-3D0743F0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58699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3" name="직사각형 352">
            <a:extLst xmlns:a="http://schemas.openxmlformats.org/drawingml/2006/main">
              <a:ext uri="{FF2B5EF4-FFF2-40B4-BE49-F238E27FC236}">
                <a16:creationId xmlns:a16="http://schemas.microsoft.com/office/drawing/2014/main" id="{072021D3-764E-4EA5-A6E1-9A8D202E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5908000"/>
            <a:ext cx="2705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상태 플래그</a:t>
            </a:r>
          </a:p>
        </p:txBody>
      </p:sp>
      <p:sp>
        <p:nvSpPr>
          <p:cNvPr id="354" name="직사각형 353">
            <a:extLst xmlns:a="http://schemas.openxmlformats.org/drawingml/2006/main">
              <a:ext uri="{FF2B5EF4-FFF2-40B4-BE49-F238E27FC236}">
                <a16:creationId xmlns:a16="http://schemas.microsoft.com/office/drawing/2014/main" id="{246E025D-8F2C-47DB-9905-44E2CDA0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53665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5" name="직사각형 354">
            <a:extLst xmlns:a="http://schemas.openxmlformats.org/drawingml/2006/main">
              <a:ext uri="{FF2B5EF4-FFF2-40B4-BE49-F238E27FC236}">
                <a16:creationId xmlns:a16="http://schemas.microsoft.com/office/drawing/2014/main" id="{5EBDD734-EC6B-459D-ABCF-83988E13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574750"/>
            <a:ext cx="318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prior_routing_score</a:t>
            </a:r>
          </a:p>
        </p:txBody>
      </p:sp>
      <p:sp>
        <p:nvSpPr>
          <p:cNvPr id="356" name="직사각형 355">
            <a:extLst xmlns:a="http://schemas.openxmlformats.org/drawingml/2006/main">
              <a:ext uri="{FF2B5EF4-FFF2-40B4-BE49-F238E27FC236}">
                <a16:creationId xmlns:a16="http://schemas.microsoft.com/office/drawing/2014/main" id="{2BD11088-8711-4833-BAD6-92DE917B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536650"/>
            <a:ext cx="542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7" name="직사각형 356">
            <a:extLst xmlns:a="http://schemas.openxmlformats.org/drawingml/2006/main">
              <a:ext uri="{FF2B5EF4-FFF2-40B4-BE49-F238E27FC236}">
                <a16:creationId xmlns:a16="http://schemas.microsoft.com/office/drawing/2014/main" id="{2C33FB76-D7DE-40CD-A6A8-66BD0269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574750"/>
            <a:ext cx="527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과거 검증 결과 기반 사전 점수</a:t>
            </a:r>
          </a:p>
        </p:txBody>
      </p:sp>
      <p:sp>
        <p:nvSpPr>
          <p:cNvPr id="358" name="직사각형 357">
            <a:extLst xmlns:a="http://schemas.openxmlformats.org/drawingml/2006/main">
              <a:ext uri="{FF2B5EF4-FFF2-40B4-BE49-F238E27FC236}">
                <a16:creationId xmlns:a16="http://schemas.microsoft.com/office/drawing/2014/main" id="{77BE33CE-BC38-4D78-8346-C5CBD963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65366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9" name="직사각형 358">
            <a:extLst xmlns:a="http://schemas.openxmlformats.org/drawingml/2006/main">
              <a:ext uri="{FF2B5EF4-FFF2-40B4-BE49-F238E27FC236}">
                <a16:creationId xmlns:a16="http://schemas.microsoft.com/office/drawing/2014/main" id="{89D1F74A-85F1-4884-97CE-847F156E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6574750"/>
            <a:ext cx="2705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과거 근거</a:t>
            </a:r>
          </a:p>
        </p:txBody>
      </p:sp>
      <p:sp>
        <p:nvSpPr>
          <p:cNvPr id="360" name="직사각형 359">
            <a:extLst xmlns:a="http://schemas.openxmlformats.org/drawingml/2006/main">
              <a:ext uri="{FF2B5EF4-FFF2-40B4-BE49-F238E27FC236}">
                <a16:creationId xmlns:a16="http://schemas.microsoft.com/office/drawing/2014/main" id="{1A0C766B-1E29-41ED-8CCE-943C7191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2034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1" name="직사각형 360">
            <a:extLst xmlns:a="http://schemas.openxmlformats.org/drawingml/2006/main">
              <a:ext uri="{FF2B5EF4-FFF2-40B4-BE49-F238E27FC236}">
                <a16:creationId xmlns:a16="http://schemas.microsoft.com/office/drawing/2014/main" id="{A82C2EE5-DCD0-4FE7-811F-F0A73CBF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0"/>
            <a:ext cx="318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overlap_score</a:t>
            </a:r>
          </a:p>
        </p:txBody>
      </p:sp>
      <p:sp>
        <p:nvSpPr>
          <p:cNvPr id="362" name="직사각형 361">
            <a:extLst xmlns:a="http://schemas.openxmlformats.org/drawingml/2006/main">
              <a:ext uri="{FF2B5EF4-FFF2-40B4-BE49-F238E27FC236}">
                <a16:creationId xmlns:a16="http://schemas.microsoft.com/office/drawing/2014/main" id="{419DF133-5B81-4307-93B3-63D1F4F5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203400"/>
            <a:ext cx="542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3" name="직사각형 362">
            <a:extLst xmlns:a="http://schemas.openxmlformats.org/drawingml/2006/main">
              <a:ext uri="{FF2B5EF4-FFF2-40B4-BE49-F238E27FC236}">
                <a16:creationId xmlns:a16="http://schemas.microsoft.com/office/drawing/2014/main" id="{DA938A30-E18A-486C-94A8-97B23F5E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0"/>
            <a:ext cx="527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후보 마스크 간 합의 기반 점수</a:t>
            </a:r>
          </a:p>
        </p:txBody>
      </p:sp>
      <p:sp>
        <p:nvSpPr>
          <p:cNvPr id="364" name="직사각형 363">
            <a:extLst xmlns:a="http://schemas.openxmlformats.org/drawingml/2006/main">
              <a:ext uri="{FF2B5EF4-FFF2-40B4-BE49-F238E27FC236}">
                <a16:creationId xmlns:a16="http://schemas.microsoft.com/office/drawing/2014/main" id="{B0756040-D307-4FAC-A3E6-BED4A8D1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2034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5" name="직사각형 364">
            <a:extLst xmlns:a="http://schemas.openxmlformats.org/drawingml/2006/main">
              <a:ext uri="{FF2B5EF4-FFF2-40B4-BE49-F238E27FC236}">
                <a16:creationId xmlns:a16="http://schemas.microsoft.com/office/drawing/2014/main" id="{6748A883-424B-446E-9F2C-59D3C30D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7241500"/>
            <a:ext cx="2705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현재 입력(no-GT)</a:t>
            </a:r>
          </a:p>
        </p:txBody>
      </p:sp>
      <p:sp>
        <p:nvSpPr>
          <p:cNvPr id="366" name="직사각형 365">
            <a:extLst xmlns:a="http://schemas.openxmlformats.org/drawingml/2006/main">
              <a:ext uri="{FF2B5EF4-FFF2-40B4-BE49-F238E27FC236}">
                <a16:creationId xmlns:a16="http://schemas.microsoft.com/office/drawing/2014/main" id="{B73B1867-A2A5-460E-A641-46C008B0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87015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7" name="직사각형 366">
            <a:extLst xmlns:a="http://schemas.openxmlformats.org/drawingml/2006/main">
              <a:ext uri="{FF2B5EF4-FFF2-40B4-BE49-F238E27FC236}">
                <a16:creationId xmlns:a16="http://schemas.microsoft.com/office/drawing/2014/main" id="{F31B7B77-C356-4E40-A867-8551617B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908250"/>
            <a:ext cx="318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mask_quality_score</a:t>
            </a:r>
          </a:p>
        </p:txBody>
      </p:sp>
      <p:sp>
        <p:nvSpPr>
          <p:cNvPr id="368" name="직사각형 367">
            <a:extLst xmlns:a="http://schemas.openxmlformats.org/drawingml/2006/main">
              <a:ext uri="{FF2B5EF4-FFF2-40B4-BE49-F238E27FC236}">
                <a16:creationId xmlns:a16="http://schemas.microsoft.com/office/drawing/2014/main" id="{85673FA1-C3F7-4E8F-9917-AB7F696C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870150"/>
            <a:ext cx="542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9" name="직사각형 368">
            <a:extLst xmlns:a="http://schemas.openxmlformats.org/drawingml/2006/main">
              <a:ext uri="{FF2B5EF4-FFF2-40B4-BE49-F238E27FC236}">
                <a16:creationId xmlns:a16="http://schemas.microsoft.com/office/drawing/2014/main" id="{480D1AFF-52E6-4243-8D26-72A6497D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908250"/>
            <a:ext cx="527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면적/연결성/구멍 등 마스크 품질</a:t>
            </a:r>
          </a:p>
        </p:txBody>
      </p:sp>
      <p:sp>
        <p:nvSpPr>
          <p:cNvPr id="370" name="직사각형 369">
            <a:extLst xmlns:a="http://schemas.openxmlformats.org/drawingml/2006/main">
              <a:ext uri="{FF2B5EF4-FFF2-40B4-BE49-F238E27FC236}">
                <a16:creationId xmlns:a16="http://schemas.microsoft.com/office/drawing/2014/main" id="{700288D7-80CD-4D15-9E46-77981B56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8701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1" name="직사각형 370">
            <a:extLst xmlns:a="http://schemas.openxmlformats.org/drawingml/2006/main">
              <a:ext uri="{FF2B5EF4-FFF2-40B4-BE49-F238E27FC236}">
                <a16:creationId xmlns:a16="http://schemas.microsoft.com/office/drawing/2014/main" id="{D3DD587D-EB47-4C41-82C2-D662E201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7908250"/>
            <a:ext cx="2705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현재 입력(no-GT)</a:t>
            </a:r>
          </a:p>
        </p:txBody>
      </p:sp>
      <p:sp>
        <p:nvSpPr>
          <p:cNvPr id="372" name="직사각형 371">
            <a:extLst xmlns:a="http://schemas.openxmlformats.org/drawingml/2006/main">
              <a:ext uri="{FF2B5EF4-FFF2-40B4-BE49-F238E27FC236}">
                <a16:creationId xmlns:a16="http://schemas.microsoft.com/office/drawing/2014/main" id="{106703D1-5944-4117-96B2-3F18DA78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5369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3" name="직사각형 372">
            <a:extLst xmlns:a="http://schemas.openxmlformats.org/drawingml/2006/main">
              <a:ext uri="{FF2B5EF4-FFF2-40B4-BE49-F238E27FC236}">
                <a16:creationId xmlns:a16="http://schemas.microsoft.com/office/drawing/2014/main" id="{C2EC9E3E-4815-43D0-AFE5-0D1C15F7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0"/>
            <a:ext cx="318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routing_score</a:t>
            </a:r>
          </a:p>
        </p:txBody>
      </p:sp>
      <p:sp>
        <p:nvSpPr>
          <p:cNvPr id="374" name="직사각형 373">
            <a:extLst xmlns:a="http://schemas.openxmlformats.org/drawingml/2006/main">
              <a:ext uri="{FF2B5EF4-FFF2-40B4-BE49-F238E27FC236}">
                <a16:creationId xmlns:a16="http://schemas.microsoft.com/office/drawing/2014/main" id="{C6681F9F-6513-4AB5-AF5B-C3B69ECA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536900"/>
            <a:ext cx="542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5" name="직사각형 374">
            <a:extLst xmlns:a="http://schemas.openxmlformats.org/drawingml/2006/main">
              <a:ext uri="{FF2B5EF4-FFF2-40B4-BE49-F238E27FC236}">
                <a16:creationId xmlns:a16="http://schemas.microsoft.com/office/drawing/2014/main" id="{5F6BAE29-715B-474E-8647-2763A47B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75000"/>
            <a:ext cx="527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최종 선택에 사용하는 결합 점수</a:t>
            </a:r>
          </a:p>
        </p:txBody>
      </p:sp>
      <p:sp>
        <p:nvSpPr>
          <p:cNvPr id="376" name="직사각형 375">
            <a:extLst xmlns:a="http://schemas.openxmlformats.org/drawingml/2006/main">
              <a:ext uri="{FF2B5EF4-FFF2-40B4-BE49-F238E27FC236}">
                <a16:creationId xmlns:a16="http://schemas.microsoft.com/office/drawing/2014/main" id="{B07B0036-8BD8-44C6-8F72-2328433B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85369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7" name="직사각형 376">
            <a:extLst xmlns:a="http://schemas.openxmlformats.org/drawingml/2006/main">
              <a:ext uri="{FF2B5EF4-FFF2-40B4-BE49-F238E27FC236}">
                <a16:creationId xmlns:a16="http://schemas.microsoft.com/office/drawing/2014/main" id="{7CAB413B-A03B-4E4D-A818-AA4A2BF8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8575000"/>
            <a:ext cx="2705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결합 점수</a:t>
            </a:r>
          </a:p>
        </p:txBody>
      </p:sp>
      <p:sp>
        <p:nvSpPr>
          <p:cNvPr id="378" name="직사각형 377">
            <a:extLst xmlns:a="http://schemas.openxmlformats.org/drawingml/2006/main">
              <a:ext uri="{FF2B5EF4-FFF2-40B4-BE49-F238E27FC236}">
                <a16:creationId xmlns:a16="http://schemas.microsoft.com/office/drawing/2014/main" id="{4DC33979-85D4-4184-95FF-095988C8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670375"/>
            <a:ext cx="1162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0">
            <a:solidFill>
              <a:srgbClr val="EEF2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9" name="직사각형 378">
            <a:extLst xmlns:a="http://schemas.openxmlformats.org/drawingml/2006/main">
              <a:ext uri="{FF2B5EF4-FFF2-40B4-BE49-F238E27FC236}">
                <a16:creationId xmlns:a16="http://schemas.microsoft.com/office/drawing/2014/main" id="{689872F2-F330-45A9-BB6E-9EDB7ECC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765625"/>
            <a:ext cx="1119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Routing Score = 0.60 Prior + 0.20 Overlap + 0.20 Quality</a:t>
            </a:r>
          </a:p>
        </p:txBody>
      </p:sp>
      <p:sp>
        <p:nvSpPr>
          <p:cNvPr id="380" name="직사각형 379">
            <a:extLst xmlns:a="http://schemas.openxmlformats.org/drawingml/2006/main">
              <a:ext uri="{FF2B5EF4-FFF2-40B4-BE49-F238E27FC236}">
                <a16:creationId xmlns:a16="http://schemas.microsoft.com/office/drawing/2014/main" id="{4D51E2C6-1122-4174-9117-6676285D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7752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3"/>
          </a:solidFill>
          <a:ln xmlns:a="http://schemas.openxmlformats.org/drawingml/2006/main" w="0">
            <a:solidFill>
              <a:srgbClr val="657C7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1" name="직사각형 380">
            <a:extLst xmlns:a="http://schemas.openxmlformats.org/drawingml/2006/main">
              <a:ext uri="{FF2B5EF4-FFF2-40B4-BE49-F238E27FC236}">
                <a16:creationId xmlns:a16="http://schemas.microsoft.com/office/drawing/2014/main" id="{26F589B6-BF9C-4CA8-A69F-FE970096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062287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실행 실패 또는 비정상 마스크는 hard constraint와 fallback으로 선택에서 제외한다.</a:t>
            </a:r>
          </a:p>
        </p:txBody>
      </p:sp>
      <p:sp>
        <p:nvSpPr>
          <p:cNvPr id="382" name="직사각형 381">
            <a:extLst xmlns:a="http://schemas.openxmlformats.org/drawingml/2006/main">
              <a:ext uri="{FF2B5EF4-FFF2-40B4-BE49-F238E27FC236}">
                <a16:creationId xmlns:a16="http://schemas.microsoft.com/office/drawing/2014/main" id="{77B165C5-22B3-49D2-AB6B-D99DE4FC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4420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3"/>
          </a:solidFill>
          <a:ln xmlns:a="http://schemas.openxmlformats.org/drawingml/2006/main" w="0">
            <a:solidFill>
              <a:srgbClr val="657C7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3" name="직사각형 382">
            <a:extLst xmlns:a="http://schemas.openxmlformats.org/drawingml/2006/main">
              <a:ext uri="{FF2B5EF4-FFF2-40B4-BE49-F238E27FC236}">
                <a16:creationId xmlns:a16="http://schemas.microsoft.com/office/drawing/2014/main" id="{A5CF5A3B-EC40-4E2A-A7B3-ACEF7CA1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1289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prior는 과거 검증 근거, overlap/quality는 현재 입력에서 GT 없이 계산되는 근거이다.</a:t>
            </a:r>
          </a:p>
        </p:txBody>
      </p:sp>
      <p:sp>
        <p:nvSpPr>
          <p:cNvPr id="384" name="직사각형 383">
            <a:extLst xmlns:a="http://schemas.openxmlformats.org/drawingml/2006/main">
              <a:ext uri="{FF2B5EF4-FFF2-40B4-BE49-F238E27FC236}">
                <a16:creationId xmlns:a16="http://schemas.microsoft.com/office/drawing/2014/main" id="{F386206F-C90D-43C2-8A08-82755562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7858125"/>
            <a:ext cx="1143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전체 라우팅 평균 일치율 94.5%</a:t>
            </a:r>
          </a:p>
        </p:txBody>
      </p:sp>
      <p:sp>
        <p:nvSpPr>
          <p:cNvPr id="385" name="직사각형 384">
            <a:extLst xmlns:a="http://schemas.openxmlformats.org/drawingml/2006/main">
              <a:ext uri="{FF2B5EF4-FFF2-40B4-BE49-F238E27FC236}">
                <a16:creationId xmlns:a16="http://schemas.microsoft.com/office/drawing/2014/main" id="{F159C0CB-8467-4AB9-87F5-D44582F1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88582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948"/>
          </a:solidFill>
          <a:ln xmlns:a="http://schemas.openxmlformats.org/drawingml/2006/main" w="9525">
            <a:solidFill>
              <a:srgbClr val="1E39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6" name="직사각형 385">
            <a:extLst xmlns:a="http://schemas.openxmlformats.org/drawingml/2006/main">
              <a:ext uri="{FF2B5EF4-FFF2-40B4-BE49-F238E27FC236}">
                <a16:creationId xmlns:a16="http://schemas.microsoft.com/office/drawing/2014/main" id="{4DA5CF09-1C2F-443C-927A-2D5E9401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88963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조건</a:t>
            </a:r>
          </a:p>
        </p:txBody>
      </p:sp>
      <p:sp>
        <p:nvSpPr>
          <p:cNvPr id="387" name="직사각형 386">
            <a:extLst xmlns:a="http://schemas.openxmlformats.org/drawingml/2006/main">
              <a:ext uri="{FF2B5EF4-FFF2-40B4-BE49-F238E27FC236}">
                <a16:creationId xmlns:a16="http://schemas.microsoft.com/office/drawing/2014/main" id="{441F684B-54BD-4564-9AAA-EC628534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0" y="88582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948"/>
          </a:solidFill>
          <a:ln xmlns:a="http://schemas.openxmlformats.org/drawingml/2006/main" w="9525">
            <a:solidFill>
              <a:srgbClr val="1E39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8" name="직사각형 387">
            <a:extLst xmlns:a="http://schemas.openxmlformats.org/drawingml/2006/main">
              <a:ext uri="{FF2B5EF4-FFF2-40B4-BE49-F238E27FC236}">
                <a16:creationId xmlns:a16="http://schemas.microsoft.com/office/drawing/2014/main" id="{5956128A-97BA-40F2-BC4D-91767E75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6700" y="8896350"/>
            <a:ext cx="241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일치 case</a:t>
            </a:r>
          </a:p>
        </p:txBody>
      </p:sp>
      <p:sp>
        <p:nvSpPr>
          <p:cNvPr id="389" name="직사각형 388">
            <a:extLst xmlns:a="http://schemas.openxmlformats.org/drawingml/2006/main">
              <a:ext uri="{FF2B5EF4-FFF2-40B4-BE49-F238E27FC236}">
                <a16:creationId xmlns:a16="http://schemas.microsoft.com/office/drawing/2014/main" id="{5B8F46CC-A46A-4A12-B51F-C6C05FC3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88582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948"/>
          </a:solidFill>
          <a:ln xmlns:a="http://schemas.openxmlformats.org/drawingml/2006/main" w="9525">
            <a:solidFill>
              <a:srgbClr val="1E39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0" name="직사각형 389">
            <a:extLst xmlns:a="http://schemas.openxmlformats.org/drawingml/2006/main">
              <a:ext uri="{FF2B5EF4-FFF2-40B4-BE49-F238E27FC236}">
                <a16:creationId xmlns:a16="http://schemas.microsoft.com/office/drawing/2014/main" id="{B302CF75-6927-4FAB-B981-241DBD66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8450" y="88963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일치율</a:t>
            </a:r>
          </a:p>
        </p:txBody>
      </p:sp>
      <p:sp>
        <p:nvSpPr>
          <p:cNvPr id="391" name="직사각형 390">
            <a:extLst xmlns:a="http://schemas.openxmlformats.org/drawingml/2006/main">
              <a:ext uri="{FF2B5EF4-FFF2-40B4-BE49-F238E27FC236}">
                <a16:creationId xmlns:a16="http://schemas.microsoft.com/office/drawing/2014/main" id="{752BC0A1-1A05-4713-8D18-70A9A256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88582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948"/>
          </a:solidFill>
          <a:ln xmlns:a="http://schemas.openxmlformats.org/drawingml/2006/main" w="9525">
            <a:solidFill>
              <a:srgbClr val="1E39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2" name="직사각형 391">
            <a:extLst xmlns:a="http://schemas.openxmlformats.org/drawingml/2006/main">
              <a:ext uri="{FF2B5EF4-FFF2-40B4-BE49-F238E27FC236}">
                <a16:creationId xmlns:a16="http://schemas.microsoft.com/office/drawing/2014/main" id="{BDED7AF8-161A-42C4-9477-019A409F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9200" y="88963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비고</a:t>
            </a:r>
          </a:p>
        </p:txBody>
      </p:sp>
      <p:sp>
        <p:nvSpPr>
          <p:cNvPr id="393" name="직사각형 392">
            <a:extLst xmlns:a="http://schemas.openxmlformats.org/drawingml/2006/main">
              <a:ext uri="{FF2B5EF4-FFF2-40B4-BE49-F238E27FC236}">
                <a16:creationId xmlns:a16="http://schemas.microsoft.com/office/drawing/2014/main" id="{8616DB29-6A1B-40C9-B0D1-B72B8431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10700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4" name="직사각형 393">
            <a:extLst xmlns:a="http://schemas.openxmlformats.org/drawingml/2006/main">
              <a:ext uri="{FF2B5EF4-FFF2-40B4-BE49-F238E27FC236}">
                <a16:creationId xmlns:a16="http://schemas.microsoft.com/office/drawing/2014/main" id="{42C6C3FE-E7D3-4548-957B-8D460EA3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448800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CXR 폐</a:t>
            </a:r>
          </a:p>
        </p:txBody>
      </p:sp>
      <p:sp>
        <p:nvSpPr>
          <p:cNvPr id="395" name="직사각형 394">
            <a:extLst xmlns:a="http://schemas.openxmlformats.org/drawingml/2006/main">
              <a:ext uri="{FF2B5EF4-FFF2-40B4-BE49-F238E27FC236}">
                <a16:creationId xmlns:a16="http://schemas.microsoft.com/office/drawing/2014/main" id="{428DE730-8399-428C-A569-654A4CE4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0" y="941070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6" name="직사각형 395">
            <a:extLst xmlns:a="http://schemas.openxmlformats.org/drawingml/2006/main">
              <a:ext uri="{FF2B5EF4-FFF2-40B4-BE49-F238E27FC236}">
                <a16:creationId xmlns:a16="http://schemas.microsoft.com/office/drawing/2014/main" id="{AFD005C6-9D21-4990-9572-CAA2C6CA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6700" y="9448800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47 / 50</a:t>
            </a:r>
          </a:p>
        </p:txBody>
      </p:sp>
      <p:sp>
        <p:nvSpPr>
          <p:cNvPr id="397" name="직사각형 396">
            <a:extLst xmlns:a="http://schemas.openxmlformats.org/drawingml/2006/main">
              <a:ext uri="{FF2B5EF4-FFF2-40B4-BE49-F238E27FC236}">
                <a16:creationId xmlns:a16="http://schemas.microsoft.com/office/drawing/2014/main" id="{38993D3C-14F1-4B46-A9E6-4EE422BC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9410700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8" name="직사각형 397">
            <a:extLst xmlns:a="http://schemas.openxmlformats.org/drawingml/2006/main">
              <a:ext uri="{FF2B5EF4-FFF2-40B4-BE49-F238E27FC236}">
                <a16:creationId xmlns:a16="http://schemas.microsoft.com/office/drawing/2014/main" id="{8ECE83A7-6211-403F-BD5A-C49B0066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8450" y="944880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94.0%</a:t>
            </a:r>
          </a:p>
        </p:txBody>
      </p:sp>
      <p:sp>
        <p:nvSpPr>
          <p:cNvPr id="399" name="직사각형 398">
            <a:extLst xmlns:a="http://schemas.openxmlformats.org/drawingml/2006/main">
              <a:ext uri="{FF2B5EF4-FFF2-40B4-BE49-F238E27FC236}">
                <a16:creationId xmlns:a16="http://schemas.microsoft.com/office/drawing/2014/main" id="{CCB9435A-C260-4805-AEA6-B6556436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94107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0" name="직사각형 399">
            <a:extLst xmlns:a="http://schemas.openxmlformats.org/drawingml/2006/main">
              <a:ext uri="{FF2B5EF4-FFF2-40B4-BE49-F238E27FC236}">
                <a16:creationId xmlns:a16="http://schemas.microsoft.com/office/drawing/2014/main" id="{4F98F99A-37DB-4B78-9AAB-43B490AF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9200" y="9448800"/>
            <a:ext cx="3562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안정적 라우팅</a:t>
            </a:r>
          </a:p>
        </p:txBody>
      </p:sp>
      <p:sp>
        <p:nvSpPr>
          <p:cNvPr id="401" name="직사각형 400">
            <a:extLst xmlns:a="http://schemas.openxmlformats.org/drawingml/2006/main">
              <a:ext uri="{FF2B5EF4-FFF2-40B4-BE49-F238E27FC236}">
                <a16:creationId xmlns:a16="http://schemas.microsoft.com/office/drawing/2014/main" id="{FC58D440-6619-42A1-9FC4-5A2381F5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10058400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2" name="직사각형 401">
            <a:extLst xmlns:a="http://schemas.openxmlformats.org/drawingml/2006/main">
              <a:ext uri="{FF2B5EF4-FFF2-40B4-BE49-F238E27FC236}">
                <a16:creationId xmlns:a16="http://schemas.microsoft.com/office/drawing/2014/main" id="{CC21367D-8AA4-41D1-9EEB-C8BB263E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10096500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CXR 심장</a:t>
            </a:r>
          </a:p>
        </p:txBody>
      </p:sp>
      <p:sp>
        <p:nvSpPr>
          <p:cNvPr id="403" name="직사각형 402">
            <a:extLst xmlns:a="http://schemas.openxmlformats.org/drawingml/2006/main">
              <a:ext uri="{FF2B5EF4-FFF2-40B4-BE49-F238E27FC236}">
                <a16:creationId xmlns:a16="http://schemas.microsoft.com/office/drawing/2014/main" id="{1AE1B278-5E98-4425-8EA9-D4EB1FE3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0" y="1005840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4" name="직사각형 403">
            <a:extLst xmlns:a="http://schemas.openxmlformats.org/drawingml/2006/main">
              <a:ext uri="{FF2B5EF4-FFF2-40B4-BE49-F238E27FC236}">
                <a16:creationId xmlns:a16="http://schemas.microsoft.com/office/drawing/2014/main" id="{71D117CA-EDDA-41F0-8C7F-2829C744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6700" y="10096500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49 / 50</a:t>
            </a:r>
          </a:p>
        </p:txBody>
      </p:sp>
      <p:sp>
        <p:nvSpPr>
          <p:cNvPr id="405" name="직사각형 404">
            <a:extLst xmlns:a="http://schemas.openxmlformats.org/drawingml/2006/main">
              <a:ext uri="{FF2B5EF4-FFF2-40B4-BE49-F238E27FC236}">
                <a16:creationId xmlns:a16="http://schemas.microsoft.com/office/drawing/2014/main" id="{C3BDAE7D-3C03-458D-9F35-5E626E11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10058400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6" name="직사각형 405">
            <a:extLst xmlns:a="http://schemas.openxmlformats.org/drawingml/2006/main">
              <a:ext uri="{FF2B5EF4-FFF2-40B4-BE49-F238E27FC236}">
                <a16:creationId xmlns:a16="http://schemas.microsoft.com/office/drawing/2014/main" id="{B2338B47-076D-40E5-B823-5507EC68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8450" y="1009650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98.0%</a:t>
            </a:r>
          </a:p>
        </p:txBody>
      </p:sp>
      <p:sp>
        <p:nvSpPr>
          <p:cNvPr id="407" name="직사각형 406">
            <a:extLst xmlns:a="http://schemas.openxmlformats.org/drawingml/2006/main">
              <a:ext uri="{FF2B5EF4-FFF2-40B4-BE49-F238E27FC236}">
                <a16:creationId xmlns:a16="http://schemas.microsoft.com/office/drawing/2014/main" id="{EC094DB1-0DD8-4265-B548-5A1E7443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100584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8" name="직사각형 407">
            <a:extLst xmlns:a="http://schemas.openxmlformats.org/drawingml/2006/main">
              <a:ext uri="{FF2B5EF4-FFF2-40B4-BE49-F238E27FC236}">
                <a16:creationId xmlns:a16="http://schemas.microsoft.com/office/drawing/2014/main" id="{073A6203-0B35-4F37-8376-EE034AB8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9200" y="10096500"/>
            <a:ext cx="3562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높은 일치율</a:t>
            </a:r>
          </a:p>
        </p:txBody>
      </p:sp>
      <p:sp>
        <p:nvSpPr>
          <p:cNvPr id="409" name="직사각형 408">
            <a:extLst xmlns:a="http://schemas.openxmlformats.org/drawingml/2006/main">
              <a:ext uri="{FF2B5EF4-FFF2-40B4-BE49-F238E27FC236}">
                <a16:creationId xmlns:a16="http://schemas.microsoft.com/office/drawing/2014/main" id="{F2E829C7-4E5C-4807-B262-EBCB6742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10706100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0" name="직사각형 409">
            <a:extLst xmlns:a="http://schemas.openxmlformats.org/drawingml/2006/main">
              <a:ext uri="{FF2B5EF4-FFF2-40B4-BE49-F238E27FC236}">
                <a16:creationId xmlns:a16="http://schemas.microsoft.com/office/drawing/2014/main" id="{33FE420C-82EB-46C9-A391-219DA738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10744200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CT 폐</a:t>
            </a:r>
          </a:p>
        </p:txBody>
      </p:sp>
      <p:sp>
        <p:nvSpPr>
          <p:cNvPr id="411" name="직사각형 410">
            <a:extLst xmlns:a="http://schemas.openxmlformats.org/drawingml/2006/main">
              <a:ext uri="{FF2B5EF4-FFF2-40B4-BE49-F238E27FC236}">
                <a16:creationId xmlns:a16="http://schemas.microsoft.com/office/drawing/2014/main" id="{298132F5-23CD-4A52-B625-26C0134B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0" y="1070610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2" name="직사각형 411">
            <a:extLst xmlns:a="http://schemas.openxmlformats.org/drawingml/2006/main">
              <a:ext uri="{FF2B5EF4-FFF2-40B4-BE49-F238E27FC236}">
                <a16:creationId xmlns:a16="http://schemas.microsoft.com/office/drawing/2014/main" id="{E8B966FE-9354-4844-B081-68F587B0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6700" y="10744200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43 / 50</a:t>
            </a:r>
          </a:p>
        </p:txBody>
      </p:sp>
      <p:sp>
        <p:nvSpPr>
          <p:cNvPr id="413" name="직사각형 412">
            <a:extLst xmlns:a="http://schemas.openxmlformats.org/drawingml/2006/main">
              <a:ext uri="{FF2B5EF4-FFF2-40B4-BE49-F238E27FC236}">
                <a16:creationId xmlns:a16="http://schemas.microsoft.com/office/drawing/2014/main" id="{15A84F02-1122-4626-B06D-AB475B6D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10706100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4" name="직사각형 413">
            <a:extLst xmlns:a="http://schemas.openxmlformats.org/drawingml/2006/main">
              <a:ext uri="{FF2B5EF4-FFF2-40B4-BE49-F238E27FC236}">
                <a16:creationId xmlns:a16="http://schemas.microsoft.com/office/drawing/2014/main" id="{8A36C3A2-0EFD-405B-885C-6E752DDD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8450" y="1074420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86.0%</a:t>
            </a:r>
          </a:p>
        </p:txBody>
      </p:sp>
      <p:sp>
        <p:nvSpPr>
          <p:cNvPr id="415" name="직사각형 414">
            <a:extLst xmlns:a="http://schemas.openxmlformats.org/drawingml/2006/main">
              <a:ext uri="{FF2B5EF4-FFF2-40B4-BE49-F238E27FC236}">
                <a16:creationId xmlns:a16="http://schemas.microsoft.com/office/drawing/2014/main" id="{92822442-BC93-4D87-BFAF-7C0899CB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107061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6" name="직사각형 415">
            <a:extLst xmlns:a="http://schemas.openxmlformats.org/drawingml/2006/main">
              <a:ext uri="{FF2B5EF4-FFF2-40B4-BE49-F238E27FC236}">
                <a16:creationId xmlns:a16="http://schemas.microsoft.com/office/drawing/2014/main" id="{63DFBC9B-6F1D-4FB6-A76F-3C569895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9200" y="10744200"/>
            <a:ext cx="3562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상대적으로 낮음</a:t>
            </a:r>
          </a:p>
        </p:txBody>
      </p:sp>
      <p:sp>
        <p:nvSpPr>
          <p:cNvPr id="417" name="직사각형 416">
            <a:extLst xmlns:a="http://schemas.openxmlformats.org/drawingml/2006/main">
              <a:ext uri="{FF2B5EF4-FFF2-40B4-BE49-F238E27FC236}">
                <a16:creationId xmlns:a16="http://schemas.microsoft.com/office/drawing/2014/main" id="{B7FF18A3-B2DC-472A-8A69-4EE5664C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11353800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8" name="직사각형 417">
            <a:extLst xmlns:a="http://schemas.openxmlformats.org/drawingml/2006/main">
              <a:ext uri="{FF2B5EF4-FFF2-40B4-BE49-F238E27FC236}">
                <a16:creationId xmlns:a16="http://schemas.microsoft.com/office/drawing/2014/main" id="{26CF3CD8-31EF-46BA-81AE-20780E94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11391900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CT 심장</a:t>
            </a:r>
          </a:p>
        </p:txBody>
      </p:sp>
      <p:sp>
        <p:nvSpPr>
          <p:cNvPr id="419" name="직사각형 418">
            <a:extLst xmlns:a="http://schemas.openxmlformats.org/drawingml/2006/main">
              <a:ext uri="{FF2B5EF4-FFF2-40B4-BE49-F238E27FC236}">
                <a16:creationId xmlns:a16="http://schemas.microsoft.com/office/drawing/2014/main" id="{7C16DC1A-DE30-4A6C-A10F-01EBEE72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0" y="1135380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0" name="직사각형 419">
            <a:extLst xmlns:a="http://schemas.openxmlformats.org/drawingml/2006/main">
              <a:ext uri="{FF2B5EF4-FFF2-40B4-BE49-F238E27FC236}">
                <a16:creationId xmlns:a16="http://schemas.microsoft.com/office/drawing/2014/main" id="{EFE3BFA8-2011-47EB-A236-04BE6E11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6700" y="11391900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50 / 50</a:t>
            </a:r>
          </a:p>
        </p:txBody>
      </p:sp>
      <p:sp>
        <p:nvSpPr>
          <p:cNvPr id="421" name="직사각형 420">
            <a:extLst xmlns:a="http://schemas.openxmlformats.org/drawingml/2006/main">
              <a:ext uri="{FF2B5EF4-FFF2-40B4-BE49-F238E27FC236}">
                <a16:creationId xmlns:a16="http://schemas.microsoft.com/office/drawing/2014/main" id="{1FBFD279-E083-4B49-B128-8FE3B3DC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11353800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2" name="직사각형 421">
            <a:extLst xmlns:a="http://schemas.openxmlformats.org/drawingml/2006/main">
              <a:ext uri="{FF2B5EF4-FFF2-40B4-BE49-F238E27FC236}">
                <a16:creationId xmlns:a16="http://schemas.microsoft.com/office/drawing/2014/main" id="{F953EAC9-FB3F-4BEA-B104-ADA87CC9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8450" y="1139190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100.0%</a:t>
            </a:r>
          </a:p>
        </p:txBody>
      </p:sp>
      <p:sp>
        <p:nvSpPr>
          <p:cNvPr id="423" name="직사각형 422">
            <a:extLst xmlns:a="http://schemas.openxmlformats.org/drawingml/2006/main">
              <a:ext uri="{FF2B5EF4-FFF2-40B4-BE49-F238E27FC236}">
                <a16:creationId xmlns:a16="http://schemas.microsoft.com/office/drawing/2014/main" id="{B2C3F468-B267-4E43-A6A5-094E9FBF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113538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4" name="직사각형 423">
            <a:extLst xmlns:a="http://schemas.openxmlformats.org/drawingml/2006/main">
              <a:ext uri="{FF2B5EF4-FFF2-40B4-BE49-F238E27FC236}">
                <a16:creationId xmlns:a16="http://schemas.microsoft.com/office/drawing/2014/main" id="{712A81E1-7FA6-4F78-8774-D7BA63C4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9200" y="11391900"/>
            <a:ext cx="3562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fallback 검증 중요</a:t>
            </a:r>
          </a:p>
        </p:txBody>
      </p:sp>
      <p:sp>
        <p:nvSpPr>
          <p:cNvPr id="425" name="직사각형 424">
            <a:extLst xmlns:a="http://schemas.openxmlformats.org/drawingml/2006/main">
              <a:ext uri="{FF2B5EF4-FFF2-40B4-BE49-F238E27FC236}">
                <a16:creationId xmlns:a16="http://schemas.microsoft.com/office/drawing/2014/main" id="{C7F5C676-0D36-42B3-B3DC-115AF597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12001500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6" name="직사각형 425">
            <a:extLst xmlns:a="http://schemas.openxmlformats.org/drawingml/2006/main">
              <a:ext uri="{FF2B5EF4-FFF2-40B4-BE49-F238E27FC236}">
                <a16:creationId xmlns:a16="http://schemas.microsoft.com/office/drawing/2014/main" id="{52D12707-A3E0-4B21-B90E-FE3AA021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12039600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전체</a:t>
            </a:r>
          </a:p>
        </p:txBody>
      </p:sp>
      <p:sp>
        <p:nvSpPr>
          <p:cNvPr id="427" name="직사각형 426">
            <a:extLst xmlns:a="http://schemas.openxmlformats.org/drawingml/2006/main">
              <a:ext uri="{FF2B5EF4-FFF2-40B4-BE49-F238E27FC236}">
                <a16:creationId xmlns:a16="http://schemas.microsoft.com/office/drawing/2014/main" id="{5240DB00-8918-4852-B374-0ECB8120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0" y="1200150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8" name="직사각형 427">
            <a:extLst xmlns:a="http://schemas.openxmlformats.org/drawingml/2006/main">
              <a:ext uri="{FF2B5EF4-FFF2-40B4-BE49-F238E27FC236}">
                <a16:creationId xmlns:a16="http://schemas.microsoft.com/office/drawing/2014/main" id="{F84FDBC6-1EAD-4297-B507-B31BC0DE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6700" y="12039600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189 / 200</a:t>
            </a:r>
          </a:p>
        </p:txBody>
      </p:sp>
      <p:sp>
        <p:nvSpPr>
          <p:cNvPr id="429" name="직사각형 428">
            <a:extLst xmlns:a="http://schemas.openxmlformats.org/drawingml/2006/main">
              <a:ext uri="{FF2B5EF4-FFF2-40B4-BE49-F238E27FC236}">
                <a16:creationId xmlns:a16="http://schemas.microsoft.com/office/drawing/2014/main" id="{8995C019-9B9F-49AF-8A6B-74542355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12001500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0" name="직사각형 429">
            <a:extLst xmlns:a="http://schemas.openxmlformats.org/drawingml/2006/main">
              <a:ext uri="{FF2B5EF4-FFF2-40B4-BE49-F238E27FC236}">
                <a16:creationId xmlns:a16="http://schemas.microsoft.com/office/drawing/2014/main" id="{D88E6354-676C-4631-B484-B4DDC8BB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8450" y="1203960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94.5%</a:t>
            </a:r>
          </a:p>
        </p:txBody>
      </p:sp>
      <p:sp>
        <p:nvSpPr>
          <p:cNvPr id="431" name="직사각형 430">
            <a:extLst xmlns:a="http://schemas.openxmlformats.org/drawingml/2006/main">
              <a:ext uri="{FF2B5EF4-FFF2-40B4-BE49-F238E27FC236}">
                <a16:creationId xmlns:a16="http://schemas.microsoft.com/office/drawing/2014/main" id="{47619792-1F49-42FD-A353-5CE24E82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120015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2" name="직사각형 431">
            <a:extLst xmlns:a="http://schemas.openxmlformats.org/drawingml/2006/main">
              <a:ext uri="{FF2B5EF4-FFF2-40B4-BE49-F238E27FC236}">
                <a16:creationId xmlns:a16="http://schemas.microsoft.com/office/drawing/2014/main" id="{2B1873AD-7BCA-4EE6-BBCE-3D322627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9200" y="12039600"/>
            <a:ext cx="3562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평균 DSC 0.9532</a:t>
            </a:r>
          </a:p>
        </p:txBody>
      </p:sp>
      <p:sp>
        <p:nvSpPr>
          <p:cNvPr id="433" name="직사각형 432">
            <a:extLst xmlns:a="http://schemas.openxmlformats.org/drawingml/2006/main">
              <a:ext uri="{FF2B5EF4-FFF2-40B4-BE49-F238E27FC236}">
                <a16:creationId xmlns:a16="http://schemas.microsoft.com/office/drawing/2014/main" id="{BB0FD70E-63C1-42D5-A7F5-5FFB1E42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13239750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4" name="직사각형 433">
            <a:extLst xmlns:a="http://schemas.openxmlformats.org/drawingml/2006/main">
              <a:ext uri="{FF2B5EF4-FFF2-40B4-BE49-F238E27FC236}">
                <a16:creationId xmlns:a16="http://schemas.microsoft.com/office/drawing/2014/main" id="{1120F73E-DC32-4BEE-A112-0E73B7D3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133159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평균 DSC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0.9532</a:t>
            </a:r>
          </a:p>
        </p:txBody>
      </p:sp>
      <p:sp>
        <p:nvSpPr>
          <p:cNvPr id="435" name="직사각형 434">
            <a:extLst xmlns:a="http://schemas.openxmlformats.org/drawingml/2006/main">
              <a:ext uri="{FF2B5EF4-FFF2-40B4-BE49-F238E27FC236}">
                <a16:creationId xmlns:a16="http://schemas.microsoft.com/office/drawing/2014/main" id="{3B104B66-7252-4D9A-A8C6-057E47CC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3239750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6" name="직사각형 435">
            <a:extLst xmlns:a="http://schemas.openxmlformats.org/drawingml/2006/main">
              <a:ext uri="{FF2B5EF4-FFF2-40B4-BE49-F238E27FC236}">
                <a16:creationId xmlns:a16="http://schemas.microsoft.com/office/drawing/2014/main" id="{5CB8DA68-E153-4A33-A43E-2070E330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0" y="133159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평균 IoU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0.9122</a:t>
            </a:r>
          </a:p>
        </p:txBody>
      </p:sp>
      <p:sp>
        <p:nvSpPr>
          <p:cNvPr id="437" name="직사각형 436">
            <a:extLst xmlns:a="http://schemas.openxmlformats.org/drawingml/2006/main">
              <a:ext uri="{FF2B5EF4-FFF2-40B4-BE49-F238E27FC236}">
                <a16:creationId xmlns:a16="http://schemas.microsoft.com/office/drawing/2014/main" id="{9ECF17A0-4B64-44DC-B7D2-CE5C57A3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13239750"/>
            <a:ext cx="3429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D8D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8" name="직사각형 437">
            <a:extLst xmlns:a="http://schemas.openxmlformats.org/drawingml/2006/main">
              <a:ext uri="{FF2B5EF4-FFF2-40B4-BE49-F238E27FC236}">
                <a16:creationId xmlns:a16="http://schemas.microsoft.com/office/drawing/2014/main" id="{F20BB76E-74BA-4E33-8EF8-BAD13345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0" y="133159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평가 단위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200 case</a:t>
            </a:r>
          </a:p>
        </p:txBody>
      </p:sp>
      <p:sp>
        <p:nvSpPr>
          <p:cNvPr id="439" name="직사각형 438">
            <a:extLst xmlns:a="http://schemas.openxmlformats.org/drawingml/2006/main">
              <a:ext uri="{FF2B5EF4-FFF2-40B4-BE49-F238E27FC236}">
                <a16:creationId xmlns:a16="http://schemas.microsoft.com/office/drawing/2014/main" id="{101BE01C-3FC7-46BF-9340-AA924A03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146780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3"/>
          </a:solidFill>
          <a:ln xmlns:a="http://schemas.openxmlformats.org/drawingml/2006/main" w="0">
            <a:solidFill>
              <a:srgbClr val="657C7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0" name="직사각형 439">
            <a:extLst xmlns:a="http://schemas.openxmlformats.org/drawingml/2006/main">
              <a:ext uri="{FF2B5EF4-FFF2-40B4-BE49-F238E27FC236}">
                <a16:creationId xmlns:a16="http://schemas.microsoft.com/office/drawing/2014/main" id="{8D835133-014A-40C5-B190-F307F441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14525625"/>
            <a:ext cx="10877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네 조건에서 각 50 case를 평가했으며, 전체 189/200 case가 사후 최고 DSC 모델과 일치했다.</a:t>
            </a:r>
          </a:p>
        </p:txBody>
      </p:sp>
      <p:sp>
        <p:nvSpPr>
          <p:cNvPr id="441" name="직사각형 440">
            <a:extLst xmlns:a="http://schemas.openxmlformats.org/drawingml/2006/main">
              <a:ext uri="{FF2B5EF4-FFF2-40B4-BE49-F238E27FC236}">
                <a16:creationId xmlns:a16="http://schemas.microsoft.com/office/drawing/2014/main" id="{E6B0E686-F809-4CCA-9ABF-58E33E59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15487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3"/>
          </a:solidFill>
          <a:ln xmlns:a="http://schemas.openxmlformats.org/drawingml/2006/main" w="0">
            <a:solidFill>
              <a:srgbClr val="657C7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2" name="직사각형 441">
            <a:extLst xmlns:a="http://schemas.openxmlformats.org/drawingml/2006/main">
              <a:ext uri="{FF2B5EF4-FFF2-40B4-BE49-F238E27FC236}">
                <a16:creationId xmlns:a16="http://schemas.microsoft.com/office/drawing/2014/main" id="{A2DBB79B-0AD4-43ED-8D99-C4D336D0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15335250"/>
            <a:ext cx="10877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CT 폐는 86.0%로 가장 낮아 향후 agent memory와 image-level feature 보강 대상이다.</a:t>
            </a:r>
          </a:p>
        </p:txBody>
      </p:sp>
      <p:sp>
        <p:nvSpPr>
          <p:cNvPr id="475" name="직사각형 474">
            <a:extLst xmlns:a="http://schemas.openxmlformats.org/drawingml/2006/main">
              <a:ext uri="{FF2B5EF4-FFF2-40B4-BE49-F238E27FC236}">
                <a16:creationId xmlns:a16="http://schemas.microsoft.com/office/drawing/2014/main" id="{7712FB3E-CD52-4882-832B-53B2B08F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32404050"/>
            <a:ext cx="1162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이미지 해석 기준</a:t>
            </a:r>
          </a:p>
        </p:txBody>
      </p:sp>
      <p:sp>
        <p:nvSpPr>
          <p:cNvPr id="476" name="직사각형 475">
            <a:extLst xmlns:a="http://schemas.openxmlformats.org/drawingml/2006/main">
              <a:ext uri="{FF2B5EF4-FFF2-40B4-BE49-F238E27FC236}">
                <a16:creationId xmlns:a16="http://schemas.microsoft.com/office/drawing/2014/main" id="{E33C5F18-565E-4775-ADF8-AB7AE346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33108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3"/>
          </a:solidFill>
          <a:ln xmlns:a="http://schemas.openxmlformats.org/drawingml/2006/main" w="0">
            <a:solidFill>
              <a:srgbClr val="657C7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7" name="직사각형 476">
            <a:extLst xmlns:a="http://schemas.openxmlformats.org/drawingml/2006/main">
              <a:ext uri="{FF2B5EF4-FFF2-40B4-BE49-F238E27FC236}">
                <a16:creationId xmlns:a16="http://schemas.microsoft.com/office/drawing/2014/main" id="{2C01024A-F352-4EB0-AE59-286644A4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2075" y="32956500"/>
            <a:ext cx="1106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각 행은 CXR 폐, CXR 심장, CT 폐, CT 심장 조건이며 열은 원본, GT, 선택 mask, 비교 overlay이다.</a:t>
            </a:r>
          </a:p>
        </p:txBody>
      </p:sp>
      <p:sp>
        <p:nvSpPr>
          <p:cNvPr id="478" name="타원 477">
            <a:extLst xmlns:a="http://schemas.openxmlformats.org/drawingml/2006/main">
              <a:ext uri="{FF2B5EF4-FFF2-40B4-BE49-F238E27FC236}">
                <a16:creationId xmlns:a16="http://schemas.microsoft.com/office/drawing/2014/main" id="{5D484F6A-77F7-4CBB-8320-F6C814FD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2550" y="3385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9245"/>
          </a:solidFill>
          <a:ln xmlns:a="http://schemas.openxmlformats.org/drawingml/2006/main" w="9525">
            <a:solidFill>
              <a:srgbClr val="19924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9" name="직사각형 478">
            <a:extLst xmlns:a="http://schemas.openxmlformats.org/drawingml/2006/main">
              <a:ext uri="{FF2B5EF4-FFF2-40B4-BE49-F238E27FC236}">
                <a16:creationId xmlns:a16="http://schemas.microsoft.com/office/drawing/2014/main" id="{96C1230A-1281-4B88-A34D-80FF8E23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3550" y="33813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GT mask</a:t>
            </a:r>
          </a:p>
        </p:txBody>
      </p:sp>
      <p:sp>
        <p:nvSpPr>
          <p:cNvPr id="480" name="타원 479">
            <a:extLst xmlns:a="http://schemas.openxmlformats.org/drawingml/2006/main">
              <a:ext uri="{FF2B5EF4-FFF2-40B4-BE49-F238E27FC236}">
                <a16:creationId xmlns:a16="http://schemas.microsoft.com/office/drawing/2014/main" id="{BCB71E4D-5913-4B74-9AB6-B9630CBB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75" y="3385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52A"/>
          </a:solidFill>
          <a:ln xmlns:a="http://schemas.openxmlformats.org/drawingml/2006/main" w="9525">
            <a:solidFill>
              <a:srgbClr val="C735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1" name="직사각형 480">
            <a:extLst xmlns:a="http://schemas.openxmlformats.org/drawingml/2006/main">
              <a:ext uri="{FF2B5EF4-FFF2-40B4-BE49-F238E27FC236}">
                <a16:creationId xmlns:a16="http://schemas.microsoft.com/office/drawing/2014/main" id="{B3E09412-0AAE-4F93-8202-A99FA496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375" y="33813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선택 모델 mask</a:t>
            </a:r>
          </a:p>
        </p:txBody>
      </p:sp>
      <p:sp>
        <p:nvSpPr>
          <p:cNvPr id="482" name="타원 481">
            <a:extLst xmlns:a="http://schemas.openxmlformats.org/drawingml/2006/main">
              <a:ext uri="{FF2B5EF4-FFF2-40B4-BE49-F238E27FC236}">
                <a16:creationId xmlns:a16="http://schemas.microsoft.com/office/drawing/2014/main" id="{82AB0A33-179E-4B9F-9D86-C34E0CA2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75" y="3385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B800"/>
          </a:solidFill>
          <a:ln xmlns:a="http://schemas.openxmlformats.org/drawingml/2006/main" w="9525">
            <a:solidFill>
              <a:srgbClr val="D9B8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3" name="직사각형 482">
            <a:extLst xmlns:a="http://schemas.openxmlformats.org/drawingml/2006/main">
              <a:ext uri="{FF2B5EF4-FFF2-40B4-BE49-F238E27FC236}">
                <a16:creationId xmlns:a16="http://schemas.microsoft.com/office/drawing/2014/main" id="{0D415DAF-01A6-4452-A3B4-C5B3DB01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875" y="33813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GT ∩ </a:t>
            </a:r>
            <a:r>
              <a:rPr sz="2100" b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2100" b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mask</a:t>
            </a:r>
          </a:p>
        </p:txBody>
      </p:sp>
      <p:sp>
        <p:nvSpPr>
          <p:cNvPr id="484" name="직사각형 483">
            <a:extLst xmlns:a="http://schemas.openxmlformats.org/drawingml/2006/main">
              <a:ext uri="{FF2B5EF4-FFF2-40B4-BE49-F238E27FC236}">
                <a16:creationId xmlns:a16="http://schemas.microsoft.com/office/drawing/2014/main" id="{1A2F0FFF-BD27-4913-86CA-14C0A8CA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34613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3"/>
          </a:solidFill>
          <a:ln xmlns:a="http://schemas.openxmlformats.org/drawingml/2006/main" w="0">
            <a:solidFill>
              <a:srgbClr val="657C7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5" name="직사각형 484">
            <a:extLst xmlns:a="http://schemas.openxmlformats.org/drawingml/2006/main">
              <a:ext uri="{FF2B5EF4-FFF2-40B4-BE49-F238E27FC236}">
                <a16:creationId xmlns:a16="http://schemas.microsoft.com/office/drawing/2014/main" id="{DF62A4A4-2658-4CD6-9526-95E23F0B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2075" y="34461450"/>
            <a:ext cx="1106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색상 범례를 기준으로 GT와 선택 mask의 위치·겹침을 비교해 후보 선택의 타당성을 확인한다.</a:t>
            </a:r>
          </a:p>
        </p:txBody>
      </p:sp>
      <p:sp>
        <p:nvSpPr>
          <p:cNvPr id="486" name="직사각형 485">
            <a:extLst xmlns:a="http://schemas.openxmlformats.org/drawingml/2006/main">
              <a:ext uri="{FF2B5EF4-FFF2-40B4-BE49-F238E27FC236}">
                <a16:creationId xmlns:a16="http://schemas.microsoft.com/office/drawing/2014/main" id="{9FA3915D-03A3-40F5-A501-FDE98E57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354425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3"/>
          </a:solidFill>
          <a:ln xmlns:a="http://schemas.openxmlformats.org/drawingml/2006/main" w="0">
            <a:solidFill>
              <a:srgbClr val="657C7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7" name="직사각형 486">
            <a:extLst xmlns:a="http://schemas.openxmlformats.org/drawingml/2006/main">
              <a:ext uri="{FF2B5EF4-FFF2-40B4-BE49-F238E27FC236}">
                <a16:creationId xmlns:a16="http://schemas.microsoft.com/office/drawing/2014/main" id="{EB23027A-94F9-4463-BEEE-3CCA36B6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2075" y="35290125"/>
            <a:ext cx="1106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조건마다 선택 후보가 달라져 단일 고정 모델보다 장기·modality별 라우팅이 필요함을 보여준다.</a:t>
            </a:r>
          </a:p>
        </p:txBody>
      </p:sp>
      <p:sp>
        <p:nvSpPr>
          <p:cNvPr id="684" name="">
            <a:extLst xmlns:a="http://schemas.openxmlformats.org/drawingml/2006/main">
              <a:ext uri="{FF2B5EF4-FFF2-40B4-BE49-F238E27FC236}">
                <a16:creationId xmlns:a16="http://schemas.microsoft.com/office/drawing/2014/main" id="{631918DD-22B9-4ABC-A366-08C0E788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592300"/>
            <a:ext cx="2667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1435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1. 사용자 요청 및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입력 영상 수집</a:t>
            </a:r>
          </a:p>
        </p:txBody>
      </p: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730FB101-0E87-49F5-8A1C-4B5C5175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592300"/>
            <a:ext cx="2667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1435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2. 요청 파싱 및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대상 조건 해석</a:t>
            </a:r>
          </a:p>
        </p:txBody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7AB1F569-AF3B-4466-A413-ACF71D9A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4592300"/>
            <a:ext cx="2667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1435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3. 후보 모델군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검색 및 구성</a:t>
            </a:r>
          </a:p>
        </p:txBody>
      </p:sp>
      <p:sp>
        <p:nvSpPr>
          <p:cNvPr id="687" name="">
            <a:extLst xmlns:a="http://schemas.openxmlformats.org/drawingml/2006/main">
              <a:ext uri="{FF2B5EF4-FFF2-40B4-BE49-F238E27FC236}">
                <a16:creationId xmlns:a16="http://schemas.microsoft.com/office/drawing/2014/main" id="{EB7FB5EB-88F8-49AB-A1AC-D661CF56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116300"/>
            <a:ext cx="2667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1435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4. 후보 모델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병렬 실행</a:t>
            </a:r>
          </a:p>
        </p:txBody>
      </p: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0D8AB7D0-05BE-433F-82EF-7DD2CD82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16300"/>
            <a:ext cx="2667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1435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5. 후보 마스크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정규화 및 검증</a:t>
            </a:r>
          </a:p>
        </p:txBody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BA973888-9D1F-4B1C-B6D4-84CEB741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116300"/>
            <a:ext cx="2667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1435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6. 후보 마스크 간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합의도 계산</a:t>
            </a:r>
          </a:p>
        </p:txBody>
      </p:sp>
      <p:sp>
        <p:nvSpPr>
          <p:cNvPr id="690" name="">
            <a:extLst xmlns:a="http://schemas.openxmlformats.org/drawingml/2006/main">
              <a:ext uri="{FF2B5EF4-FFF2-40B4-BE49-F238E27FC236}">
                <a16:creationId xmlns:a16="http://schemas.microsoft.com/office/drawing/2014/main" id="{AB793431-85B3-49C6-AE9B-E8722EF5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640300"/>
            <a:ext cx="2667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1435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7. 후보 점수표 생성</a:t>
            </a:r>
          </a:p>
        </p:txBody>
      </p: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2FFB0E3D-E7E2-4C35-8759-D246626B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640300"/>
            <a:ext cx="2667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C7352A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8. LLM 기반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최종 모델 선택</a:t>
            </a:r>
          </a:p>
        </p:txBody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88ECD698-43EF-4A6D-8BBC-23A451CD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7640300"/>
            <a:ext cx="2667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1435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9. 선택 결과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검증 및 저장</a:t>
            </a:r>
          </a:p>
        </p:txBody>
      </p:sp>
      <p:cxnSp>
        <p:nvCxnSpPr>
          <p:cNvPr id="904" name=""/>
          <p:cNvCxnSpPr>
            <a:stCxn xmlns:a="http://schemas.openxmlformats.org/drawingml/2006/main" id="684" idx="3"/>
            <a:endCxn xmlns:a="http://schemas.openxmlformats.org/drawingml/2006/main" id="685" idx="1"/>
          </p:cNvCxnSpPr>
          <p:nvPr/>
        </p:nvCxnSpPr>
        <p:spPr>
          <a:xfrm xmlns:a="http://schemas.openxmlformats.org/drawingml/2006/main">
            <a:off x="5143500" y="150304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905" name=""/>
          <p:cNvCxnSpPr>
            <a:stCxn xmlns:a="http://schemas.openxmlformats.org/drawingml/2006/main" id="685" idx="3"/>
            <a:endCxn xmlns:a="http://schemas.openxmlformats.org/drawingml/2006/main" id="686" idx="1"/>
          </p:cNvCxnSpPr>
          <p:nvPr/>
        </p:nvCxnSpPr>
        <p:spPr>
          <a:xfrm xmlns:a="http://schemas.openxmlformats.org/drawingml/2006/main">
            <a:off x="8839200" y="150304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906" name=""/>
          <p:cNvCxnSpPr>
            <a:stCxn xmlns:a="http://schemas.openxmlformats.org/drawingml/2006/main" id="686" idx="2"/>
            <a:endCxn xmlns:a="http://schemas.openxmlformats.org/drawingml/2006/main" id="687" idx="0"/>
          </p:cNvCxnSpPr>
          <p:nvPr/>
        </p:nvCxnSpPr>
        <p:spPr>
          <a:xfrm xmlns:a="http://schemas.openxmlformats.org/drawingml/2006/main" flipH="1">
            <a:off x="3810000" y="15468600"/>
            <a:ext cx="7391400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907" name=""/>
          <p:cNvCxnSpPr>
            <a:stCxn xmlns:a="http://schemas.openxmlformats.org/drawingml/2006/main" id="687" idx="3"/>
            <a:endCxn xmlns:a="http://schemas.openxmlformats.org/drawingml/2006/main" id="688" idx="1"/>
          </p:cNvCxnSpPr>
          <p:nvPr/>
        </p:nvCxnSpPr>
        <p:spPr>
          <a:xfrm xmlns:a="http://schemas.openxmlformats.org/drawingml/2006/main">
            <a:off x="5143500" y="165544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908" name=""/>
          <p:cNvCxnSpPr>
            <a:stCxn xmlns:a="http://schemas.openxmlformats.org/drawingml/2006/main" id="688" idx="3"/>
            <a:endCxn xmlns:a="http://schemas.openxmlformats.org/drawingml/2006/main" id="689" idx="1"/>
          </p:cNvCxnSpPr>
          <p:nvPr/>
        </p:nvCxnSpPr>
        <p:spPr>
          <a:xfrm xmlns:a="http://schemas.openxmlformats.org/drawingml/2006/main">
            <a:off x="8839200" y="165544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909" name=""/>
          <p:cNvCxnSpPr>
            <a:stCxn xmlns:a="http://schemas.openxmlformats.org/drawingml/2006/main" id="689" idx="2"/>
            <a:endCxn xmlns:a="http://schemas.openxmlformats.org/drawingml/2006/main" id="690" idx="0"/>
          </p:cNvCxnSpPr>
          <p:nvPr/>
        </p:nvCxnSpPr>
        <p:spPr>
          <a:xfrm xmlns:a="http://schemas.openxmlformats.org/drawingml/2006/main" flipH="1">
            <a:off x="3810000" y="16992600"/>
            <a:ext cx="7391400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910" name=""/>
          <p:cNvCxnSpPr>
            <a:stCxn xmlns:a="http://schemas.openxmlformats.org/drawingml/2006/main" id="690" idx="3"/>
            <a:endCxn xmlns:a="http://schemas.openxmlformats.org/drawingml/2006/main" id="691" idx="1"/>
          </p:cNvCxnSpPr>
          <p:nvPr/>
        </p:nvCxnSpPr>
        <p:spPr>
          <a:xfrm xmlns:a="http://schemas.openxmlformats.org/drawingml/2006/main">
            <a:off x="5143500" y="180784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911" name=""/>
          <p:cNvCxnSpPr>
            <a:stCxn xmlns:a="http://schemas.openxmlformats.org/drawingml/2006/main" id="691" idx="3"/>
            <a:endCxn xmlns:a="http://schemas.openxmlformats.org/drawingml/2006/main" id="692" idx="1"/>
          </p:cNvCxnSpPr>
          <p:nvPr/>
        </p:nvCxnSpPr>
        <p:spPr>
          <a:xfrm xmlns:a="http://schemas.openxmlformats.org/drawingml/2006/main">
            <a:off x="8839200" y="180784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1435B"/>
            </a:solidFill>
            <a:prstDash val="solid"/>
            <a:tailEnd type="arrow" w="med" len="med"/>
          </a:ln>
        </p:spPr>
      </p:cxn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CD5D66B1-186F-4EE6-B4D0-4CB01AD7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69770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그림. 전체 시스템 구조도</a:t>
            </a:r>
          </a:p>
        </p:txBody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6D5F9B3B-57A2-4FEA-ABDC-0DF25377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554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3"/>
          </a:solidFill>
          <a:ln xmlns:a="http://schemas.openxmlformats.org/drawingml/2006/main" w="0">
            <a:solidFill>
              <a:srgbClr val="657C73"/>
            </a:solidFill>
            <a:prstDash val="solid"/>
          </a:ln>
        </p:spPr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55745A4D-3757-4E52-B64F-87F3737D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4025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LLM은 원본 영상을 직접 판독하지 않고 후보 모델 실행 후 생성된 scorecard를 해석한다.</a:t>
            </a:r>
          </a:p>
        </p:txBody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0AB0626A-FFFB-4CF7-B8F7-827234C8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297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3"/>
          </a:solidFill>
          <a:ln xmlns:a="http://schemas.openxmlformats.org/drawingml/2006/main" w="0">
            <a:solidFill>
              <a:srgbClr val="657C73"/>
            </a:solidFill>
            <a:prstDash val="solid"/>
          </a:ln>
        </p:spPr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BEC9693E-5001-4B5B-9B87-70B0BB84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1455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빨간색 8단계에서 조건 해석, 최종 후보 선택, 선택 이유 문장화 및 fallback 검증을 수행한다.</a:t>
            </a:r>
          </a:p>
        </p:txBody>
      </p:sp>
    </p:spTree>
    <p:extLst>
      <p:ext uri="{BB962C8B-B14F-4D97-AF65-F5344CB8AC3E}">
        <p14:creationId xmlns:p14="http://schemas.microsoft.com/office/powerpoint/2010/main" val="17719825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2026-06-22T13:44:48.4120000Z</dcterms:created>
  <dcterms:modified xsi:type="dcterms:W3CDTF">2026-06-22T13:44:48.4120000Z</dcterms:modified>
</coreProperties>
</file>