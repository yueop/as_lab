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30279975" cy="4280535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7" d="100"/>
          <a:sy n="17" d="100"/>
        </p:scale>
        <p:origin x="320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직사각형 319">
            <a:extLst>
              <a:ext uri="{FF2B5EF4-FFF2-40B4-BE49-F238E27FC236}">
                <a16:creationId xmlns:a16="http://schemas.microsoft.com/office/drawing/2014/main" id="{E56DDC1E-04DE-47DD-9533-1DBDB43263DD}"/>
              </a:ext>
            </a:extLst>
          </p:cNvPr>
          <p:cNvSpPr>
            <a:spLocks noGrp="1"/>
          </p:cNvSpPr>
          <p:nvPr/>
        </p:nvSpPr>
        <p:spPr>
          <a:xfrm>
            <a:off x="0" y="-121920"/>
            <a:ext cx="30279976" cy="42927270"/>
          </a:xfrm>
          <a:prstGeom prst="rect">
            <a:avLst/>
          </a:prstGeom>
          <a:solidFill>
            <a:srgbClr val="F7F8F6"/>
          </a:solidFill>
          <a:ln w="0">
            <a:solidFill>
              <a:srgbClr val="F7F8F6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848A3FF-D9FE-45C7-8325-F388F7EDAD77}"/>
              </a:ext>
            </a:extLst>
          </p:cNvPr>
          <p:cNvSpPr>
            <a:spLocks noGrp="1"/>
          </p:cNvSpPr>
          <p:nvPr/>
        </p:nvSpPr>
        <p:spPr>
          <a:xfrm>
            <a:off x="0" y="1954116"/>
            <a:ext cx="30279976" cy="3441515"/>
          </a:xfrm>
          <a:prstGeom prst="rect">
            <a:avLst/>
          </a:prstGeom>
          <a:solidFill>
            <a:srgbClr val="203746"/>
          </a:solidFill>
          <a:ln w="0">
            <a:solidFill>
              <a:srgbClr val="203746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CA2A355-54DB-4C04-97C1-564BC09C6803}"/>
              </a:ext>
            </a:extLst>
          </p:cNvPr>
          <p:cNvSpPr>
            <a:spLocks noGrp="1"/>
          </p:cNvSpPr>
          <p:nvPr/>
        </p:nvSpPr>
        <p:spPr>
          <a:xfrm>
            <a:off x="8091442" y="2315700"/>
            <a:ext cx="14744406" cy="187048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ctr">
              <a:buNone/>
              <a:defRPr sz="5522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64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최적</a:t>
            </a:r>
            <a:r>
              <a:rPr sz="64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64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분할</a:t>
            </a:r>
            <a:r>
              <a:rPr sz="64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6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모델</a:t>
            </a:r>
            <a:r>
              <a:rPr sz="64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64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선택을</a:t>
            </a:r>
            <a:r>
              <a:rPr sz="64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64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위한</a:t>
            </a:r>
            <a:r>
              <a:rPr sz="64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LLM </a:t>
            </a:r>
            <a:r>
              <a:rPr sz="64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기반</a:t>
            </a:r>
            <a:endParaRPr sz="6400" b="1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  <a:p>
            <a:pPr algn="ctr">
              <a:buNone/>
              <a:defRPr sz="5522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64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모델</a:t>
            </a:r>
            <a:r>
              <a:rPr sz="64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64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라우팅</a:t>
            </a:r>
            <a:r>
              <a:rPr sz="64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64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오케스트레이터</a:t>
            </a:r>
            <a:r>
              <a:rPr sz="64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64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개발</a:t>
            </a:r>
            <a:endParaRPr sz="6400" b="1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0DBD8D8-C3D8-4116-A138-1324259DD1FC}"/>
              </a:ext>
            </a:extLst>
          </p:cNvPr>
          <p:cNvSpPr>
            <a:spLocks noGrp="1"/>
          </p:cNvSpPr>
          <p:nvPr/>
        </p:nvSpPr>
        <p:spPr>
          <a:xfrm>
            <a:off x="8990491" y="4304983"/>
            <a:ext cx="13305927" cy="89927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ctr">
              <a:buNone/>
              <a:defRPr sz="2407" b="0">
                <a:solidFill>
                  <a:srgbClr val="E5ECEE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>
                <a:solidFill>
                  <a:srgbClr val="E5ECEE"/>
                </a:solidFill>
                <a:latin typeface="Pretendard"/>
                <a:ea typeface="Pretendard"/>
                <a:cs typeface="Pretendard"/>
              </a:rPr>
              <a:t>이유업, 하성민  |  안양대학교 컴퓨터공학과</a:t>
            </a:r>
          </a:p>
          <a:p>
            <a:pPr algn="ctr">
              <a:buNone/>
              <a:defRPr sz="2407" b="0">
                <a:solidFill>
                  <a:srgbClr val="E5ECEE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>
                <a:solidFill>
                  <a:srgbClr val="E5ECEE"/>
                </a:solidFill>
                <a:latin typeface="Pretendard"/>
                <a:ea typeface="Pretendard"/>
                <a:cs typeface="Pretendard"/>
              </a:rPr>
              <a:t>E-mail: yueop9261@gmail.com, seha@anyang.ac.kr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43456C9-5A21-4094-A906-F56DFEE8EED6}"/>
              </a:ext>
            </a:extLst>
          </p:cNvPr>
          <p:cNvSpPr>
            <a:spLocks noGrp="1"/>
          </p:cNvSpPr>
          <p:nvPr/>
        </p:nvSpPr>
        <p:spPr>
          <a:xfrm>
            <a:off x="1618288" y="6115050"/>
            <a:ext cx="12946308" cy="6294904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6D017EC-5059-412B-B9BB-7DBBAD03EF94}"/>
              </a:ext>
            </a:extLst>
          </p:cNvPr>
          <p:cNvSpPr>
            <a:spLocks noGrp="1"/>
          </p:cNvSpPr>
          <p:nvPr/>
        </p:nvSpPr>
        <p:spPr>
          <a:xfrm>
            <a:off x="2085794" y="6618642"/>
            <a:ext cx="863087" cy="863301"/>
          </a:xfrm>
          <a:prstGeom prst="rect">
            <a:avLst/>
          </a:prstGeom>
          <a:solidFill>
            <a:srgbClr val="203746"/>
          </a:solidFill>
          <a:ln w="0">
            <a:solidFill>
              <a:srgbClr val="203746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7A06A67-2491-4C57-BB75-2E059AD618EB}"/>
              </a:ext>
            </a:extLst>
          </p:cNvPr>
          <p:cNvSpPr>
            <a:spLocks noGrp="1"/>
          </p:cNvSpPr>
          <p:nvPr/>
        </p:nvSpPr>
        <p:spPr>
          <a:xfrm>
            <a:off x="2085794" y="6600657"/>
            <a:ext cx="863087" cy="86330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339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398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4C9EB8B-A725-4ABB-AB94-03181E6A8398}"/>
              </a:ext>
            </a:extLst>
          </p:cNvPr>
          <p:cNvSpPr>
            <a:spLocks noGrp="1"/>
          </p:cNvSpPr>
          <p:nvPr/>
        </p:nvSpPr>
        <p:spPr>
          <a:xfrm>
            <a:off x="3236577" y="6546701"/>
            <a:ext cx="10968399" cy="10431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buNone/>
              <a:defRPr sz="4814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연구 배경 및 목적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3B7CB3E-022E-4AA6-95C9-C4790D50BF2F}"/>
              </a:ext>
            </a:extLst>
          </p:cNvPr>
          <p:cNvSpPr>
            <a:spLocks noGrp="1"/>
          </p:cNvSpPr>
          <p:nvPr/>
        </p:nvSpPr>
        <p:spPr>
          <a:xfrm>
            <a:off x="2265604" y="7985536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F9AEAB3-8E71-4494-8B36-907D7E2884F4}"/>
              </a:ext>
            </a:extLst>
          </p:cNvPr>
          <p:cNvSpPr>
            <a:spLocks noGrp="1"/>
          </p:cNvSpPr>
          <p:nvPr/>
        </p:nvSpPr>
        <p:spPr>
          <a:xfrm>
            <a:off x="2661185" y="7876616"/>
            <a:ext cx="10932438" cy="622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690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공개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의료영상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분할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모델은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장기와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modality에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따라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성능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차이가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큼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F6AA7C4-B58C-46C4-AA2D-C65B71A6BE94}"/>
              </a:ext>
            </a:extLst>
          </p:cNvPr>
          <p:cNvSpPr>
            <a:spLocks noGrp="1"/>
          </p:cNvSpPr>
          <p:nvPr/>
        </p:nvSpPr>
        <p:spPr>
          <a:xfrm>
            <a:off x="2265604" y="8920779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CEC5A71-47D1-4452-94DB-53B6CBD62CC9}"/>
              </a:ext>
            </a:extLst>
          </p:cNvPr>
          <p:cNvSpPr>
            <a:spLocks noGrp="1"/>
          </p:cNvSpPr>
          <p:nvPr/>
        </p:nvSpPr>
        <p:spPr>
          <a:xfrm>
            <a:off x="2661185" y="8762035"/>
            <a:ext cx="10932438" cy="622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690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실제 추론 시점에는 GT mask가 없어 입력별 최적 모델을 직접 판단하기 어려움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A11E525-0E09-4326-8357-8AA775EDAD3E}"/>
              </a:ext>
            </a:extLst>
          </p:cNvPr>
          <p:cNvSpPr>
            <a:spLocks noGrp="1"/>
          </p:cNvSpPr>
          <p:nvPr/>
        </p:nvSpPr>
        <p:spPr>
          <a:xfrm>
            <a:off x="2265604" y="9856022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7866DD2-4C5F-4301-B31C-15A05939F95B}"/>
              </a:ext>
            </a:extLst>
          </p:cNvPr>
          <p:cNvSpPr>
            <a:spLocks noGrp="1"/>
          </p:cNvSpPr>
          <p:nvPr/>
        </p:nvSpPr>
        <p:spPr>
          <a:xfrm>
            <a:off x="2661185" y="9747101"/>
            <a:ext cx="10932438" cy="51323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690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단일 모델 고정 방식은 데이터 특성 변화와 실패 후보에 취약함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9F76CD4-B197-421F-878F-3F61806C41F1}"/>
              </a:ext>
            </a:extLst>
          </p:cNvPr>
          <p:cNvSpPr>
            <a:spLocks noGrp="1"/>
          </p:cNvSpPr>
          <p:nvPr/>
        </p:nvSpPr>
        <p:spPr>
          <a:xfrm>
            <a:off x="2265604" y="10791265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953EDA1-315D-4420-8C1F-3D8F815E67B7}"/>
              </a:ext>
            </a:extLst>
          </p:cNvPr>
          <p:cNvSpPr>
            <a:spLocks noGrp="1"/>
          </p:cNvSpPr>
          <p:nvPr/>
        </p:nvSpPr>
        <p:spPr>
          <a:xfrm>
            <a:off x="2661185" y="10539469"/>
            <a:ext cx="10932438" cy="63693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690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LLM은 임상 정확도 판단자가 아니라 scorecard 해석 및 선택 근거 생성 계층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E72B517-B7E1-43B3-9B24-8DFBAF76A75D}"/>
              </a:ext>
            </a:extLst>
          </p:cNvPr>
          <p:cNvSpPr>
            <a:spLocks noGrp="1"/>
          </p:cNvSpPr>
          <p:nvPr/>
        </p:nvSpPr>
        <p:spPr>
          <a:xfrm>
            <a:off x="2265604" y="11726508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51FBD29-1E17-4616-8C64-8FE4893E7E36}"/>
              </a:ext>
            </a:extLst>
          </p:cNvPr>
          <p:cNvSpPr>
            <a:spLocks noGrp="1"/>
          </p:cNvSpPr>
          <p:nvPr/>
        </p:nvSpPr>
        <p:spPr>
          <a:xfrm>
            <a:off x="2661185" y="11608062"/>
            <a:ext cx="10932438" cy="51412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690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hard constraint와 fallback으로 실패/비정상 후보 선택을 방지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610685F-BEA6-45F3-AE36-2E3912BD165D}"/>
              </a:ext>
            </a:extLst>
          </p:cNvPr>
          <p:cNvSpPr>
            <a:spLocks noGrp="1"/>
          </p:cNvSpPr>
          <p:nvPr/>
        </p:nvSpPr>
        <p:spPr>
          <a:xfrm>
            <a:off x="2085794" y="13453110"/>
            <a:ext cx="863087" cy="863301"/>
          </a:xfrm>
          <a:prstGeom prst="rect">
            <a:avLst/>
          </a:prstGeom>
          <a:solidFill>
            <a:srgbClr val="203746"/>
          </a:solidFill>
          <a:ln w="0">
            <a:solidFill>
              <a:srgbClr val="203746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56E0B73-F251-447B-B7B2-FB79AC35BAD5}"/>
              </a:ext>
            </a:extLst>
          </p:cNvPr>
          <p:cNvSpPr>
            <a:spLocks noGrp="1"/>
          </p:cNvSpPr>
          <p:nvPr/>
        </p:nvSpPr>
        <p:spPr>
          <a:xfrm>
            <a:off x="2085794" y="13435125"/>
            <a:ext cx="863087" cy="86330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339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398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5ABEDD3-9C13-4B80-914D-72EFBBBD0CAB}"/>
              </a:ext>
            </a:extLst>
          </p:cNvPr>
          <p:cNvSpPr>
            <a:spLocks noGrp="1"/>
          </p:cNvSpPr>
          <p:nvPr/>
        </p:nvSpPr>
        <p:spPr>
          <a:xfrm>
            <a:off x="3236577" y="13381168"/>
            <a:ext cx="10968399" cy="10431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buNone/>
              <a:defRPr sz="4814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제안 시스템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5F26FF0-80C5-4C0A-BBA0-28B2A82A4577}"/>
              </a:ext>
            </a:extLst>
          </p:cNvPr>
          <p:cNvSpPr>
            <a:spLocks noGrp="1"/>
          </p:cNvSpPr>
          <p:nvPr/>
        </p:nvSpPr>
        <p:spPr>
          <a:xfrm>
            <a:off x="2085794" y="24064520"/>
            <a:ext cx="863087" cy="863301"/>
          </a:xfrm>
          <a:prstGeom prst="rect">
            <a:avLst/>
          </a:prstGeom>
          <a:solidFill>
            <a:srgbClr val="203746"/>
          </a:solidFill>
          <a:ln w="0">
            <a:solidFill>
              <a:srgbClr val="203746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2E3C9BF3-065F-43FD-AEA5-A137B579BF8C}"/>
              </a:ext>
            </a:extLst>
          </p:cNvPr>
          <p:cNvSpPr>
            <a:spLocks noGrp="1"/>
          </p:cNvSpPr>
          <p:nvPr/>
        </p:nvSpPr>
        <p:spPr>
          <a:xfrm>
            <a:off x="2085794" y="24046536"/>
            <a:ext cx="863087" cy="86330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339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398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338A7A6-A81C-4616-A4EC-799384C8A58B}"/>
              </a:ext>
            </a:extLst>
          </p:cNvPr>
          <p:cNvSpPr>
            <a:spLocks noGrp="1"/>
          </p:cNvSpPr>
          <p:nvPr/>
        </p:nvSpPr>
        <p:spPr>
          <a:xfrm>
            <a:off x="3236577" y="23992580"/>
            <a:ext cx="10968399" cy="10431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buNone/>
              <a:defRPr sz="4814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후보 점수표와 라우팅 점수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540D92F3-400B-4705-858D-E37E6CD99996}"/>
              </a:ext>
            </a:extLst>
          </p:cNvPr>
          <p:cNvSpPr>
            <a:spLocks noGrp="1"/>
          </p:cNvSpPr>
          <p:nvPr/>
        </p:nvSpPr>
        <p:spPr>
          <a:xfrm>
            <a:off x="1618288" y="33310732"/>
            <a:ext cx="12946308" cy="5125851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325ED511-71B7-48A2-B2F2-8DD65355A4EA}"/>
              </a:ext>
            </a:extLst>
          </p:cNvPr>
          <p:cNvSpPr>
            <a:spLocks noGrp="1"/>
          </p:cNvSpPr>
          <p:nvPr/>
        </p:nvSpPr>
        <p:spPr>
          <a:xfrm>
            <a:off x="2085794" y="33814324"/>
            <a:ext cx="863087" cy="863301"/>
          </a:xfrm>
          <a:prstGeom prst="rect">
            <a:avLst/>
          </a:prstGeom>
          <a:solidFill>
            <a:srgbClr val="203746"/>
          </a:solidFill>
          <a:ln w="0">
            <a:solidFill>
              <a:srgbClr val="203746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A594E516-030F-4472-9161-50CF9D46C5E8}"/>
              </a:ext>
            </a:extLst>
          </p:cNvPr>
          <p:cNvSpPr>
            <a:spLocks noGrp="1"/>
          </p:cNvSpPr>
          <p:nvPr/>
        </p:nvSpPr>
        <p:spPr>
          <a:xfrm>
            <a:off x="2085794" y="33796340"/>
            <a:ext cx="863087" cy="86330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339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398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379695B-2C76-40EB-B0EB-09A1F2BB28A1}"/>
              </a:ext>
            </a:extLst>
          </p:cNvPr>
          <p:cNvSpPr>
            <a:spLocks noGrp="1"/>
          </p:cNvSpPr>
          <p:nvPr/>
        </p:nvSpPr>
        <p:spPr>
          <a:xfrm>
            <a:off x="3236577" y="33742384"/>
            <a:ext cx="10968399" cy="10431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buNone/>
              <a:defRPr sz="4814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후보 모델 구성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261B6849-A87D-4D12-B9CE-FE4ED62AAF59}"/>
              </a:ext>
            </a:extLst>
          </p:cNvPr>
          <p:cNvSpPr>
            <a:spLocks noGrp="1"/>
          </p:cNvSpPr>
          <p:nvPr/>
        </p:nvSpPr>
        <p:spPr>
          <a:xfrm>
            <a:off x="2265604" y="36278332"/>
            <a:ext cx="5304390" cy="755389"/>
          </a:xfrm>
          <a:prstGeom prst="rect">
            <a:avLst/>
          </a:prstGeom>
          <a:solidFill>
            <a:srgbClr val="F2F5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207A7DFC-C64E-490B-95BF-A27A85810413}"/>
              </a:ext>
            </a:extLst>
          </p:cNvPr>
          <p:cNvSpPr>
            <a:spLocks noGrp="1"/>
          </p:cNvSpPr>
          <p:nvPr/>
        </p:nvSpPr>
        <p:spPr>
          <a:xfrm>
            <a:off x="2589262" y="36404228"/>
            <a:ext cx="2427433" cy="50359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buNone/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CXR 폐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7A22BDD3-4C44-4BFD-8094-5A7AB09524A1}"/>
              </a:ext>
            </a:extLst>
          </p:cNvPr>
          <p:cNvSpPr>
            <a:spLocks noGrp="1"/>
          </p:cNvSpPr>
          <p:nvPr/>
        </p:nvSpPr>
        <p:spPr>
          <a:xfrm>
            <a:off x="8199328" y="36278332"/>
            <a:ext cx="5304390" cy="755389"/>
          </a:xfrm>
          <a:prstGeom prst="rect">
            <a:avLst/>
          </a:prstGeom>
          <a:solidFill>
            <a:srgbClr val="F2F5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8F3072D2-531B-40F0-829D-4C9142E808BA}"/>
              </a:ext>
            </a:extLst>
          </p:cNvPr>
          <p:cNvSpPr>
            <a:spLocks noGrp="1"/>
          </p:cNvSpPr>
          <p:nvPr/>
        </p:nvSpPr>
        <p:spPr>
          <a:xfrm>
            <a:off x="8522986" y="36404228"/>
            <a:ext cx="2427433" cy="50359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buNone/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CXR 심장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18216C1F-B77F-4863-B86A-C7348A3798B0}"/>
              </a:ext>
            </a:extLst>
          </p:cNvPr>
          <p:cNvSpPr>
            <a:spLocks noGrp="1"/>
          </p:cNvSpPr>
          <p:nvPr/>
        </p:nvSpPr>
        <p:spPr>
          <a:xfrm>
            <a:off x="2265604" y="37321484"/>
            <a:ext cx="5304390" cy="755389"/>
          </a:xfrm>
          <a:prstGeom prst="rect">
            <a:avLst/>
          </a:prstGeom>
          <a:solidFill>
            <a:srgbClr val="F2F5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2C48E99A-1DD6-41E4-9312-284A1D3DBBE1}"/>
              </a:ext>
            </a:extLst>
          </p:cNvPr>
          <p:cNvSpPr>
            <a:spLocks noGrp="1"/>
          </p:cNvSpPr>
          <p:nvPr/>
        </p:nvSpPr>
        <p:spPr>
          <a:xfrm>
            <a:off x="2589262" y="37447384"/>
            <a:ext cx="2427433" cy="50359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buNone/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CT 폐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DF4C5663-E0E4-45BE-B515-B0592C0EE5E9}"/>
              </a:ext>
            </a:extLst>
          </p:cNvPr>
          <p:cNvSpPr>
            <a:spLocks noGrp="1"/>
          </p:cNvSpPr>
          <p:nvPr/>
        </p:nvSpPr>
        <p:spPr>
          <a:xfrm>
            <a:off x="8199328" y="37321484"/>
            <a:ext cx="5304390" cy="755389"/>
          </a:xfrm>
          <a:prstGeom prst="rect">
            <a:avLst/>
          </a:prstGeom>
          <a:solidFill>
            <a:srgbClr val="F2F5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B4D5A6E0-6B91-4749-8773-C09627D4A434}"/>
              </a:ext>
            </a:extLst>
          </p:cNvPr>
          <p:cNvSpPr>
            <a:spLocks noGrp="1"/>
          </p:cNvSpPr>
          <p:nvPr/>
        </p:nvSpPr>
        <p:spPr>
          <a:xfrm>
            <a:off x="8522986" y="37447384"/>
            <a:ext cx="2427433" cy="50359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buNone/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CT 심장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166D39F5-6EDB-45C7-B868-1FFD6D32A809}"/>
              </a:ext>
            </a:extLst>
          </p:cNvPr>
          <p:cNvSpPr>
            <a:spLocks noGrp="1"/>
          </p:cNvSpPr>
          <p:nvPr/>
        </p:nvSpPr>
        <p:spPr>
          <a:xfrm>
            <a:off x="15769321" y="6652400"/>
            <a:ext cx="863087" cy="863301"/>
          </a:xfrm>
          <a:prstGeom prst="rect">
            <a:avLst/>
          </a:prstGeom>
          <a:solidFill>
            <a:srgbClr val="203746"/>
          </a:solidFill>
          <a:ln w="0">
            <a:solidFill>
              <a:srgbClr val="203746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E97489CF-7986-4150-BC5E-0AB7C739F98B}"/>
              </a:ext>
            </a:extLst>
          </p:cNvPr>
          <p:cNvSpPr>
            <a:spLocks noGrp="1"/>
          </p:cNvSpPr>
          <p:nvPr/>
        </p:nvSpPr>
        <p:spPr>
          <a:xfrm>
            <a:off x="15769321" y="6634415"/>
            <a:ext cx="863087" cy="86330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339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398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D3C9F24-925B-4FCF-AFEC-0E5360B329F6}"/>
              </a:ext>
            </a:extLst>
          </p:cNvPr>
          <p:cNvSpPr>
            <a:spLocks noGrp="1"/>
          </p:cNvSpPr>
          <p:nvPr/>
        </p:nvSpPr>
        <p:spPr>
          <a:xfrm>
            <a:off x="16920104" y="6580459"/>
            <a:ext cx="10968399" cy="10431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buNone/>
              <a:defRPr sz="4814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실험 결과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D8FDCD57-C92D-48C2-9D3F-67CEBF2B47D4}"/>
              </a:ext>
            </a:extLst>
          </p:cNvPr>
          <p:cNvSpPr>
            <a:spLocks noGrp="1"/>
          </p:cNvSpPr>
          <p:nvPr/>
        </p:nvSpPr>
        <p:spPr>
          <a:xfrm>
            <a:off x="15063568" y="19669926"/>
            <a:ext cx="13539681" cy="18766657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C654C63A-BC3D-40B6-B0DD-FAD28B853BC9}"/>
              </a:ext>
            </a:extLst>
          </p:cNvPr>
          <p:cNvSpPr>
            <a:spLocks noGrp="1"/>
          </p:cNvSpPr>
          <p:nvPr/>
        </p:nvSpPr>
        <p:spPr>
          <a:xfrm>
            <a:off x="15679417" y="20195426"/>
            <a:ext cx="863087" cy="863301"/>
          </a:xfrm>
          <a:prstGeom prst="rect">
            <a:avLst/>
          </a:prstGeom>
          <a:solidFill>
            <a:srgbClr val="203746"/>
          </a:solidFill>
          <a:ln w="0">
            <a:solidFill>
              <a:srgbClr val="203746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7BE5C4A5-A06E-4FFE-99A6-85B99B2C8412}"/>
              </a:ext>
            </a:extLst>
          </p:cNvPr>
          <p:cNvSpPr>
            <a:spLocks noGrp="1"/>
          </p:cNvSpPr>
          <p:nvPr/>
        </p:nvSpPr>
        <p:spPr>
          <a:xfrm>
            <a:off x="15679417" y="20200884"/>
            <a:ext cx="863087" cy="86330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339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398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CA35B619-C295-4F72-B331-5D0D940FA0CB}"/>
              </a:ext>
            </a:extLst>
          </p:cNvPr>
          <p:cNvSpPr>
            <a:spLocks noGrp="1"/>
          </p:cNvSpPr>
          <p:nvPr/>
        </p:nvSpPr>
        <p:spPr>
          <a:xfrm>
            <a:off x="16920022" y="20218520"/>
            <a:ext cx="5376395" cy="10431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buNone/>
              <a:defRPr sz="4814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선택 마스크 예시</a:t>
            </a: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6C1881C4-BABB-4CD2-ACDF-1DC63FA7A694}"/>
              </a:ext>
            </a:extLst>
          </p:cNvPr>
          <p:cNvSpPr>
            <a:spLocks noGrp="1"/>
          </p:cNvSpPr>
          <p:nvPr/>
        </p:nvSpPr>
        <p:spPr>
          <a:xfrm>
            <a:off x="1618288" y="38992436"/>
            <a:ext cx="27061380" cy="143884"/>
          </a:xfrm>
          <a:prstGeom prst="rect">
            <a:avLst/>
          </a:prstGeom>
          <a:solidFill>
            <a:srgbClr val="637D86"/>
          </a:solidFill>
          <a:ln w="0">
            <a:solidFill>
              <a:srgbClr val="637D86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819C959E-8C85-4193-8A72-07AB0C13807A}"/>
              </a:ext>
            </a:extLst>
          </p:cNvPr>
          <p:cNvSpPr>
            <a:spLocks noGrp="1"/>
          </p:cNvSpPr>
          <p:nvPr/>
        </p:nvSpPr>
        <p:spPr>
          <a:xfrm>
            <a:off x="1659318" y="39322896"/>
            <a:ext cx="27061380" cy="3114642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88E7A7CD-AC21-45FE-A8F9-A679BB01F856}"/>
              </a:ext>
            </a:extLst>
          </p:cNvPr>
          <p:cNvSpPr>
            <a:spLocks noGrp="1"/>
          </p:cNvSpPr>
          <p:nvPr/>
        </p:nvSpPr>
        <p:spPr>
          <a:xfrm>
            <a:off x="2265605" y="39466747"/>
            <a:ext cx="1649904" cy="93607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t"/>
          <a:lstStyle/>
          <a:p>
            <a:pPr algn="l">
              <a:buNone/>
              <a:defRPr sz="3823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결론</a:t>
            </a: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BBBEF791-729F-4D30-8480-FD5E155C5984}"/>
              </a:ext>
            </a:extLst>
          </p:cNvPr>
          <p:cNvSpPr>
            <a:spLocks noGrp="1"/>
          </p:cNvSpPr>
          <p:nvPr/>
        </p:nvSpPr>
        <p:spPr>
          <a:xfrm>
            <a:off x="2341796" y="40402826"/>
            <a:ext cx="8608623" cy="98312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t"/>
          <a:lstStyle/>
          <a:p>
            <a:pPr>
              <a:buNone/>
              <a:defRPr sz="2407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>
                <a:solidFill>
                  <a:schemeClr val="tx1">
                    <a:lumMod val="95000"/>
                    <a:lumOff val="5000"/>
                  </a:schemeClr>
                </a:solidFill>
                <a:latin typeface="Pretendard"/>
                <a:ea typeface="Pretendard"/>
                <a:cs typeface="Pretendard"/>
              </a:rPr>
              <a:t>ㆍ </a:t>
            </a:r>
            <a:r>
              <a:rPr sz="24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이 시스템에서 LLM은 후보 모델의 실행 결과와 scorecard를 해석하여, 장기·modality 조건에 맞는 모델 선택을 보조한다.</a:t>
            </a: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C1518272-33F8-47A9-8727-9FC8750A0C07}"/>
              </a:ext>
            </a:extLst>
          </p:cNvPr>
          <p:cNvSpPr>
            <a:spLocks noGrp="1"/>
          </p:cNvSpPr>
          <p:nvPr/>
        </p:nvSpPr>
        <p:spPr>
          <a:xfrm>
            <a:off x="11984679" y="39466747"/>
            <a:ext cx="3694738" cy="93607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t"/>
          <a:lstStyle/>
          <a:p>
            <a:pPr algn="l">
              <a:buNone/>
              <a:defRPr sz="3540" b="1">
                <a:solidFill>
                  <a:srgbClr val="637D8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rgbClr val="637D86"/>
                </a:solidFill>
                <a:latin typeface="Pretendard"/>
                <a:ea typeface="Pretendard"/>
                <a:cs typeface="Pretendard"/>
              </a:rPr>
              <a:t>후속 연구</a:t>
            </a: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98970467-E760-4B11-9A90-F92E96E50A12}"/>
              </a:ext>
            </a:extLst>
          </p:cNvPr>
          <p:cNvSpPr>
            <a:spLocks noGrp="1"/>
          </p:cNvSpPr>
          <p:nvPr/>
        </p:nvSpPr>
        <p:spPr>
          <a:xfrm>
            <a:off x="12181454" y="40698252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58290C60-6736-467B-9EFC-36166D78A4E6}"/>
              </a:ext>
            </a:extLst>
          </p:cNvPr>
          <p:cNvSpPr>
            <a:spLocks noGrp="1"/>
          </p:cNvSpPr>
          <p:nvPr/>
        </p:nvSpPr>
        <p:spPr>
          <a:xfrm>
            <a:off x="12577035" y="40570268"/>
            <a:ext cx="5157636" cy="61150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95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agent memory 기반 prior score 보정</a:t>
            </a: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B1AA7580-4C4C-4AC7-8A4C-5BC9D3A939AA}"/>
              </a:ext>
            </a:extLst>
          </p:cNvPr>
          <p:cNvSpPr>
            <a:spLocks noGrp="1"/>
          </p:cNvSpPr>
          <p:nvPr/>
        </p:nvSpPr>
        <p:spPr>
          <a:xfrm>
            <a:off x="12181454" y="41392492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92AB336D-56B7-4D2F-B9B4-481002A9B1A6}"/>
              </a:ext>
            </a:extLst>
          </p:cNvPr>
          <p:cNvSpPr>
            <a:spLocks noGrp="1"/>
          </p:cNvSpPr>
          <p:nvPr/>
        </p:nvSpPr>
        <p:spPr>
          <a:xfrm>
            <a:off x="12577034" y="41283556"/>
            <a:ext cx="4927807" cy="39040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95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신규 모델 통합 확장 실험 진행</a:t>
            </a:r>
          </a:p>
        </p:txBody>
      </p:sp>
      <p:pic>
        <p:nvPicPr>
          <p:cNvPr id="506" name="그림 32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" y="-81800"/>
            <a:ext cx="7012583" cy="1995450"/>
          </a:xfrm>
          <a:prstGeom prst="rect">
            <a:avLst/>
          </a:prstGeom>
        </p:spPr>
      </p:pic>
      <p:pic>
        <p:nvPicPr>
          <p:cNvPr id="507" name="그림 323"/>
          <p:cNvPicPr>
            <a:picLocks noChangeAspect="1"/>
          </p:cNvPicPr>
          <p:nvPr/>
        </p:nvPicPr>
        <p:blipFill rotWithShape="1">
          <a:blip r:embed="rId4"/>
          <a:srcRect t="5518"/>
          <a:stretch>
            <a:fillRect/>
          </a:stretch>
        </p:blipFill>
        <p:spPr>
          <a:xfrm>
            <a:off x="17245561" y="21477258"/>
            <a:ext cx="11357907" cy="10969174"/>
          </a:xfrm>
          <a:prstGeom prst="rect">
            <a:avLst/>
          </a:prstGeom>
          <a:ln>
            <a:noFill/>
          </a:ln>
        </p:spPr>
      </p:pic>
      <p:sp>
        <p:nvSpPr>
          <p:cNvPr id="326" name="직사각형 325">
            <a:extLst>
              <a:ext uri="{FF2B5EF4-FFF2-40B4-BE49-F238E27FC236}">
                <a16:creationId xmlns:a16="http://schemas.microsoft.com/office/drawing/2014/main" id="{79728FC0-970C-440A-A9D0-3EC2B3495379}"/>
              </a:ext>
            </a:extLst>
          </p:cNvPr>
          <p:cNvSpPr>
            <a:spLocks noGrp="1"/>
          </p:cNvSpPr>
          <p:nvPr/>
        </p:nvSpPr>
        <p:spPr>
          <a:xfrm>
            <a:off x="15886384" y="22545736"/>
            <a:ext cx="1186746" cy="53956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548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CXR 폐</a:t>
            </a:r>
          </a:p>
        </p:txBody>
      </p:sp>
      <p:sp>
        <p:nvSpPr>
          <p:cNvPr id="327" name="직사각형 326">
            <a:extLst>
              <a:ext uri="{FF2B5EF4-FFF2-40B4-BE49-F238E27FC236}">
                <a16:creationId xmlns:a16="http://schemas.microsoft.com/office/drawing/2014/main" id="{DBD557F7-D3CC-4D27-8422-FD45740F798E}"/>
              </a:ext>
            </a:extLst>
          </p:cNvPr>
          <p:cNvSpPr>
            <a:spLocks noGrp="1"/>
          </p:cNvSpPr>
          <p:nvPr/>
        </p:nvSpPr>
        <p:spPr>
          <a:xfrm>
            <a:off x="15867267" y="25276608"/>
            <a:ext cx="1717324" cy="53956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548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CXR 심장</a:t>
            </a:r>
          </a:p>
        </p:txBody>
      </p:sp>
      <p:sp>
        <p:nvSpPr>
          <p:cNvPr id="328" name="직사각형 327">
            <a:extLst>
              <a:ext uri="{FF2B5EF4-FFF2-40B4-BE49-F238E27FC236}">
                <a16:creationId xmlns:a16="http://schemas.microsoft.com/office/drawing/2014/main" id="{6B91CB6B-0A57-48C2-B139-B352A77D46FB}"/>
              </a:ext>
            </a:extLst>
          </p:cNvPr>
          <p:cNvSpPr>
            <a:spLocks noGrp="1"/>
          </p:cNvSpPr>
          <p:nvPr/>
        </p:nvSpPr>
        <p:spPr>
          <a:xfrm>
            <a:off x="15918651" y="28008821"/>
            <a:ext cx="1186746" cy="53956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548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CT 폐</a:t>
            </a:r>
          </a:p>
        </p:txBody>
      </p:sp>
      <p:sp>
        <p:nvSpPr>
          <p:cNvPr id="329" name="직사각형 328">
            <a:extLst>
              <a:ext uri="{FF2B5EF4-FFF2-40B4-BE49-F238E27FC236}">
                <a16:creationId xmlns:a16="http://schemas.microsoft.com/office/drawing/2014/main" id="{1412C5B1-98FD-4711-AC95-AF049DBD17E2}"/>
              </a:ext>
            </a:extLst>
          </p:cNvPr>
          <p:cNvSpPr>
            <a:spLocks noGrp="1"/>
          </p:cNvSpPr>
          <p:nvPr/>
        </p:nvSpPr>
        <p:spPr>
          <a:xfrm>
            <a:off x="15959190" y="30793649"/>
            <a:ext cx="1717324" cy="53956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548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CT 심장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2CCF1073-2B2E-F5C0-C8FA-336E63C85F9A}"/>
              </a:ext>
            </a:extLst>
          </p:cNvPr>
          <p:cNvSpPr>
            <a:spLocks noGrp="1"/>
          </p:cNvSpPr>
          <p:nvPr/>
        </p:nvSpPr>
        <p:spPr>
          <a:xfrm>
            <a:off x="2409451" y="34920430"/>
            <a:ext cx="10932438" cy="111509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690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CXR/CT와 폐/심장 조건별로 공개 분할 모델 후보군을 구성하고, 동일 입력에 대해 각 후보 모델의 mask와 scorecard를 생성하였다.</a:t>
            </a: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98A1794A-2EBD-4030-3653-FB22A6F8AEE3}"/>
              </a:ext>
            </a:extLst>
          </p:cNvPr>
          <p:cNvSpPr>
            <a:spLocks noGrp="1"/>
          </p:cNvSpPr>
          <p:nvPr/>
        </p:nvSpPr>
        <p:spPr>
          <a:xfrm>
            <a:off x="5457228" y="36355549"/>
            <a:ext cx="1681222" cy="60094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r">
              <a:buNone/>
              <a:defRPr sz="2548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3 models</a:t>
            </a:r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EC52906A-714B-91A5-0D0D-B75CCFB56917}"/>
              </a:ext>
            </a:extLst>
          </p:cNvPr>
          <p:cNvSpPr>
            <a:spLocks noGrp="1"/>
          </p:cNvSpPr>
          <p:nvPr/>
        </p:nvSpPr>
        <p:spPr>
          <a:xfrm>
            <a:off x="5452733" y="37398703"/>
            <a:ext cx="1681222" cy="60094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r">
              <a:buNone/>
              <a:defRPr sz="2548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3 models</a:t>
            </a: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B4496B56-2580-DAA9-4975-E322A5364161}"/>
              </a:ext>
            </a:extLst>
          </p:cNvPr>
          <p:cNvSpPr>
            <a:spLocks noGrp="1"/>
          </p:cNvSpPr>
          <p:nvPr/>
        </p:nvSpPr>
        <p:spPr>
          <a:xfrm>
            <a:off x="11372971" y="37398703"/>
            <a:ext cx="1681222" cy="60094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r">
              <a:buNone/>
              <a:defRPr sz="2548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3 models</a:t>
            </a: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871A3BFC-2B78-646B-0A7B-01B76A7D3A6C}"/>
              </a:ext>
            </a:extLst>
          </p:cNvPr>
          <p:cNvSpPr>
            <a:spLocks noGrp="1"/>
          </p:cNvSpPr>
          <p:nvPr/>
        </p:nvSpPr>
        <p:spPr>
          <a:xfrm>
            <a:off x="11386457" y="36355549"/>
            <a:ext cx="1681222" cy="60094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r">
              <a:buNone/>
              <a:defRPr sz="2548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4</a:t>
            </a:r>
            <a:r>
              <a:rPr sz="24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models</a:t>
            </a:r>
          </a:p>
        </p:txBody>
      </p:sp>
      <p:pic>
        <p:nvPicPr>
          <p:cNvPr id="51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73537" y="-81800"/>
            <a:ext cx="4566577" cy="1983619"/>
          </a:xfrm>
          <a:prstGeom prst="rect">
            <a:avLst/>
          </a:prstGeom>
        </p:spPr>
      </p:pic>
      <p:sp>
        <p:nvSpPr>
          <p:cNvPr id="71" name="직사각형 70">
            <a:extLst>
              <a:ext uri="{FF2B5EF4-FFF2-40B4-BE49-F238E27FC236}">
                <a16:creationId xmlns:a16="http://schemas.microsoft.com/office/drawing/2014/main" id="{F2B088FE-269B-F73A-1515-4444DCD5F3A0}"/>
              </a:ext>
            </a:extLst>
          </p:cNvPr>
          <p:cNvSpPr>
            <a:spLocks noGrp="1"/>
          </p:cNvSpPr>
          <p:nvPr/>
        </p:nvSpPr>
        <p:spPr>
          <a:xfrm>
            <a:off x="2540800" y="40617501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E40CE882-D77E-2CF9-4B66-EA0931AB4C6D}"/>
              </a:ext>
            </a:extLst>
          </p:cNvPr>
          <p:cNvSpPr>
            <a:spLocks noGrp="1"/>
          </p:cNvSpPr>
          <p:nvPr/>
        </p:nvSpPr>
        <p:spPr>
          <a:xfrm>
            <a:off x="2347889" y="41258302"/>
            <a:ext cx="8611957" cy="81691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t"/>
          <a:lstStyle/>
          <a:p>
            <a:pPr>
              <a:buNone/>
              <a:defRPr sz="2407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>
                <a:solidFill>
                  <a:schemeClr val="tx1">
                    <a:lumMod val="95000"/>
                    <a:lumOff val="5000"/>
                  </a:schemeClr>
                </a:solidFill>
                <a:latin typeface="Pretendard"/>
                <a:ea typeface="Pretendard"/>
                <a:cs typeface="Pretendard"/>
              </a:rPr>
              <a:t>ㆍ</a:t>
            </a:r>
            <a:r>
              <a:rPr sz="240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정답 마스크가 없는 실제 추론 환경에서도, 과거 검증 성능과 현재 후보 마스크의 합의도·품질 정보를 결합해 선택 근거를 제시할 수 있다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D454A666-EB34-DF6B-4FA2-894D26B23A67}"/>
              </a:ext>
            </a:extLst>
          </p:cNvPr>
          <p:cNvSpPr>
            <a:spLocks noGrp="1"/>
          </p:cNvSpPr>
          <p:nvPr/>
        </p:nvSpPr>
        <p:spPr>
          <a:xfrm>
            <a:off x="2550225" y="41494110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6A128E92-3526-6BC5-C1AB-B9EEC2B25F53}"/>
              </a:ext>
            </a:extLst>
          </p:cNvPr>
          <p:cNvSpPr>
            <a:spLocks noGrp="1"/>
          </p:cNvSpPr>
          <p:nvPr/>
        </p:nvSpPr>
        <p:spPr>
          <a:xfrm>
            <a:off x="19070611" y="39375316"/>
            <a:ext cx="4821775" cy="93047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t"/>
          <a:lstStyle/>
          <a:p>
            <a:pPr algn="l">
              <a:buNone/>
              <a:defRPr sz="3540" b="1">
                <a:solidFill>
                  <a:srgbClr val="637D8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chemeClr val="accent6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논의 및 제한점</a:t>
            </a:r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81B5DFC6-42FE-D37C-19C9-8E6FD25E9767}"/>
              </a:ext>
            </a:extLst>
          </p:cNvPr>
          <p:cNvSpPr>
            <a:spLocks noGrp="1"/>
          </p:cNvSpPr>
          <p:nvPr/>
        </p:nvSpPr>
        <p:spPr>
          <a:xfrm>
            <a:off x="19059842" y="40287190"/>
            <a:ext cx="8608623" cy="98312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t"/>
          <a:lstStyle/>
          <a:p>
            <a:pPr>
              <a:buNone/>
              <a:defRPr sz="2407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>
                <a:solidFill>
                  <a:schemeClr val="tx1">
                    <a:lumMod val="95000"/>
                    <a:lumOff val="5000"/>
                  </a:schemeClr>
                </a:solidFill>
                <a:latin typeface="Pretendard"/>
                <a:ea typeface="Pretendard"/>
                <a:cs typeface="Pretendard"/>
              </a:rPr>
              <a:t>ㆍ </a:t>
            </a:r>
            <a:r>
              <a:rPr sz="240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CT 심장에서는 volumefraction guardrail과 fallback이 비정상 마스크 선택 방지에 중요</a:t>
            </a:r>
          </a:p>
          <a:p>
            <a:pPr>
              <a:buNone/>
              <a:defRPr sz="2407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endParaRPr sz="2400">
              <a:solidFill>
                <a:srgbClr val="1D273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9DA641C4-60F3-1E08-240B-92FD9B39FDE1}"/>
              </a:ext>
            </a:extLst>
          </p:cNvPr>
          <p:cNvSpPr>
            <a:spLocks noGrp="1"/>
          </p:cNvSpPr>
          <p:nvPr/>
        </p:nvSpPr>
        <p:spPr>
          <a:xfrm>
            <a:off x="19258846" y="40501865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69F1E9A5-70B0-F6B8-7B00-8DFB2E831D47}"/>
              </a:ext>
            </a:extLst>
          </p:cNvPr>
          <p:cNvSpPr>
            <a:spLocks noGrp="1"/>
          </p:cNvSpPr>
          <p:nvPr/>
        </p:nvSpPr>
        <p:spPr>
          <a:xfrm>
            <a:off x="19065935" y="41142666"/>
            <a:ext cx="8834988" cy="81691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t"/>
          <a:lstStyle/>
          <a:p>
            <a:pPr>
              <a:buNone/>
              <a:defRPr sz="2407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>
                <a:solidFill>
                  <a:schemeClr val="tx1">
                    <a:lumMod val="95000"/>
                    <a:lumOff val="5000"/>
                  </a:schemeClr>
                </a:solidFill>
                <a:latin typeface="Pretendard"/>
                <a:ea typeface="Pretendard"/>
                <a:cs typeface="Pretendard"/>
              </a:rPr>
              <a:t>ㆍ</a:t>
            </a:r>
            <a:r>
              <a:rPr sz="240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현재 후보 모델 수와 데이터셋 범위가 제한적이며, fallback 3 case 발생</a:t>
            </a:r>
          </a:p>
          <a:p>
            <a:pPr>
              <a:buNone/>
              <a:defRPr sz="2407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endParaRPr sz="2400">
              <a:solidFill>
                <a:srgbClr val="1D273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BB6C83B2-00A4-B3E9-BFA1-F4437E516A19}"/>
              </a:ext>
            </a:extLst>
          </p:cNvPr>
          <p:cNvSpPr>
            <a:spLocks noGrp="1"/>
          </p:cNvSpPr>
          <p:nvPr/>
        </p:nvSpPr>
        <p:spPr>
          <a:xfrm>
            <a:off x="19268271" y="41378474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C9E8305C-10CE-4277-9E7C-B65DCFA1D5FB}"/>
              </a:ext>
            </a:extLst>
          </p:cNvPr>
          <p:cNvSpPr>
            <a:spLocks noGrp="1"/>
          </p:cNvSpPr>
          <p:nvPr/>
        </p:nvSpPr>
        <p:spPr>
          <a:xfrm>
            <a:off x="2095500" y="14430375"/>
            <a:ext cx="12001500" cy="78581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27" name="Picture 526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2611132" y="14620875"/>
            <a:ext cx="10970236" cy="5048250"/>
          </a:xfrm>
          <a:prstGeom prst="rect">
            <a:avLst/>
          </a:prstGeom>
        </p:spPr>
      </p:pic>
      <p:sp>
        <p:nvSpPr>
          <p:cNvPr id="338" name="Rectangle 337">
            <a:extLst>
              <a:ext uri="{FF2B5EF4-FFF2-40B4-BE49-F238E27FC236}">
                <a16:creationId xmlns:a16="http://schemas.microsoft.com/office/drawing/2014/main" id="{20930F88-064B-4E9D-BBC1-E887612F9F56}"/>
              </a:ext>
            </a:extLst>
          </p:cNvPr>
          <p:cNvSpPr>
            <a:spLocks noGrp="1"/>
          </p:cNvSpPr>
          <p:nvPr/>
        </p:nvSpPr>
        <p:spPr>
          <a:xfrm>
            <a:off x="2476500" y="19697700"/>
            <a:ext cx="11239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/>
          <a:lstStyle/>
          <a:p>
            <a:pPr algn="ctr">
              <a:defRPr sz="210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그림. 전체 시스템 구조도</a:t>
            </a:r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3D3500B7-E94E-46F5-A6D4-AC3E6C3B3BDB}"/>
              </a:ext>
            </a:extLst>
          </p:cNvPr>
          <p:cNvSpPr>
            <a:spLocks noGrp="1"/>
          </p:cNvSpPr>
          <p:nvPr/>
        </p:nvSpPr>
        <p:spPr>
          <a:xfrm>
            <a:off x="2381250" y="20488275"/>
            <a:ext cx="171450" cy="171450"/>
          </a:xfrm>
          <a:prstGeom prst="rect">
            <a:avLst/>
          </a:prstGeom>
          <a:solidFill>
            <a:srgbClr val="657C73"/>
          </a:solidFill>
          <a:ln w="0">
            <a:solidFill>
              <a:srgbClr val="657C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FA8A94E7-74A0-444C-836C-A43AF910211A}"/>
              </a:ext>
            </a:extLst>
          </p:cNvPr>
          <p:cNvSpPr>
            <a:spLocks noGrp="1"/>
          </p:cNvSpPr>
          <p:nvPr/>
        </p:nvSpPr>
        <p:spPr>
          <a:xfrm>
            <a:off x="2743200" y="20335875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/>
          <a:lstStyle/>
          <a:p>
            <a:pPr algn="l"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LLM은 원본 영상을 직접 판독하지 않고 후보 모델 실행 후 생성된 scorecard를 해석한다.</a:t>
            </a:r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24D65187-7F0C-4309-B403-462FCBE3B948}"/>
              </a:ext>
            </a:extLst>
          </p:cNvPr>
          <p:cNvSpPr>
            <a:spLocks noGrp="1"/>
          </p:cNvSpPr>
          <p:nvPr/>
        </p:nvSpPr>
        <p:spPr>
          <a:xfrm>
            <a:off x="2381250" y="21221700"/>
            <a:ext cx="171450" cy="171450"/>
          </a:xfrm>
          <a:prstGeom prst="rect">
            <a:avLst/>
          </a:prstGeom>
          <a:solidFill>
            <a:srgbClr val="657C73"/>
          </a:solidFill>
          <a:ln w="0">
            <a:solidFill>
              <a:srgbClr val="657C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1F7C1499-5F29-4AB5-8730-A239AD5145E5}"/>
              </a:ext>
            </a:extLst>
          </p:cNvPr>
          <p:cNvSpPr>
            <a:spLocks noGrp="1"/>
          </p:cNvSpPr>
          <p:nvPr/>
        </p:nvSpPr>
        <p:spPr>
          <a:xfrm>
            <a:off x="2743200" y="2106930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/>
          <a:lstStyle/>
          <a:p>
            <a:pPr algn="l"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요청 조건 해석, 후보 선택, 선택 이유 문장화 및 fallback 검증을 라우터가 담당한다.</a:t>
            </a:r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7CDD4F95-9494-408A-8BFF-05C84F078167}"/>
              </a:ext>
            </a:extLst>
          </p:cNvPr>
          <p:cNvSpPr>
            <a:spLocks noGrp="1"/>
          </p:cNvSpPr>
          <p:nvPr/>
        </p:nvSpPr>
        <p:spPr>
          <a:xfrm>
            <a:off x="2095500" y="25146000"/>
            <a:ext cx="12049125" cy="6667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9BDE2E95-2257-4069-A6B3-B8DF04C51421}"/>
              </a:ext>
            </a:extLst>
          </p:cNvPr>
          <p:cNvSpPr>
            <a:spLocks noGrp="1"/>
          </p:cNvSpPr>
          <p:nvPr/>
        </p:nvSpPr>
        <p:spPr>
          <a:xfrm>
            <a:off x="2266950" y="25317450"/>
            <a:ext cx="3333750" cy="552450"/>
          </a:xfrm>
          <a:prstGeom prst="rect">
            <a:avLst/>
          </a:prstGeom>
          <a:solidFill>
            <a:srgbClr val="1E3948"/>
          </a:solidFill>
          <a:ln w="9525">
            <a:solidFill>
              <a:srgbClr val="1E39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DF22F51B-425E-4C67-BBA5-B51DC22ACAF7}"/>
              </a:ext>
            </a:extLst>
          </p:cNvPr>
          <p:cNvSpPr>
            <a:spLocks noGrp="1"/>
          </p:cNvSpPr>
          <p:nvPr/>
        </p:nvSpPr>
        <p:spPr>
          <a:xfrm>
            <a:off x="2343150" y="25355550"/>
            <a:ext cx="3181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field</a:t>
            </a:r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042911E7-C9B5-4281-92F9-EFD11A25E69F}"/>
              </a:ext>
            </a:extLst>
          </p:cNvPr>
          <p:cNvSpPr>
            <a:spLocks noGrp="1"/>
          </p:cNvSpPr>
          <p:nvPr/>
        </p:nvSpPr>
        <p:spPr>
          <a:xfrm>
            <a:off x="5600700" y="25317450"/>
            <a:ext cx="5429250" cy="552450"/>
          </a:xfrm>
          <a:prstGeom prst="rect">
            <a:avLst/>
          </a:prstGeom>
          <a:solidFill>
            <a:srgbClr val="1E3948"/>
          </a:solidFill>
          <a:ln w="9525">
            <a:solidFill>
              <a:srgbClr val="1E39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DA54D987-3637-4F89-99DF-AE2C284A1310}"/>
              </a:ext>
            </a:extLst>
          </p:cNvPr>
          <p:cNvSpPr>
            <a:spLocks noGrp="1"/>
          </p:cNvSpPr>
          <p:nvPr/>
        </p:nvSpPr>
        <p:spPr>
          <a:xfrm>
            <a:off x="5676900" y="25355550"/>
            <a:ext cx="5276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의미</a:t>
            </a:r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17398BFB-34B9-417B-8A18-D6D069363797}"/>
              </a:ext>
            </a:extLst>
          </p:cNvPr>
          <p:cNvSpPr>
            <a:spLocks noGrp="1"/>
          </p:cNvSpPr>
          <p:nvPr/>
        </p:nvSpPr>
        <p:spPr>
          <a:xfrm>
            <a:off x="11029950" y="25317450"/>
            <a:ext cx="2857500" cy="552450"/>
          </a:xfrm>
          <a:prstGeom prst="rect">
            <a:avLst/>
          </a:prstGeom>
          <a:solidFill>
            <a:srgbClr val="1E3948"/>
          </a:solidFill>
          <a:ln w="9525">
            <a:solidFill>
              <a:srgbClr val="1E39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B4CA551D-D8D0-4DEE-B838-B03FA5492180}"/>
              </a:ext>
            </a:extLst>
          </p:cNvPr>
          <p:cNvSpPr>
            <a:spLocks noGrp="1"/>
          </p:cNvSpPr>
          <p:nvPr/>
        </p:nvSpPr>
        <p:spPr>
          <a:xfrm>
            <a:off x="11106150" y="25355550"/>
            <a:ext cx="2705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종류</a:t>
            </a: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8FDD3A48-50E0-4A6D-96D5-533DB0047D8F}"/>
              </a:ext>
            </a:extLst>
          </p:cNvPr>
          <p:cNvSpPr>
            <a:spLocks noGrp="1"/>
          </p:cNvSpPr>
          <p:nvPr/>
        </p:nvSpPr>
        <p:spPr>
          <a:xfrm>
            <a:off x="2266950" y="25869900"/>
            <a:ext cx="33337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8DC00189-A1AA-4C16-86AC-BD59B8978041}"/>
              </a:ext>
            </a:extLst>
          </p:cNvPr>
          <p:cNvSpPr>
            <a:spLocks noGrp="1"/>
          </p:cNvSpPr>
          <p:nvPr/>
        </p:nvSpPr>
        <p:spPr>
          <a:xfrm>
            <a:off x="2343150" y="25908000"/>
            <a:ext cx="3181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execution_status</a:t>
            </a: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821A4E5D-E634-4963-8785-28014E677436}"/>
              </a:ext>
            </a:extLst>
          </p:cNvPr>
          <p:cNvSpPr>
            <a:spLocks noGrp="1"/>
          </p:cNvSpPr>
          <p:nvPr/>
        </p:nvSpPr>
        <p:spPr>
          <a:xfrm>
            <a:off x="5600700" y="25869900"/>
            <a:ext cx="54292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1FD48096-E6E0-49FE-814F-68BCC829B25A}"/>
              </a:ext>
            </a:extLst>
          </p:cNvPr>
          <p:cNvSpPr>
            <a:spLocks noGrp="1"/>
          </p:cNvSpPr>
          <p:nvPr/>
        </p:nvSpPr>
        <p:spPr>
          <a:xfrm>
            <a:off x="5676900" y="25908000"/>
            <a:ext cx="5276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모델 실행 성공 여부</a:t>
            </a:r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AF9D7BB2-8826-4025-A721-94E9F840316A}"/>
              </a:ext>
            </a:extLst>
          </p:cNvPr>
          <p:cNvSpPr>
            <a:spLocks noGrp="1"/>
          </p:cNvSpPr>
          <p:nvPr/>
        </p:nvSpPr>
        <p:spPr>
          <a:xfrm>
            <a:off x="11029950" y="25869900"/>
            <a:ext cx="2857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1781CCC6-2175-422A-BDEB-A5D3FD53E86B}"/>
              </a:ext>
            </a:extLst>
          </p:cNvPr>
          <p:cNvSpPr>
            <a:spLocks noGrp="1"/>
          </p:cNvSpPr>
          <p:nvPr/>
        </p:nvSpPr>
        <p:spPr>
          <a:xfrm>
            <a:off x="11106150" y="25908000"/>
            <a:ext cx="2705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상태 플래그</a:t>
            </a:r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1042CBBC-3175-4D71-BF68-9CD1F6F4C0DB}"/>
              </a:ext>
            </a:extLst>
          </p:cNvPr>
          <p:cNvSpPr>
            <a:spLocks noGrp="1"/>
          </p:cNvSpPr>
          <p:nvPr/>
        </p:nvSpPr>
        <p:spPr>
          <a:xfrm>
            <a:off x="2266950" y="26536650"/>
            <a:ext cx="3333750" cy="66675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106352FA-E21D-4963-A8AA-CCAE83E8AD2E}"/>
              </a:ext>
            </a:extLst>
          </p:cNvPr>
          <p:cNvSpPr>
            <a:spLocks noGrp="1"/>
          </p:cNvSpPr>
          <p:nvPr/>
        </p:nvSpPr>
        <p:spPr>
          <a:xfrm>
            <a:off x="2343150" y="26574750"/>
            <a:ext cx="3181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prior_routing_score</a:t>
            </a:r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ABD0313A-C8F4-434F-BAB6-B31104E98F15}"/>
              </a:ext>
            </a:extLst>
          </p:cNvPr>
          <p:cNvSpPr>
            <a:spLocks noGrp="1"/>
          </p:cNvSpPr>
          <p:nvPr/>
        </p:nvSpPr>
        <p:spPr>
          <a:xfrm>
            <a:off x="5600700" y="26536650"/>
            <a:ext cx="5429250" cy="66675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314B37D3-06F1-4B96-B653-EA5051A31FC7}"/>
              </a:ext>
            </a:extLst>
          </p:cNvPr>
          <p:cNvSpPr>
            <a:spLocks noGrp="1"/>
          </p:cNvSpPr>
          <p:nvPr/>
        </p:nvSpPr>
        <p:spPr>
          <a:xfrm>
            <a:off x="5676900" y="26574750"/>
            <a:ext cx="5276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과거 검증 결과 기반 사전 점수</a:t>
            </a:r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9435728D-785F-4253-BA87-26D71B2EFB74}"/>
              </a:ext>
            </a:extLst>
          </p:cNvPr>
          <p:cNvSpPr>
            <a:spLocks noGrp="1"/>
          </p:cNvSpPr>
          <p:nvPr/>
        </p:nvSpPr>
        <p:spPr>
          <a:xfrm>
            <a:off x="11029950" y="26536650"/>
            <a:ext cx="2857500" cy="66675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57D1C252-729C-4BF6-8C15-46155770D735}"/>
              </a:ext>
            </a:extLst>
          </p:cNvPr>
          <p:cNvSpPr>
            <a:spLocks noGrp="1"/>
          </p:cNvSpPr>
          <p:nvPr/>
        </p:nvSpPr>
        <p:spPr>
          <a:xfrm>
            <a:off x="11106150" y="26574750"/>
            <a:ext cx="2705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과거 근거</a:t>
            </a:r>
          </a:p>
        </p:txBody>
      </p:sp>
      <p:sp>
        <p:nvSpPr>
          <p:cNvPr id="362" name="Rectangle 361">
            <a:extLst>
              <a:ext uri="{FF2B5EF4-FFF2-40B4-BE49-F238E27FC236}">
                <a16:creationId xmlns:a16="http://schemas.microsoft.com/office/drawing/2014/main" id="{F8C9419B-F597-4C42-92BA-8436EF6856C4}"/>
              </a:ext>
            </a:extLst>
          </p:cNvPr>
          <p:cNvSpPr>
            <a:spLocks noGrp="1"/>
          </p:cNvSpPr>
          <p:nvPr/>
        </p:nvSpPr>
        <p:spPr>
          <a:xfrm>
            <a:off x="2266950" y="27203400"/>
            <a:ext cx="33337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ED00D5F1-7A97-4CB4-B67F-BD0A04EC39FA}"/>
              </a:ext>
            </a:extLst>
          </p:cNvPr>
          <p:cNvSpPr>
            <a:spLocks noGrp="1"/>
          </p:cNvSpPr>
          <p:nvPr/>
        </p:nvSpPr>
        <p:spPr>
          <a:xfrm>
            <a:off x="2343150" y="27241500"/>
            <a:ext cx="3181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overlap_score</a:t>
            </a:r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F7EFD6C1-71DF-4477-857E-255BFB178A10}"/>
              </a:ext>
            </a:extLst>
          </p:cNvPr>
          <p:cNvSpPr>
            <a:spLocks noGrp="1"/>
          </p:cNvSpPr>
          <p:nvPr/>
        </p:nvSpPr>
        <p:spPr>
          <a:xfrm>
            <a:off x="5600700" y="27203400"/>
            <a:ext cx="54292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D404ED47-7029-42F3-B943-C3ECB3D40AC2}"/>
              </a:ext>
            </a:extLst>
          </p:cNvPr>
          <p:cNvSpPr>
            <a:spLocks noGrp="1"/>
          </p:cNvSpPr>
          <p:nvPr/>
        </p:nvSpPr>
        <p:spPr>
          <a:xfrm>
            <a:off x="5676900" y="27241500"/>
            <a:ext cx="5276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후보 마스크 간 합의 기반 점수</a:t>
            </a:r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23A816CE-5210-4267-BEF4-18104AC35B8F}"/>
              </a:ext>
            </a:extLst>
          </p:cNvPr>
          <p:cNvSpPr>
            <a:spLocks noGrp="1"/>
          </p:cNvSpPr>
          <p:nvPr/>
        </p:nvSpPr>
        <p:spPr>
          <a:xfrm>
            <a:off x="11029950" y="27203400"/>
            <a:ext cx="2857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9FE73207-F006-4ED1-8CC9-63856A342E0B}"/>
              </a:ext>
            </a:extLst>
          </p:cNvPr>
          <p:cNvSpPr>
            <a:spLocks noGrp="1"/>
          </p:cNvSpPr>
          <p:nvPr/>
        </p:nvSpPr>
        <p:spPr>
          <a:xfrm>
            <a:off x="11106150" y="27241500"/>
            <a:ext cx="2705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현재 입력(no-GT)</a:t>
            </a:r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82482D86-FC22-4FBC-831F-278DDE926FA2}"/>
              </a:ext>
            </a:extLst>
          </p:cNvPr>
          <p:cNvSpPr>
            <a:spLocks noGrp="1"/>
          </p:cNvSpPr>
          <p:nvPr/>
        </p:nvSpPr>
        <p:spPr>
          <a:xfrm>
            <a:off x="2266950" y="27870150"/>
            <a:ext cx="3333750" cy="66675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A9E13137-C936-44DE-B2BE-02D790C8DEEC}"/>
              </a:ext>
            </a:extLst>
          </p:cNvPr>
          <p:cNvSpPr>
            <a:spLocks noGrp="1"/>
          </p:cNvSpPr>
          <p:nvPr/>
        </p:nvSpPr>
        <p:spPr>
          <a:xfrm>
            <a:off x="2343150" y="27908250"/>
            <a:ext cx="3181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mask_quality_score</a:t>
            </a:r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02377643-033F-4F37-B527-E5DFB46A0F86}"/>
              </a:ext>
            </a:extLst>
          </p:cNvPr>
          <p:cNvSpPr>
            <a:spLocks noGrp="1"/>
          </p:cNvSpPr>
          <p:nvPr/>
        </p:nvSpPr>
        <p:spPr>
          <a:xfrm>
            <a:off x="5600700" y="27870150"/>
            <a:ext cx="5429250" cy="66675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1" name="Rectangle 370">
            <a:extLst>
              <a:ext uri="{FF2B5EF4-FFF2-40B4-BE49-F238E27FC236}">
                <a16:creationId xmlns:a16="http://schemas.microsoft.com/office/drawing/2014/main" id="{940A4027-FE7F-4B2B-8651-2A709A666628}"/>
              </a:ext>
            </a:extLst>
          </p:cNvPr>
          <p:cNvSpPr>
            <a:spLocks noGrp="1"/>
          </p:cNvSpPr>
          <p:nvPr/>
        </p:nvSpPr>
        <p:spPr>
          <a:xfrm>
            <a:off x="5676900" y="27908250"/>
            <a:ext cx="5276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면적/연결성/구멍 등 마스크 품질</a:t>
            </a:r>
          </a:p>
        </p:txBody>
      </p:sp>
      <p:sp>
        <p:nvSpPr>
          <p:cNvPr id="372" name="Rectangle 371">
            <a:extLst>
              <a:ext uri="{FF2B5EF4-FFF2-40B4-BE49-F238E27FC236}">
                <a16:creationId xmlns:a16="http://schemas.microsoft.com/office/drawing/2014/main" id="{C63C3ABE-5E22-45BB-BDA7-65C5B10A8644}"/>
              </a:ext>
            </a:extLst>
          </p:cNvPr>
          <p:cNvSpPr>
            <a:spLocks noGrp="1"/>
          </p:cNvSpPr>
          <p:nvPr/>
        </p:nvSpPr>
        <p:spPr>
          <a:xfrm>
            <a:off x="11029950" y="27870150"/>
            <a:ext cx="2857500" cy="66675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FA02773A-131F-4EAF-89FC-D7638A06C0AD}"/>
              </a:ext>
            </a:extLst>
          </p:cNvPr>
          <p:cNvSpPr>
            <a:spLocks noGrp="1"/>
          </p:cNvSpPr>
          <p:nvPr/>
        </p:nvSpPr>
        <p:spPr>
          <a:xfrm>
            <a:off x="11106150" y="27908250"/>
            <a:ext cx="2705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현재 입력(no-GT)</a:t>
            </a:r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07B6D0AA-F4ED-421F-B2EC-1C0EC92A743F}"/>
              </a:ext>
            </a:extLst>
          </p:cNvPr>
          <p:cNvSpPr>
            <a:spLocks noGrp="1"/>
          </p:cNvSpPr>
          <p:nvPr/>
        </p:nvSpPr>
        <p:spPr>
          <a:xfrm>
            <a:off x="2266950" y="28536900"/>
            <a:ext cx="33337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4B5D8BB5-54B8-4634-B108-515D3310FD18}"/>
              </a:ext>
            </a:extLst>
          </p:cNvPr>
          <p:cNvSpPr>
            <a:spLocks noGrp="1"/>
          </p:cNvSpPr>
          <p:nvPr/>
        </p:nvSpPr>
        <p:spPr>
          <a:xfrm>
            <a:off x="2343150" y="28575000"/>
            <a:ext cx="3181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routing_score</a:t>
            </a:r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D8F265CA-7976-4534-8CE0-862B9291E6DE}"/>
              </a:ext>
            </a:extLst>
          </p:cNvPr>
          <p:cNvSpPr>
            <a:spLocks noGrp="1"/>
          </p:cNvSpPr>
          <p:nvPr/>
        </p:nvSpPr>
        <p:spPr>
          <a:xfrm>
            <a:off x="5600700" y="28536900"/>
            <a:ext cx="54292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7" name="Rectangle 376">
            <a:extLst>
              <a:ext uri="{FF2B5EF4-FFF2-40B4-BE49-F238E27FC236}">
                <a16:creationId xmlns:a16="http://schemas.microsoft.com/office/drawing/2014/main" id="{E0A01399-AB5E-414A-B84B-818C62BA8388}"/>
              </a:ext>
            </a:extLst>
          </p:cNvPr>
          <p:cNvSpPr>
            <a:spLocks noGrp="1"/>
          </p:cNvSpPr>
          <p:nvPr/>
        </p:nvSpPr>
        <p:spPr>
          <a:xfrm>
            <a:off x="5676900" y="28575000"/>
            <a:ext cx="5276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최종 선택에 사용하는 결합 점수</a:t>
            </a:r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240DC2E9-B0DC-47F7-A7CD-E8BA9F99FCCF}"/>
              </a:ext>
            </a:extLst>
          </p:cNvPr>
          <p:cNvSpPr>
            <a:spLocks noGrp="1"/>
          </p:cNvSpPr>
          <p:nvPr/>
        </p:nvSpPr>
        <p:spPr>
          <a:xfrm>
            <a:off x="11029950" y="28536900"/>
            <a:ext cx="2857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9" name="Rectangle 378">
            <a:extLst>
              <a:ext uri="{FF2B5EF4-FFF2-40B4-BE49-F238E27FC236}">
                <a16:creationId xmlns:a16="http://schemas.microsoft.com/office/drawing/2014/main" id="{DF751E2F-A3CB-4B79-BCBF-C28E300E0681}"/>
              </a:ext>
            </a:extLst>
          </p:cNvPr>
          <p:cNvSpPr>
            <a:spLocks noGrp="1"/>
          </p:cNvSpPr>
          <p:nvPr/>
        </p:nvSpPr>
        <p:spPr>
          <a:xfrm>
            <a:off x="11106150" y="28575000"/>
            <a:ext cx="2705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결합 점수</a:t>
            </a: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66D6C4D0-26FE-4D53-83BE-1CAF94072425}"/>
              </a:ext>
            </a:extLst>
          </p:cNvPr>
          <p:cNvSpPr>
            <a:spLocks noGrp="1"/>
          </p:cNvSpPr>
          <p:nvPr/>
        </p:nvSpPr>
        <p:spPr>
          <a:xfrm>
            <a:off x="2266950" y="29670375"/>
            <a:ext cx="11620500" cy="685800"/>
          </a:xfrm>
          <a:prstGeom prst="rect">
            <a:avLst/>
          </a:prstGeom>
          <a:solidFill>
            <a:srgbClr val="EEF2F1"/>
          </a:solidFill>
          <a:ln w="0">
            <a:solidFill>
              <a:srgbClr val="EEF2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9C508453-D89B-4C37-9392-0F2AEACBA37E}"/>
              </a:ext>
            </a:extLst>
          </p:cNvPr>
          <p:cNvSpPr>
            <a:spLocks noGrp="1"/>
          </p:cNvSpPr>
          <p:nvPr/>
        </p:nvSpPr>
        <p:spPr>
          <a:xfrm>
            <a:off x="2476500" y="29765625"/>
            <a:ext cx="11191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210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Routing Score = 0.60 Prior + 0.20 Overlap + 0.20 Quality</a:t>
            </a:r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FB592DF0-8EDC-44F6-BDF0-C42F551A6DC9}"/>
              </a:ext>
            </a:extLst>
          </p:cNvPr>
          <p:cNvSpPr>
            <a:spLocks noGrp="1"/>
          </p:cNvSpPr>
          <p:nvPr/>
        </p:nvSpPr>
        <p:spPr>
          <a:xfrm>
            <a:off x="2333625" y="30775275"/>
            <a:ext cx="171450" cy="171450"/>
          </a:xfrm>
          <a:prstGeom prst="rect">
            <a:avLst/>
          </a:prstGeom>
          <a:solidFill>
            <a:srgbClr val="657C73"/>
          </a:solidFill>
          <a:ln w="0">
            <a:solidFill>
              <a:srgbClr val="657C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80058CA5-5EF2-4EB5-A528-A8744A610178}"/>
              </a:ext>
            </a:extLst>
          </p:cNvPr>
          <p:cNvSpPr>
            <a:spLocks noGrp="1"/>
          </p:cNvSpPr>
          <p:nvPr/>
        </p:nvSpPr>
        <p:spPr>
          <a:xfrm>
            <a:off x="2695575" y="30622875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/>
          <a:lstStyle/>
          <a:p>
            <a:pPr algn="l"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실행 실패 또는 비정상 마스크는 hard constraint와 fallback으로 선택에서 제외한다.</a:t>
            </a:r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13558B2D-E4D8-4D4A-96D5-5833540C8E4D}"/>
              </a:ext>
            </a:extLst>
          </p:cNvPr>
          <p:cNvSpPr>
            <a:spLocks noGrp="1"/>
          </p:cNvSpPr>
          <p:nvPr/>
        </p:nvSpPr>
        <p:spPr>
          <a:xfrm>
            <a:off x="2333625" y="31442025"/>
            <a:ext cx="171450" cy="171450"/>
          </a:xfrm>
          <a:prstGeom prst="rect">
            <a:avLst/>
          </a:prstGeom>
          <a:solidFill>
            <a:srgbClr val="657C73"/>
          </a:solidFill>
          <a:ln w="0">
            <a:solidFill>
              <a:srgbClr val="657C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F0C60DDF-A070-4A62-B232-173E25E18513}"/>
              </a:ext>
            </a:extLst>
          </p:cNvPr>
          <p:cNvSpPr>
            <a:spLocks noGrp="1"/>
          </p:cNvSpPr>
          <p:nvPr/>
        </p:nvSpPr>
        <p:spPr>
          <a:xfrm>
            <a:off x="2695575" y="31289625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/>
          <a:lstStyle/>
          <a:p>
            <a:pPr algn="l"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prior는 과거 검증 근거, overlap/quality는 현재 입력에서 GT 없이 계산되는 근거이다.</a:t>
            </a:r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B3672D52-A1AA-4AAD-B822-79B281969642}"/>
              </a:ext>
            </a:extLst>
          </p:cNvPr>
          <p:cNvSpPr>
            <a:spLocks noGrp="1"/>
          </p:cNvSpPr>
          <p:nvPr/>
        </p:nvSpPr>
        <p:spPr>
          <a:xfrm>
            <a:off x="15954375" y="7762875"/>
            <a:ext cx="12239625" cy="10287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02DECC5B-8AA6-4B24-BA89-0DDF17F91A99}"/>
              </a:ext>
            </a:extLst>
          </p:cNvPr>
          <p:cNvSpPr>
            <a:spLocks noGrp="1"/>
          </p:cNvSpPr>
          <p:nvPr/>
        </p:nvSpPr>
        <p:spPr>
          <a:xfrm>
            <a:off x="16287750" y="7858125"/>
            <a:ext cx="11430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360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전체 라우팅 평균 일치율 94.5%</a:t>
            </a:r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37C08018-1697-48C9-9132-2180619629DC}"/>
              </a:ext>
            </a:extLst>
          </p:cNvPr>
          <p:cNvSpPr>
            <a:spLocks noGrp="1"/>
          </p:cNvSpPr>
          <p:nvPr/>
        </p:nvSpPr>
        <p:spPr>
          <a:xfrm>
            <a:off x="16287750" y="8858250"/>
            <a:ext cx="2952750" cy="552450"/>
          </a:xfrm>
          <a:prstGeom prst="rect">
            <a:avLst/>
          </a:prstGeom>
          <a:solidFill>
            <a:srgbClr val="1E3948"/>
          </a:solidFill>
          <a:ln w="9525">
            <a:solidFill>
              <a:srgbClr val="1E39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9" name="Rectangle 388">
            <a:extLst>
              <a:ext uri="{FF2B5EF4-FFF2-40B4-BE49-F238E27FC236}">
                <a16:creationId xmlns:a16="http://schemas.microsoft.com/office/drawing/2014/main" id="{9939B737-0819-46D8-82EE-5280EBF83CFF}"/>
              </a:ext>
            </a:extLst>
          </p:cNvPr>
          <p:cNvSpPr>
            <a:spLocks noGrp="1"/>
          </p:cNvSpPr>
          <p:nvPr/>
        </p:nvSpPr>
        <p:spPr>
          <a:xfrm>
            <a:off x="16363950" y="8896350"/>
            <a:ext cx="2800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조건</a:t>
            </a:r>
          </a:p>
        </p:txBody>
      </p:sp>
      <p:sp>
        <p:nvSpPr>
          <p:cNvPr id="390" name="Rectangle 389">
            <a:extLst>
              <a:ext uri="{FF2B5EF4-FFF2-40B4-BE49-F238E27FC236}">
                <a16:creationId xmlns:a16="http://schemas.microsoft.com/office/drawing/2014/main" id="{78A20E18-FE86-4048-BC29-FC950E9FB8F2}"/>
              </a:ext>
            </a:extLst>
          </p:cNvPr>
          <p:cNvSpPr>
            <a:spLocks noGrp="1"/>
          </p:cNvSpPr>
          <p:nvPr/>
        </p:nvSpPr>
        <p:spPr>
          <a:xfrm>
            <a:off x="19240500" y="8858250"/>
            <a:ext cx="2571750" cy="552450"/>
          </a:xfrm>
          <a:prstGeom prst="rect">
            <a:avLst/>
          </a:prstGeom>
          <a:solidFill>
            <a:srgbClr val="1E3948"/>
          </a:solidFill>
          <a:ln w="9525">
            <a:solidFill>
              <a:srgbClr val="1E39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FFCF6490-1233-43E5-8E9C-0BD209E8EF0E}"/>
              </a:ext>
            </a:extLst>
          </p:cNvPr>
          <p:cNvSpPr>
            <a:spLocks noGrp="1"/>
          </p:cNvSpPr>
          <p:nvPr/>
        </p:nvSpPr>
        <p:spPr>
          <a:xfrm>
            <a:off x="19316700" y="8896350"/>
            <a:ext cx="2419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일치 case</a:t>
            </a:r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21129FB5-99FE-447E-A75E-2E0A7598B312}"/>
              </a:ext>
            </a:extLst>
          </p:cNvPr>
          <p:cNvSpPr>
            <a:spLocks noGrp="1"/>
          </p:cNvSpPr>
          <p:nvPr/>
        </p:nvSpPr>
        <p:spPr>
          <a:xfrm>
            <a:off x="21812250" y="8858250"/>
            <a:ext cx="2190750" cy="552450"/>
          </a:xfrm>
          <a:prstGeom prst="rect">
            <a:avLst/>
          </a:prstGeom>
          <a:solidFill>
            <a:srgbClr val="1E3948"/>
          </a:solidFill>
          <a:ln w="9525">
            <a:solidFill>
              <a:srgbClr val="1E39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3" name="Rectangle 392">
            <a:extLst>
              <a:ext uri="{FF2B5EF4-FFF2-40B4-BE49-F238E27FC236}">
                <a16:creationId xmlns:a16="http://schemas.microsoft.com/office/drawing/2014/main" id="{A02B092F-BA7D-4550-A462-AFC5388BD024}"/>
              </a:ext>
            </a:extLst>
          </p:cNvPr>
          <p:cNvSpPr>
            <a:spLocks noGrp="1"/>
          </p:cNvSpPr>
          <p:nvPr/>
        </p:nvSpPr>
        <p:spPr>
          <a:xfrm>
            <a:off x="21888450" y="8896350"/>
            <a:ext cx="2038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일치율</a:t>
            </a:r>
          </a:p>
        </p:txBody>
      </p:sp>
      <p:sp>
        <p:nvSpPr>
          <p:cNvPr id="394" name="Rectangle 393">
            <a:extLst>
              <a:ext uri="{FF2B5EF4-FFF2-40B4-BE49-F238E27FC236}">
                <a16:creationId xmlns:a16="http://schemas.microsoft.com/office/drawing/2014/main" id="{FD41C8C6-8ABC-47FE-ACF3-5A4CDAFB4812}"/>
              </a:ext>
            </a:extLst>
          </p:cNvPr>
          <p:cNvSpPr>
            <a:spLocks noGrp="1"/>
          </p:cNvSpPr>
          <p:nvPr/>
        </p:nvSpPr>
        <p:spPr>
          <a:xfrm>
            <a:off x="24003000" y="8858250"/>
            <a:ext cx="3714750" cy="552450"/>
          </a:xfrm>
          <a:prstGeom prst="rect">
            <a:avLst/>
          </a:prstGeom>
          <a:solidFill>
            <a:srgbClr val="1E3948"/>
          </a:solidFill>
          <a:ln w="9525">
            <a:solidFill>
              <a:srgbClr val="1E39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41F7DF52-06DC-4F31-BBB4-57748460384D}"/>
              </a:ext>
            </a:extLst>
          </p:cNvPr>
          <p:cNvSpPr>
            <a:spLocks noGrp="1"/>
          </p:cNvSpPr>
          <p:nvPr/>
        </p:nvSpPr>
        <p:spPr>
          <a:xfrm>
            <a:off x="24079200" y="8896350"/>
            <a:ext cx="3562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비고</a:t>
            </a:r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581B45B1-CEAC-4FA3-BC2E-1898D3AAAD0B}"/>
              </a:ext>
            </a:extLst>
          </p:cNvPr>
          <p:cNvSpPr>
            <a:spLocks noGrp="1"/>
          </p:cNvSpPr>
          <p:nvPr/>
        </p:nvSpPr>
        <p:spPr>
          <a:xfrm>
            <a:off x="16287750" y="9410700"/>
            <a:ext cx="2952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BA7889A9-F922-4542-8915-9922BF3428A7}"/>
              </a:ext>
            </a:extLst>
          </p:cNvPr>
          <p:cNvSpPr>
            <a:spLocks noGrp="1"/>
          </p:cNvSpPr>
          <p:nvPr/>
        </p:nvSpPr>
        <p:spPr>
          <a:xfrm>
            <a:off x="16363950" y="9448800"/>
            <a:ext cx="2800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CXR 폐</a:t>
            </a: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2237C2B5-8EAF-4776-9FE6-E454F8254DA5}"/>
              </a:ext>
            </a:extLst>
          </p:cNvPr>
          <p:cNvSpPr>
            <a:spLocks noGrp="1"/>
          </p:cNvSpPr>
          <p:nvPr/>
        </p:nvSpPr>
        <p:spPr>
          <a:xfrm>
            <a:off x="19240500" y="9410700"/>
            <a:ext cx="2571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A5FB9B73-ED9B-4425-AD28-FF900DFEE0BA}"/>
              </a:ext>
            </a:extLst>
          </p:cNvPr>
          <p:cNvSpPr>
            <a:spLocks noGrp="1"/>
          </p:cNvSpPr>
          <p:nvPr/>
        </p:nvSpPr>
        <p:spPr>
          <a:xfrm>
            <a:off x="19316700" y="9448800"/>
            <a:ext cx="2419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47 / 50</a:t>
            </a:r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774F5D91-598C-4A44-8A16-08B69FDB5E71}"/>
              </a:ext>
            </a:extLst>
          </p:cNvPr>
          <p:cNvSpPr>
            <a:spLocks noGrp="1"/>
          </p:cNvSpPr>
          <p:nvPr/>
        </p:nvSpPr>
        <p:spPr>
          <a:xfrm>
            <a:off x="21812250" y="9410700"/>
            <a:ext cx="2190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A6F2B171-F471-4E68-9C46-32E2FD76F7AD}"/>
              </a:ext>
            </a:extLst>
          </p:cNvPr>
          <p:cNvSpPr>
            <a:spLocks noGrp="1"/>
          </p:cNvSpPr>
          <p:nvPr/>
        </p:nvSpPr>
        <p:spPr>
          <a:xfrm>
            <a:off x="21888450" y="9448800"/>
            <a:ext cx="2038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94.0%</a:t>
            </a:r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F3B1091F-E021-420A-8DA0-6A3079DD6443}"/>
              </a:ext>
            </a:extLst>
          </p:cNvPr>
          <p:cNvSpPr>
            <a:spLocks noGrp="1"/>
          </p:cNvSpPr>
          <p:nvPr/>
        </p:nvSpPr>
        <p:spPr>
          <a:xfrm>
            <a:off x="24003000" y="9410700"/>
            <a:ext cx="3714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09A1513A-D128-4522-BA02-4F83E5AE33B4}"/>
              </a:ext>
            </a:extLst>
          </p:cNvPr>
          <p:cNvSpPr>
            <a:spLocks noGrp="1"/>
          </p:cNvSpPr>
          <p:nvPr/>
        </p:nvSpPr>
        <p:spPr>
          <a:xfrm>
            <a:off x="24079200" y="9448800"/>
            <a:ext cx="3562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안정적 라우팅</a:t>
            </a: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22FA02BF-FD2A-4D64-A021-D0B737A66212}"/>
              </a:ext>
            </a:extLst>
          </p:cNvPr>
          <p:cNvSpPr>
            <a:spLocks noGrp="1"/>
          </p:cNvSpPr>
          <p:nvPr/>
        </p:nvSpPr>
        <p:spPr>
          <a:xfrm>
            <a:off x="16287750" y="10058400"/>
            <a:ext cx="2952750" cy="64770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2C62EAF8-77AF-4130-A8DD-290AEBD0B55F}"/>
              </a:ext>
            </a:extLst>
          </p:cNvPr>
          <p:cNvSpPr>
            <a:spLocks noGrp="1"/>
          </p:cNvSpPr>
          <p:nvPr/>
        </p:nvSpPr>
        <p:spPr>
          <a:xfrm>
            <a:off x="16363950" y="10096500"/>
            <a:ext cx="2800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CXR 심장</a:t>
            </a:r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ACA06777-023C-4DAB-B76D-4D1F62C38348}"/>
              </a:ext>
            </a:extLst>
          </p:cNvPr>
          <p:cNvSpPr>
            <a:spLocks noGrp="1"/>
          </p:cNvSpPr>
          <p:nvPr/>
        </p:nvSpPr>
        <p:spPr>
          <a:xfrm>
            <a:off x="19240500" y="10058400"/>
            <a:ext cx="2571750" cy="64770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B34F41C8-7382-4093-BC67-9BBFAB3877CD}"/>
              </a:ext>
            </a:extLst>
          </p:cNvPr>
          <p:cNvSpPr>
            <a:spLocks noGrp="1"/>
          </p:cNvSpPr>
          <p:nvPr/>
        </p:nvSpPr>
        <p:spPr>
          <a:xfrm>
            <a:off x="19316700" y="10096500"/>
            <a:ext cx="2419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49 / 50</a:t>
            </a:r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B7A7DE42-7EF3-41AF-8A89-A907D97FA197}"/>
              </a:ext>
            </a:extLst>
          </p:cNvPr>
          <p:cNvSpPr>
            <a:spLocks noGrp="1"/>
          </p:cNvSpPr>
          <p:nvPr/>
        </p:nvSpPr>
        <p:spPr>
          <a:xfrm>
            <a:off x="21812250" y="10058400"/>
            <a:ext cx="2190750" cy="64770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248164ED-F953-4C67-81DF-32B0A3565DDE}"/>
              </a:ext>
            </a:extLst>
          </p:cNvPr>
          <p:cNvSpPr>
            <a:spLocks noGrp="1"/>
          </p:cNvSpPr>
          <p:nvPr/>
        </p:nvSpPr>
        <p:spPr>
          <a:xfrm>
            <a:off x="21888450" y="10096500"/>
            <a:ext cx="2038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98.0%</a:t>
            </a:r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6C040B8E-F3AE-4CB9-A9D8-EE50986185A8}"/>
              </a:ext>
            </a:extLst>
          </p:cNvPr>
          <p:cNvSpPr>
            <a:spLocks noGrp="1"/>
          </p:cNvSpPr>
          <p:nvPr/>
        </p:nvSpPr>
        <p:spPr>
          <a:xfrm>
            <a:off x="24003000" y="10058400"/>
            <a:ext cx="3714750" cy="64770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6F08EE97-9E41-4603-B5F4-6A34DD19CCEF}"/>
              </a:ext>
            </a:extLst>
          </p:cNvPr>
          <p:cNvSpPr>
            <a:spLocks noGrp="1"/>
          </p:cNvSpPr>
          <p:nvPr/>
        </p:nvSpPr>
        <p:spPr>
          <a:xfrm>
            <a:off x="24079200" y="10096500"/>
            <a:ext cx="3562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높은 일치율</a:t>
            </a:r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6A96C0F1-788C-4E7E-ACB0-E9E5DB5DFC6B}"/>
              </a:ext>
            </a:extLst>
          </p:cNvPr>
          <p:cNvSpPr>
            <a:spLocks noGrp="1"/>
          </p:cNvSpPr>
          <p:nvPr/>
        </p:nvSpPr>
        <p:spPr>
          <a:xfrm>
            <a:off x="16287750" y="10706100"/>
            <a:ext cx="2952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FC1DF5E3-63E3-4AC3-B05F-B0D304C7E725}"/>
              </a:ext>
            </a:extLst>
          </p:cNvPr>
          <p:cNvSpPr>
            <a:spLocks noGrp="1"/>
          </p:cNvSpPr>
          <p:nvPr/>
        </p:nvSpPr>
        <p:spPr>
          <a:xfrm>
            <a:off x="16363950" y="10744200"/>
            <a:ext cx="2800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CT 폐</a:t>
            </a:r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6EE01E9E-73AF-4214-9B71-31989DEDFA6A}"/>
              </a:ext>
            </a:extLst>
          </p:cNvPr>
          <p:cNvSpPr>
            <a:spLocks noGrp="1"/>
          </p:cNvSpPr>
          <p:nvPr/>
        </p:nvSpPr>
        <p:spPr>
          <a:xfrm>
            <a:off x="19240500" y="10706100"/>
            <a:ext cx="2571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5E85B39C-54B5-48FA-A747-49F034D83319}"/>
              </a:ext>
            </a:extLst>
          </p:cNvPr>
          <p:cNvSpPr>
            <a:spLocks noGrp="1"/>
          </p:cNvSpPr>
          <p:nvPr/>
        </p:nvSpPr>
        <p:spPr>
          <a:xfrm>
            <a:off x="19316700" y="10744200"/>
            <a:ext cx="2419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43 / 50</a:t>
            </a: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DAC715EE-B7B1-4B67-B306-C16BA8A0C145}"/>
              </a:ext>
            </a:extLst>
          </p:cNvPr>
          <p:cNvSpPr>
            <a:spLocks noGrp="1"/>
          </p:cNvSpPr>
          <p:nvPr/>
        </p:nvSpPr>
        <p:spPr>
          <a:xfrm>
            <a:off x="21812250" y="10706100"/>
            <a:ext cx="2190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7342C3C7-14DD-492B-9C8A-4AFC314D6B5C}"/>
              </a:ext>
            </a:extLst>
          </p:cNvPr>
          <p:cNvSpPr>
            <a:spLocks noGrp="1"/>
          </p:cNvSpPr>
          <p:nvPr/>
        </p:nvSpPr>
        <p:spPr>
          <a:xfrm>
            <a:off x="21888450" y="10744200"/>
            <a:ext cx="2038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86.0%</a:t>
            </a: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E859A454-471C-438C-A802-F9ACC4D8C4B2}"/>
              </a:ext>
            </a:extLst>
          </p:cNvPr>
          <p:cNvSpPr>
            <a:spLocks noGrp="1"/>
          </p:cNvSpPr>
          <p:nvPr/>
        </p:nvSpPr>
        <p:spPr>
          <a:xfrm>
            <a:off x="24003000" y="10706100"/>
            <a:ext cx="3714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A6145B23-8612-47A8-8C7E-2BFD3025CBA0}"/>
              </a:ext>
            </a:extLst>
          </p:cNvPr>
          <p:cNvSpPr>
            <a:spLocks noGrp="1"/>
          </p:cNvSpPr>
          <p:nvPr/>
        </p:nvSpPr>
        <p:spPr>
          <a:xfrm>
            <a:off x="24079200" y="10744200"/>
            <a:ext cx="3562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상대적으로 낮음</a:t>
            </a:r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9AF6ACBF-76C9-41C9-AC5F-5954563BA45D}"/>
              </a:ext>
            </a:extLst>
          </p:cNvPr>
          <p:cNvSpPr>
            <a:spLocks noGrp="1"/>
          </p:cNvSpPr>
          <p:nvPr/>
        </p:nvSpPr>
        <p:spPr>
          <a:xfrm>
            <a:off x="16287750" y="11353800"/>
            <a:ext cx="2952750" cy="64770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D837F105-2CF0-4A12-96C8-1D58CD445D70}"/>
              </a:ext>
            </a:extLst>
          </p:cNvPr>
          <p:cNvSpPr>
            <a:spLocks noGrp="1"/>
          </p:cNvSpPr>
          <p:nvPr/>
        </p:nvSpPr>
        <p:spPr>
          <a:xfrm>
            <a:off x="16363950" y="11391900"/>
            <a:ext cx="2800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CT 심장</a:t>
            </a:r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4BEBEEB2-266F-433A-82A2-DDB1C6E3EFD6}"/>
              </a:ext>
            </a:extLst>
          </p:cNvPr>
          <p:cNvSpPr>
            <a:spLocks noGrp="1"/>
          </p:cNvSpPr>
          <p:nvPr/>
        </p:nvSpPr>
        <p:spPr>
          <a:xfrm>
            <a:off x="19240500" y="11353800"/>
            <a:ext cx="2571750" cy="64770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DA84D2BC-FC5F-4A49-A88E-5F707D49593B}"/>
              </a:ext>
            </a:extLst>
          </p:cNvPr>
          <p:cNvSpPr>
            <a:spLocks noGrp="1"/>
          </p:cNvSpPr>
          <p:nvPr/>
        </p:nvSpPr>
        <p:spPr>
          <a:xfrm>
            <a:off x="19316700" y="11391900"/>
            <a:ext cx="2419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50 / 50</a:t>
            </a:r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ADED3EA9-0D6A-431F-AB79-3F776D693222}"/>
              </a:ext>
            </a:extLst>
          </p:cNvPr>
          <p:cNvSpPr>
            <a:spLocks noGrp="1"/>
          </p:cNvSpPr>
          <p:nvPr/>
        </p:nvSpPr>
        <p:spPr>
          <a:xfrm>
            <a:off x="21812250" y="11353800"/>
            <a:ext cx="2190750" cy="64770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4B242CB9-C94A-4FF9-BEF7-FA4DF29AD397}"/>
              </a:ext>
            </a:extLst>
          </p:cNvPr>
          <p:cNvSpPr>
            <a:spLocks noGrp="1"/>
          </p:cNvSpPr>
          <p:nvPr/>
        </p:nvSpPr>
        <p:spPr>
          <a:xfrm>
            <a:off x="21888450" y="11391900"/>
            <a:ext cx="2038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100.0%</a:t>
            </a:r>
          </a:p>
        </p:txBody>
      </p:sp>
      <p:sp>
        <p:nvSpPr>
          <p:cNvPr id="426" name="Rectangle 425">
            <a:extLst>
              <a:ext uri="{FF2B5EF4-FFF2-40B4-BE49-F238E27FC236}">
                <a16:creationId xmlns:a16="http://schemas.microsoft.com/office/drawing/2014/main" id="{9AC8B691-9CFD-4608-A80B-E6EE34CDF0AD}"/>
              </a:ext>
            </a:extLst>
          </p:cNvPr>
          <p:cNvSpPr>
            <a:spLocks noGrp="1"/>
          </p:cNvSpPr>
          <p:nvPr/>
        </p:nvSpPr>
        <p:spPr>
          <a:xfrm>
            <a:off x="24003000" y="11353800"/>
            <a:ext cx="3714750" cy="64770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7" name="Rectangle 426">
            <a:extLst>
              <a:ext uri="{FF2B5EF4-FFF2-40B4-BE49-F238E27FC236}">
                <a16:creationId xmlns:a16="http://schemas.microsoft.com/office/drawing/2014/main" id="{CD2D50B7-E850-4275-A561-86D1EC8F0550}"/>
              </a:ext>
            </a:extLst>
          </p:cNvPr>
          <p:cNvSpPr>
            <a:spLocks noGrp="1"/>
          </p:cNvSpPr>
          <p:nvPr/>
        </p:nvSpPr>
        <p:spPr>
          <a:xfrm>
            <a:off x="24079200" y="11391900"/>
            <a:ext cx="3562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fallback 검증 중요</a:t>
            </a:r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892567E6-0730-4F60-AFD0-C40ACE9118DC}"/>
              </a:ext>
            </a:extLst>
          </p:cNvPr>
          <p:cNvSpPr>
            <a:spLocks noGrp="1"/>
          </p:cNvSpPr>
          <p:nvPr/>
        </p:nvSpPr>
        <p:spPr>
          <a:xfrm>
            <a:off x="16287750" y="12001500"/>
            <a:ext cx="2952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9" name="Rectangle 428">
            <a:extLst>
              <a:ext uri="{FF2B5EF4-FFF2-40B4-BE49-F238E27FC236}">
                <a16:creationId xmlns:a16="http://schemas.microsoft.com/office/drawing/2014/main" id="{1F85FEB7-42E8-4412-80F0-F4F0D6C52602}"/>
              </a:ext>
            </a:extLst>
          </p:cNvPr>
          <p:cNvSpPr>
            <a:spLocks noGrp="1"/>
          </p:cNvSpPr>
          <p:nvPr/>
        </p:nvSpPr>
        <p:spPr>
          <a:xfrm>
            <a:off x="16363950" y="12039600"/>
            <a:ext cx="2800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1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전체</a:t>
            </a:r>
          </a:p>
        </p:txBody>
      </p:sp>
      <p:sp>
        <p:nvSpPr>
          <p:cNvPr id="430" name="Rectangle 429">
            <a:extLst>
              <a:ext uri="{FF2B5EF4-FFF2-40B4-BE49-F238E27FC236}">
                <a16:creationId xmlns:a16="http://schemas.microsoft.com/office/drawing/2014/main" id="{C6C96731-ECA8-4AAB-9ED4-81672E11BACD}"/>
              </a:ext>
            </a:extLst>
          </p:cNvPr>
          <p:cNvSpPr>
            <a:spLocks noGrp="1"/>
          </p:cNvSpPr>
          <p:nvPr/>
        </p:nvSpPr>
        <p:spPr>
          <a:xfrm>
            <a:off x="19240500" y="12001500"/>
            <a:ext cx="2571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1" name="Rectangle 430">
            <a:extLst>
              <a:ext uri="{FF2B5EF4-FFF2-40B4-BE49-F238E27FC236}">
                <a16:creationId xmlns:a16="http://schemas.microsoft.com/office/drawing/2014/main" id="{5448B5DC-2ACB-48ED-B9D8-77CFDB057AB4}"/>
              </a:ext>
            </a:extLst>
          </p:cNvPr>
          <p:cNvSpPr>
            <a:spLocks noGrp="1"/>
          </p:cNvSpPr>
          <p:nvPr/>
        </p:nvSpPr>
        <p:spPr>
          <a:xfrm>
            <a:off x="19316700" y="12039600"/>
            <a:ext cx="2419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2100" b="1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189 / 200</a:t>
            </a:r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759C13A2-EB22-4C4E-A6F1-4E44FC024408}"/>
              </a:ext>
            </a:extLst>
          </p:cNvPr>
          <p:cNvSpPr>
            <a:spLocks noGrp="1"/>
          </p:cNvSpPr>
          <p:nvPr/>
        </p:nvSpPr>
        <p:spPr>
          <a:xfrm>
            <a:off x="21812250" y="12001500"/>
            <a:ext cx="2190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3" name="Rectangle 432">
            <a:extLst>
              <a:ext uri="{FF2B5EF4-FFF2-40B4-BE49-F238E27FC236}">
                <a16:creationId xmlns:a16="http://schemas.microsoft.com/office/drawing/2014/main" id="{75F90FD2-8899-41FB-BA4C-D822279CBE06}"/>
              </a:ext>
            </a:extLst>
          </p:cNvPr>
          <p:cNvSpPr>
            <a:spLocks noGrp="1"/>
          </p:cNvSpPr>
          <p:nvPr/>
        </p:nvSpPr>
        <p:spPr>
          <a:xfrm>
            <a:off x="21888450" y="12039600"/>
            <a:ext cx="2038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2100" b="1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94.5%</a:t>
            </a:r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C6BB0B31-3BC1-46B9-8D57-D6C97D886B4E}"/>
              </a:ext>
            </a:extLst>
          </p:cNvPr>
          <p:cNvSpPr>
            <a:spLocks noGrp="1"/>
          </p:cNvSpPr>
          <p:nvPr/>
        </p:nvSpPr>
        <p:spPr>
          <a:xfrm>
            <a:off x="24003000" y="12001500"/>
            <a:ext cx="3714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B1A3C631-68B6-4F72-A47E-5CFAA6EE2C54}"/>
              </a:ext>
            </a:extLst>
          </p:cNvPr>
          <p:cNvSpPr>
            <a:spLocks noGrp="1"/>
          </p:cNvSpPr>
          <p:nvPr/>
        </p:nvSpPr>
        <p:spPr>
          <a:xfrm>
            <a:off x="24079200" y="12039600"/>
            <a:ext cx="3562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1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평균 DSC 0.9532</a:t>
            </a:r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CA46DE34-5527-454A-BDE2-8FAAF14DAC19}"/>
              </a:ext>
            </a:extLst>
          </p:cNvPr>
          <p:cNvSpPr>
            <a:spLocks noGrp="1"/>
          </p:cNvSpPr>
          <p:nvPr/>
        </p:nvSpPr>
        <p:spPr>
          <a:xfrm>
            <a:off x="16287750" y="13239750"/>
            <a:ext cx="3524250" cy="904875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7" name="Rectangle 436">
            <a:extLst>
              <a:ext uri="{FF2B5EF4-FFF2-40B4-BE49-F238E27FC236}">
                <a16:creationId xmlns:a16="http://schemas.microsoft.com/office/drawing/2014/main" id="{4AD0ABEB-0D1C-4DFD-8107-7AEA44471411}"/>
              </a:ext>
            </a:extLst>
          </p:cNvPr>
          <p:cNvSpPr>
            <a:spLocks noGrp="1"/>
          </p:cNvSpPr>
          <p:nvPr/>
        </p:nvSpPr>
        <p:spPr>
          <a:xfrm>
            <a:off x="16383000" y="13315950"/>
            <a:ext cx="333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평균 DSC</a:t>
            </a:r>
          </a:p>
          <a:p>
            <a:pPr algn="ctr">
              <a:def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0.9532</a:t>
            </a:r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965D91F1-A206-4F3C-8945-13015B7AF03F}"/>
              </a:ext>
            </a:extLst>
          </p:cNvPr>
          <p:cNvSpPr>
            <a:spLocks noGrp="1"/>
          </p:cNvSpPr>
          <p:nvPr/>
        </p:nvSpPr>
        <p:spPr>
          <a:xfrm>
            <a:off x="20288250" y="13239750"/>
            <a:ext cx="3524250" cy="904875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7CA473D5-23B1-4A00-9D6C-7726BCF51AB1}"/>
              </a:ext>
            </a:extLst>
          </p:cNvPr>
          <p:cNvSpPr>
            <a:spLocks noGrp="1"/>
          </p:cNvSpPr>
          <p:nvPr/>
        </p:nvSpPr>
        <p:spPr>
          <a:xfrm>
            <a:off x="20383500" y="13315950"/>
            <a:ext cx="333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평균 IoU</a:t>
            </a:r>
          </a:p>
          <a:p>
            <a:pPr algn="ctr">
              <a:def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0.9122</a:t>
            </a:r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196A512F-C698-4AE6-A216-9084B3F40203}"/>
              </a:ext>
            </a:extLst>
          </p:cNvPr>
          <p:cNvSpPr>
            <a:spLocks noGrp="1"/>
          </p:cNvSpPr>
          <p:nvPr/>
        </p:nvSpPr>
        <p:spPr>
          <a:xfrm>
            <a:off x="24288750" y="13239750"/>
            <a:ext cx="3429000" cy="904875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1" name="Rectangle 440">
            <a:extLst>
              <a:ext uri="{FF2B5EF4-FFF2-40B4-BE49-F238E27FC236}">
                <a16:creationId xmlns:a16="http://schemas.microsoft.com/office/drawing/2014/main" id="{FBE6979E-2854-4819-9235-82F58CFE9DBC}"/>
              </a:ext>
            </a:extLst>
          </p:cNvPr>
          <p:cNvSpPr>
            <a:spLocks noGrp="1"/>
          </p:cNvSpPr>
          <p:nvPr/>
        </p:nvSpPr>
        <p:spPr>
          <a:xfrm>
            <a:off x="24384000" y="13315950"/>
            <a:ext cx="3238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평가 단위</a:t>
            </a:r>
          </a:p>
          <a:p>
            <a:pPr algn="ctr">
              <a:def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200 case</a:t>
            </a:r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C517F4D2-4616-4DEC-80D6-A7E0DA5A92B7}"/>
              </a:ext>
            </a:extLst>
          </p:cNvPr>
          <p:cNvSpPr>
            <a:spLocks noGrp="1"/>
          </p:cNvSpPr>
          <p:nvPr/>
        </p:nvSpPr>
        <p:spPr>
          <a:xfrm>
            <a:off x="16287750" y="14678025"/>
            <a:ext cx="171450" cy="171450"/>
          </a:xfrm>
          <a:prstGeom prst="rect">
            <a:avLst/>
          </a:prstGeom>
          <a:solidFill>
            <a:srgbClr val="657C73"/>
          </a:solidFill>
          <a:ln w="0">
            <a:solidFill>
              <a:srgbClr val="657C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EFAE15C7-3196-4E53-9660-0A8CC2357ECC}"/>
              </a:ext>
            </a:extLst>
          </p:cNvPr>
          <p:cNvSpPr>
            <a:spLocks noGrp="1"/>
          </p:cNvSpPr>
          <p:nvPr/>
        </p:nvSpPr>
        <p:spPr>
          <a:xfrm>
            <a:off x="16649700" y="14525625"/>
            <a:ext cx="108775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/>
          <a:lstStyle/>
          <a:p>
            <a:pPr algn="l"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네 조건에서 각 50 case를 평가했으며, 전체 189/200 case가 사후 최고 DSC 모델과 일치했다.</a:t>
            </a:r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23DC524F-0075-4B40-8804-16A65FC17611}"/>
              </a:ext>
            </a:extLst>
          </p:cNvPr>
          <p:cNvSpPr>
            <a:spLocks noGrp="1"/>
          </p:cNvSpPr>
          <p:nvPr/>
        </p:nvSpPr>
        <p:spPr>
          <a:xfrm>
            <a:off x="16287750" y="15487650"/>
            <a:ext cx="171450" cy="171450"/>
          </a:xfrm>
          <a:prstGeom prst="rect">
            <a:avLst/>
          </a:prstGeom>
          <a:solidFill>
            <a:srgbClr val="657C73"/>
          </a:solidFill>
          <a:ln w="0">
            <a:solidFill>
              <a:srgbClr val="657C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5" name="Rectangle 444">
            <a:extLst>
              <a:ext uri="{FF2B5EF4-FFF2-40B4-BE49-F238E27FC236}">
                <a16:creationId xmlns:a16="http://schemas.microsoft.com/office/drawing/2014/main" id="{B463844F-D11E-42FA-B960-4EB14DB3374F}"/>
              </a:ext>
            </a:extLst>
          </p:cNvPr>
          <p:cNvSpPr>
            <a:spLocks noGrp="1"/>
          </p:cNvSpPr>
          <p:nvPr/>
        </p:nvSpPr>
        <p:spPr>
          <a:xfrm>
            <a:off x="16649700" y="15335250"/>
            <a:ext cx="108775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/>
          <a:lstStyle/>
          <a:p>
            <a:pPr algn="l"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CT 폐는 86.0%로 가장 낮아 향후 agent memory와 image-level feature 보강 대상이다.</a:t>
            </a: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1ACB43E9-4E54-43AE-B5CB-5D550893E2C4}"/>
              </a:ext>
            </a:extLst>
          </p:cNvPr>
          <p:cNvSpPr>
            <a:spLocks noGrp="1"/>
          </p:cNvSpPr>
          <p:nvPr/>
        </p:nvSpPr>
        <p:spPr>
          <a:xfrm>
            <a:off x="16049625" y="32337375"/>
            <a:ext cx="12239625" cy="46196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7" name="Rectangle 446">
            <a:extLst>
              <a:ext uri="{FF2B5EF4-FFF2-40B4-BE49-F238E27FC236}">
                <a16:creationId xmlns:a16="http://schemas.microsoft.com/office/drawing/2014/main" id="{D3890797-416E-4C0F-9587-C8D9FE805357}"/>
              </a:ext>
            </a:extLst>
          </p:cNvPr>
          <p:cNvSpPr>
            <a:spLocks noGrp="1"/>
          </p:cNvSpPr>
          <p:nvPr/>
        </p:nvSpPr>
        <p:spPr>
          <a:xfrm>
            <a:off x="16192500" y="32385000"/>
            <a:ext cx="1162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/>
          <a:lstStyle/>
          <a:p>
            <a:pPr algn="l">
              <a:def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이미지 해석 기준</a:t>
            </a:r>
          </a:p>
        </p:txBody>
      </p:sp>
      <p:sp>
        <p:nvSpPr>
          <p:cNvPr id="448" name="Rectangle 447">
            <a:extLst>
              <a:ext uri="{FF2B5EF4-FFF2-40B4-BE49-F238E27FC236}">
                <a16:creationId xmlns:a16="http://schemas.microsoft.com/office/drawing/2014/main" id="{E4B6369E-ABAC-4850-96EA-CB2892433B1B}"/>
              </a:ext>
            </a:extLst>
          </p:cNvPr>
          <p:cNvSpPr>
            <a:spLocks noGrp="1"/>
          </p:cNvSpPr>
          <p:nvPr/>
        </p:nvSpPr>
        <p:spPr>
          <a:xfrm>
            <a:off x="16240125" y="33156525"/>
            <a:ext cx="171450" cy="171450"/>
          </a:xfrm>
          <a:prstGeom prst="rect">
            <a:avLst/>
          </a:prstGeom>
          <a:solidFill>
            <a:srgbClr val="657C73"/>
          </a:solidFill>
          <a:ln w="0">
            <a:solidFill>
              <a:srgbClr val="657C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987A46D4-9D6C-44A9-80EA-B079AA31E236}"/>
              </a:ext>
            </a:extLst>
          </p:cNvPr>
          <p:cNvSpPr>
            <a:spLocks noGrp="1"/>
          </p:cNvSpPr>
          <p:nvPr/>
        </p:nvSpPr>
        <p:spPr>
          <a:xfrm>
            <a:off x="16602075" y="33004125"/>
            <a:ext cx="110680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/>
          <a:lstStyle/>
          <a:p>
            <a:pPr algn="l"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각 행은 CXR 폐, CXR 심장, CT 폐, CT 심장 조건을 의미하며 열은 원본, GT, 선택 mask, GT와 선택 mask 비교이다.</a:t>
            </a:r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826C76CF-D705-4D87-A56A-F8A3A6FD196E}"/>
              </a:ext>
            </a:extLst>
          </p:cNvPr>
          <p:cNvSpPr>
            <a:spLocks noGrp="1"/>
          </p:cNvSpPr>
          <p:nvPr/>
        </p:nvSpPr>
        <p:spPr>
          <a:xfrm>
            <a:off x="16240125" y="34137600"/>
            <a:ext cx="171450" cy="171450"/>
          </a:xfrm>
          <a:prstGeom prst="rect">
            <a:avLst/>
          </a:prstGeom>
          <a:solidFill>
            <a:srgbClr val="657C73"/>
          </a:solidFill>
          <a:ln w="0">
            <a:solidFill>
              <a:srgbClr val="657C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241DD2D0-D999-49F6-93BC-F365C81B05FB}"/>
              </a:ext>
            </a:extLst>
          </p:cNvPr>
          <p:cNvSpPr>
            <a:spLocks noGrp="1"/>
          </p:cNvSpPr>
          <p:nvPr/>
        </p:nvSpPr>
        <p:spPr>
          <a:xfrm>
            <a:off x="16602075" y="33985200"/>
            <a:ext cx="110680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/>
          <a:lstStyle/>
          <a:p>
            <a:pPr algn="l"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초록은 GT mask, 빨강은 라우터가 선택한 모델 mask, 노랑은 GT와 선택 mask의 겹침을 나타낸다.</a:t>
            </a:r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5045F639-DE78-439C-894A-9C1DA13F7E62}"/>
              </a:ext>
            </a:extLst>
          </p:cNvPr>
          <p:cNvSpPr>
            <a:spLocks noGrp="1"/>
          </p:cNvSpPr>
          <p:nvPr/>
        </p:nvSpPr>
        <p:spPr>
          <a:xfrm>
            <a:off x="16240125" y="35013900"/>
            <a:ext cx="171450" cy="171450"/>
          </a:xfrm>
          <a:prstGeom prst="rect">
            <a:avLst/>
          </a:prstGeom>
          <a:solidFill>
            <a:srgbClr val="657C73"/>
          </a:solidFill>
          <a:ln w="0">
            <a:solidFill>
              <a:srgbClr val="657C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1C966EA7-2A40-4F67-A480-3CA036DEEAC3}"/>
              </a:ext>
            </a:extLst>
          </p:cNvPr>
          <p:cNvSpPr>
            <a:spLocks noGrp="1"/>
          </p:cNvSpPr>
          <p:nvPr/>
        </p:nvSpPr>
        <p:spPr>
          <a:xfrm>
            <a:off x="16602075" y="34861500"/>
            <a:ext cx="110680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/>
          <a:lstStyle/>
          <a:p>
            <a:pPr algn="l"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조건마다 선택 후보가 달라져 단일 고정 모델보다 장기·modality별 라우팅이 필요함을 보여준다.</a:t>
            </a:r>
          </a:p>
        </p:txBody>
      </p:sp>
    </p:spTree>
    <p:extLst>
      <p:ext uri="{BB962C8B-B14F-4D97-AF65-F5344CB8AC3E}">
        <p14:creationId xmlns:p14="http://schemas.microsoft.com/office/powerpoint/2010/main" val="156005770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566</Words>
  <Application>Microsoft Office PowerPoint</Application>
  <DocSecurity>0</DocSecurity>
  <PresentationFormat>Custom</PresentationFormat>
  <Paragraphs>104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Pretendard</vt:lpstr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이유업</cp:lastModifiedBy>
  <cp:revision>1</cp:revision>
  <dcterms:created xsi:type="dcterms:W3CDTF">2026-06-22T12:57:51Z</dcterms:created>
  <dcterms:modified xsi:type="dcterms:W3CDTF">2026-06-22T13:11:08Z</dcterms:modified>
</cp:coreProperties>
</file>